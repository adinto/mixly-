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77" r:id="rId4"/>
    <p:sldId id="258" r:id="rId6"/>
    <p:sldId id="278" r:id="rId7"/>
    <p:sldId id="260" r:id="rId8"/>
    <p:sldId id="261" r:id="rId9"/>
    <p:sldId id="262" r:id="rId10"/>
    <p:sldId id="263" r:id="rId11"/>
    <p:sldId id="264" r:id="rId12"/>
    <p:sldId id="265" r:id="rId13"/>
    <p:sldId id="266" r:id="rId14"/>
    <p:sldId id="267" r:id="rId15"/>
    <p:sldId id="268" r:id="rId16"/>
    <p:sldId id="269" r:id="rId17"/>
    <p:sldId id="270" r:id="rId18"/>
    <p:sldId id="286" r:id="rId19"/>
    <p:sldId id="271" r:id="rId20"/>
    <p:sldId id="275" r:id="rId21"/>
    <p:sldId id="280" r:id="rId22"/>
    <p:sldId id="281" r:id="rId23"/>
    <p:sldId id="282" r:id="rId24"/>
    <p:sldId id="283" r:id="rId25"/>
    <p:sldId id="285" r:id="rId26"/>
    <p:sldId id="279" r:id="rId27"/>
    <p:sldId id="276" r:id="rId28"/>
    <p:sldId id="273" r:id="rId29"/>
    <p:sldId id="274"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2.png"/><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3.png"/><Relationship Id="rId4" Type="http://schemas.openxmlformats.org/officeDocument/2006/relationships/image" Target="../media/image2.png"/><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3.png"/><Relationship Id="rId4" Type="http://schemas.openxmlformats.org/officeDocument/2006/relationships/image" Target="../media/image2.png"/><Relationship Id="rId3" Type="http://schemas.openxmlformats.org/officeDocument/2006/relationships/image" Target="../media/image12.png"/><Relationship Id="rId2" Type="http://schemas.openxmlformats.org/officeDocument/2006/relationships/image" Target="../media/image13.jpe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16.png"/><Relationship Id="rId6" Type="http://schemas.openxmlformats.org/officeDocument/2006/relationships/image" Target="../media/image15.png"/><Relationship Id="rId5" Type="http://schemas.openxmlformats.org/officeDocument/2006/relationships/image" Target="../media/image10.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3.png"/><Relationship Id="rId4" Type="http://schemas.openxmlformats.org/officeDocument/2006/relationships/image" Target="../media/image2.png"/><Relationship Id="rId3"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0.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9" Type="http://schemas.openxmlformats.org/officeDocument/2006/relationships/image" Target="../media/image22.png"/><Relationship Id="rId8" Type="http://schemas.openxmlformats.org/officeDocument/2006/relationships/image" Target="../media/image21.png"/><Relationship Id="rId7" Type="http://schemas.openxmlformats.org/officeDocument/2006/relationships/image" Target="../media/image20.png"/><Relationship Id="rId6" Type="http://schemas.openxmlformats.org/officeDocument/2006/relationships/image" Target="../media/image19.png"/><Relationship Id="rId5" Type="http://schemas.openxmlformats.org/officeDocument/2006/relationships/image" Target="../media/image10.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2.png"/><Relationship Id="rId10" Type="http://schemas.openxmlformats.org/officeDocument/2006/relationships/slideLayout" Target="../slideLayouts/slideLayout1.xml"/><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23.pn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10.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23.png"/><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10.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23.png"/><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10.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23.png"/><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29.png"/><Relationship Id="rId7" Type="http://schemas.openxmlformats.org/officeDocument/2006/relationships/image" Target="../media/image28.png"/><Relationship Id="rId6" Type="http://schemas.openxmlformats.org/officeDocument/2006/relationships/image" Target="../media/image27.png"/><Relationship Id="rId5" Type="http://schemas.openxmlformats.org/officeDocument/2006/relationships/image" Target="../media/image10.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23.png"/><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10.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23.png"/><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3.png"/><Relationship Id="rId7" Type="http://schemas.openxmlformats.org/officeDocument/2006/relationships/image" Target="../media/image32.png"/><Relationship Id="rId6" Type="http://schemas.openxmlformats.org/officeDocument/2006/relationships/image" Target="../media/image31.png"/><Relationship Id="rId5" Type="http://schemas.openxmlformats.org/officeDocument/2006/relationships/image" Target="../media/image10.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23.png"/><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6.png"/><Relationship Id="rId7" Type="http://schemas.openxmlformats.org/officeDocument/2006/relationships/image" Target="../media/image35.png"/><Relationship Id="rId6" Type="http://schemas.openxmlformats.org/officeDocument/2006/relationships/image" Target="../media/image34.png"/><Relationship Id="rId5" Type="http://schemas.openxmlformats.org/officeDocument/2006/relationships/image" Target="../media/image10.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23.png"/><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9.png"/><Relationship Id="rId7" Type="http://schemas.openxmlformats.org/officeDocument/2006/relationships/image" Target="../media/image38.png"/><Relationship Id="rId6" Type="http://schemas.openxmlformats.org/officeDocument/2006/relationships/image" Target="../media/image37.png"/><Relationship Id="rId5" Type="http://schemas.openxmlformats.org/officeDocument/2006/relationships/image" Target="../media/image10.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23.png"/><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0.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0.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rot="21600000">
            <a:off x="0" y="0"/>
            <a:ext cx="12192000" cy="6858000"/>
          </a:xfrm>
          <a:prstGeom prst="rect">
            <a:avLst/>
          </a:prstGeom>
        </p:spPr>
      </p:pic>
      <p:sp>
        <p:nvSpPr>
          <p:cNvPr id="4" name="rect 4"/>
          <p:cNvSpPr/>
          <p:nvPr/>
        </p:nvSpPr>
        <p:spPr>
          <a:xfrm>
            <a:off x="0" y="2133600"/>
            <a:ext cx="12192000" cy="2404871"/>
          </a:xfrm>
          <a:prstGeom prst="rect">
            <a:avLst/>
          </a:prstGeom>
          <a:solidFill>
            <a:srgbClr val="BDD7EE">
              <a:alpha val="73725"/>
            </a:srgbClr>
          </a:solidFill>
          <a:ln w="0" cap="flat">
            <a:noFill/>
            <a:prstDash val="solid"/>
            <a:miter lim="0"/>
          </a:ln>
        </p:spPr>
        <p:txBody>
          <a:bodyPr rtlCol="0"/>
          <a:lstStyle/>
          <a:p>
            <a:pPr algn="ctr"/>
            <a:endParaRPr lang="zh-CN" altLang="en-US"/>
          </a:p>
        </p:txBody>
      </p:sp>
      <p:sp>
        <p:nvSpPr>
          <p:cNvPr id="6" name="textbox 6"/>
          <p:cNvSpPr/>
          <p:nvPr/>
        </p:nvSpPr>
        <p:spPr>
          <a:xfrm>
            <a:off x="2993072" y="2778138"/>
            <a:ext cx="5510529" cy="120650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87000"/>
              </a:lnSpc>
            </a:pPr>
            <a:r>
              <a:rPr sz="3500" b="1" kern="0" spc="90" dirty="0">
                <a:solidFill>
                  <a:srgbClr val="222A35">
                    <a:alpha val="100000"/>
                  </a:srgbClr>
                </a:solidFill>
                <a:latin typeface="微软雅黑" panose="020B0503020204020204" charset="-122"/>
                <a:ea typeface="微软雅黑" panose="020B0503020204020204" charset="-122"/>
                <a:cs typeface="微软雅黑" panose="020B0503020204020204" charset="-122"/>
              </a:rPr>
              <a:t>第五单元</a:t>
            </a:r>
            <a:r>
              <a:rPr sz="3500" b="1" kern="0" spc="180" dirty="0">
                <a:solidFill>
                  <a:srgbClr val="222A35">
                    <a:alpha val="100000"/>
                  </a:srgbClr>
                </a:solidFill>
                <a:latin typeface="微软雅黑" panose="020B0503020204020204" charset="-122"/>
                <a:ea typeface="微软雅黑" panose="020B0503020204020204" charset="-122"/>
                <a:cs typeface="微软雅黑" panose="020B0503020204020204" charset="-122"/>
              </a:rPr>
              <a:t>   </a:t>
            </a:r>
            <a:r>
              <a:rPr sz="3500" b="1" kern="0" spc="90" dirty="0">
                <a:solidFill>
                  <a:srgbClr val="222A35">
                    <a:alpha val="100000"/>
                  </a:srgbClr>
                </a:solidFill>
                <a:latin typeface="微软雅黑" panose="020B0503020204020204" charset="-122"/>
                <a:ea typeface="微软雅黑" panose="020B0503020204020204" charset="-122"/>
                <a:cs typeface="微软雅黑" panose="020B0503020204020204" charset="-122"/>
              </a:rPr>
              <a:t>物联网应用探索</a:t>
            </a:r>
            <a:endParaRPr sz="3500" dirty="0">
              <a:latin typeface="微软雅黑" panose="020B0503020204020204" charset="-122"/>
              <a:ea typeface="微软雅黑" panose="020B0503020204020204" charset="-122"/>
              <a:cs typeface="微软雅黑" panose="020B0503020204020204" charset="-122"/>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16000"/>
              </a:lnSpc>
            </a:pPr>
            <a:endParaRPr sz="500" dirty="0">
              <a:latin typeface="Arial" panose="020B0604020202020204"/>
              <a:ea typeface="Arial" panose="020B0604020202020204"/>
              <a:cs typeface="Arial" panose="020B0604020202020204"/>
            </a:endParaRPr>
          </a:p>
          <a:p>
            <a:pPr marL="1002665" algn="l" rtl="0" eaLnBrk="0">
              <a:lnSpc>
                <a:spcPct val="88000"/>
              </a:lnSpc>
              <a:spcBef>
                <a:spcPts val="5"/>
              </a:spcBef>
            </a:pPr>
            <a:r>
              <a:rPr sz="2300" b="1" kern="0" spc="60" dirty="0">
                <a:solidFill>
                  <a:srgbClr val="222A35">
                    <a:alpha val="100000"/>
                  </a:srgbClr>
                </a:solidFill>
                <a:latin typeface="微软雅黑" panose="020B0503020204020204" charset="-122"/>
                <a:ea typeface="微软雅黑" panose="020B0503020204020204" charset="-122"/>
                <a:cs typeface="微软雅黑" panose="020B0503020204020204" charset="-122"/>
              </a:rPr>
              <a:t>第 </a:t>
            </a:r>
            <a:r>
              <a:rPr sz="2300" b="1" kern="0" spc="60" dirty="0">
                <a:solidFill>
                  <a:srgbClr val="222A35">
                    <a:alpha val="100000"/>
                  </a:srgbClr>
                </a:solidFill>
                <a:latin typeface="Times New Roman" panose="02020603050405020304"/>
                <a:ea typeface="Times New Roman" panose="02020603050405020304"/>
                <a:cs typeface="Times New Roman" panose="02020603050405020304"/>
              </a:rPr>
              <a:t>23 </a:t>
            </a:r>
            <a:r>
              <a:rPr sz="2300" b="1" kern="0" spc="60" dirty="0">
                <a:solidFill>
                  <a:srgbClr val="222A35">
                    <a:alpha val="100000"/>
                  </a:srgbClr>
                </a:solidFill>
                <a:latin typeface="微软雅黑" panose="020B0503020204020204" charset="-122"/>
                <a:ea typeface="微软雅黑" panose="020B0503020204020204" charset="-122"/>
                <a:cs typeface="微软雅黑" panose="020B0503020204020204" charset="-122"/>
              </a:rPr>
              <a:t>课</a:t>
            </a:r>
            <a:r>
              <a:rPr sz="2300" b="1" kern="0" spc="160" dirty="0">
                <a:solidFill>
                  <a:srgbClr val="222A35">
                    <a:alpha val="100000"/>
                  </a:srgbClr>
                </a:solidFill>
                <a:latin typeface="微软雅黑" panose="020B0503020204020204" charset="-122"/>
                <a:ea typeface="微软雅黑" panose="020B0503020204020204" charset="-122"/>
                <a:cs typeface="微软雅黑" panose="020B0503020204020204" charset="-122"/>
              </a:rPr>
              <a:t>   </a:t>
            </a:r>
            <a:r>
              <a:rPr sz="2300" b="1" kern="0" spc="60" dirty="0">
                <a:solidFill>
                  <a:srgbClr val="222A35">
                    <a:alpha val="100000"/>
                  </a:srgbClr>
                </a:solidFill>
                <a:latin typeface="微软雅黑" panose="020B0503020204020204" charset="-122"/>
                <a:ea typeface="微软雅黑" panose="020B0503020204020204" charset="-122"/>
                <a:cs typeface="微软雅黑" panose="020B0503020204020204" charset="-122"/>
              </a:rPr>
              <a:t>医疗设施</a:t>
            </a:r>
            <a:r>
              <a:rPr sz="2300" b="1" kern="0" spc="50" dirty="0">
                <a:solidFill>
                  <a:srgbClr val="222A35">
                    <a:alpha val="100000"/>
                  </a:srgbClr>
                </a:solidFill>
                <a:latin typeface="微软雅黑" panose="020B0503020204020204" charset="-122"/>
                <a:ea typeface="微软雅黑" panose="020B0503020204020204" charset="-122"/>
                <a:cs typeface="微软雅黑" panose="020B0503020204020204" charset="-122"/>
              </a:rPr>
              <a:t>新功能</a:t>
            </a:r>
            <a:endParaRPr sz="2300" dirty="0">
              <a:latin typeface="微软雅黑" panose="020B0503020204020204" charset="-122"/>
              <a:ea typeface="微软雅黑" panose="020B0503020204020204" charset="-122"/>
              <a:cs typeface="微软雅黑" panose="020B0503020204020204" charset="-122"/>
            </a:endParaRPr>
          </a:p>
        </p:txBody>
      </p:sp>
      <p:pic>
        <p:nvPicPr>
          <p:cNvPr id="8" name="picture 8"/>
          <p:cNvPicPr>
            <a:picLocks noChangeAspect="1"/>
          </p:cNvPicPr>
          <p:nvPr/>
        </p:nvPicPr>
        <p:blipFill>
          <a:blip r:embed="rId2"/>
          <a:stretch>
            <a:fillRect/>
          </a:stretch>
        </p:blipFill>
        <p:spPr>
          <a:xfrm rot="21600000">
            <a:off x="4195571" y="0"/>
            <a:ext cx="7996427" cy="365759"/>
          </a:xfrm>
          <a:prstGeom prst="rect">
            <a:avLst/>
          </a:prstGeom>
        </p:spPr>
      </p:pic>
      <p:pic>
        <p:nvPicPr>
          <p:cNvPr id="12" name="picture 12"/>
          <p:cNvPicPr>
            <a:picLocks noChangeAspect="1"/>
          </p:cNvPicPr>
          <p:nvPr/>
        </p:nvPicPr>
        <p:blipFill>
          <a:blip r:embed="rId3"/>
          <a:stretch>
            <a:fillRect/>
          </a:stretch>
        </p:blipFill>
        <p:spPr>
          <a:xfrm rot="21600000">
            <a:off x="0" y="0"/>
            <a:ext cx="598931" cy="373379"/>
          </a:xfrm>
          <a:prstGeom prst="rect">
            <a:avLst/>
          </a:prstGeom>
        </p:spPr>
      </p:pic>
      <p:sp>
        <p:nvSpPr>
          <p:cNvPr id="14" name="rect 14"/>
          <p:cNvSpPr/>
          <p:nvPr/>
        </p:nvSpPr>
        <p:spPr>
          <a:xfrm>
            <a:off x="0" y="6612635"/>
            <a:ext cx="12192000" cy="245364"/>
          </a:xfrm>
          <a:prstGeom prst="rect">
            <a:avLst/>
          </a:prstGeom>
          <a:solidFill>
            <a:srgbClr val="0371AE">
              <a:alpha val="100000"/>
            </a:srgbClr>
          </a:solidFill>
          <a:ln w="0" cap="flat">
            <a:noFill/>
            <a:prstDash val="solid"/>
            <a:miter lim="0"/>
          </a:ln>
        </p:spPr>
        <p:txBody>
          <a:bodyPr rtlCol="0"/>
          <a:lstStyle/>
          <a:p>
            <a:pPr algn="ctr"/>
            <a:endParaRPr lang="zh-CN" altLang="en-US"/>
          </a:p>
        </p:txBody>
      </p:sp>
      <p:sp>
        <p:nvSpPr>
          <p:cNvPr id="16" name="textbox 16"/>
          <p:cNvSpPr/>
          <p:nvPr/>
        </p:nvSpPr>
        <p:spPr>
          <a:xfrm>
            <a:off x="4755243" y="4969339"/>
            <a:ext cx="1309369" cy="734059"/>
          </a:xfrm>
          <a:prstGeom prst="rect">
            <a:avLst/>
          </a:prstGeom>
          <a:noFill/>
          <a:ln w="0" cap="flat">
            <a:noFill/>
            <a:prstDash val="solid"/>
            <a:miter lim="0"/>
          </a:ln>
        </p:spPr>
        <p:txBody>
          <a:bodyPr vert="horz" wrap="square" lIns="0" tIns="0" rIns="0" bIns="0"/>
          <a:lstStyle/>
          <a:p>
            <a:pPr algn="l" rtl="0" eaLnBrk="0">
              <a:lnSpc>
                <a:spcPct val="77000"/>
              </a:lnSpc>
            </a:pPr>
            <a:endParaRPr sz="100" dirty="0">
              <a:latin typeface="Arial" panose="020B0604020202020204"/>
              <a:ea typeface="Arial" panose="020B0604020202020204"/>
              <a:cs typeface="Arial" panose="020B0604020202020204"/>
            </a:endParaRPr>
          </a:p>
          <a:p>
            <a:pPr algn="r" rtl="0" eaLnBrk="0">
              <a:lnSpc>
                <a:spcPct val="92000"/>
              </a:lnSpc>
            </a:pPr>
            <a:r>
              <a:rPr sz="18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学校名称 ：</a:t>
            </a:r>
            <a:endParaRPr sz="1800" dirty="0">
              <a:latin typeface="微软雅黑" panose="020B0503020204020204" charset="-122"/>
              <a:ea typeface="微软雅黑" panose="020B0503020204020204" charset="-122"/>
              <a:cs typeface="微软雅黑" panose="020B0503020204020204" charset="-122"/>
            </a:endParaRPr>
          </a:p>
          <a:p>
            <a:pPr algn="l" rtl="0" eaLnBrk="0">
              <a:lnSpc>
                <a:spcPct val="104000"/>
              </a:lnSpc>
            </a:pPr>
            <a:endParaRPr sz="13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algn="r" rtl="0" eaLnBrk="0">
              <a:lnSpc>
                <a:spcPct val="91000"/>
              </a:lnSpc>
            </a:pPr>
            <a:r>
              <a:rPr sz="18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教师姓名 ：</a:t>
            </a:r>
            <a:endParaRPr sz="1800" dirty="0">
              <a:latin typeface="微软雅黑" panose="020B0503020204020204" charset="-122"/>
              <a:ea typeface="微软雅黑" panose="020B0503020204020204" charset="-122"/>
              <a:cs typeface="微软雅黑" panose="020B0503020204020204" charset="-122"/>
            </a:endParaRPr>
          </a:p>
        </p:txBody>
      </p:sp>
      <p:pic>
        <p:nvPicPr>
          <p:cNvPr id="18" name="picture 18"/>
          <p:cNvPicPr>
            <a:picLocks noChangeAspect="1"/>
          </p:cNvPicPr>
          <p:nvPr/>
        </p:nvPicPr>
        <p:blipFill>
          <a:blip r:embed="rId4"/>
          <a:stretch>
            <a:fillRect/>
          </a:stretch>
        </p:blipFill>
        <p:spPr>
          <a:xfrm rot="21600000">
            <a:off x="0" y="6579983"/>
            <a:ext cx="12179300" cy="12700"/>
          </a:xfrm>
          <a:prstGeom prst="rect">
            <a:avLst/>
          </a:prstGeom>
        </p:spPr>
      </p:pic>
      <p:pic>
        <p:nvPicPr>
          <p:cNvPr id="20" name="picture 20"/>
          <p:cNvPicPr>
            <a:picLocks noChangeAspect="1"/>
          </p:cNvPicPr>
          <p:nvPr/>
        </p:nvPicPr>
        <p:blipFill>
          <a:blip r:embed="rId5"/>
          <a:stretch>
            <a:fillRect/>
          </a:stretch>
        </p:blipFill>
        <p:spPr>
          <a:xfrm rot="21600000">
            <a:off x="2038781" y="1952244"/>
            <a:ext cx="8114437" cy="19050"/>
          </a:xfrm>
          <a:prstGeom prst="rect">
            <a:avLst/>
          </a:prstGeom>
        </p:spPr>
      </p:pic>
      <p:pic>
        <p:nvPicPr>
          <p:cNvPr id="22" name="picture 22"/>
          <p:cNvPicPr>
            <a:picLocks noChangeAspect="1"/>
          </p:cNvPicPr>
          <p:nvPr/>
        </p:nvPicPr>
        <p:blipFill>
          <a:blip r:embed="rId6"/>
          <a:stretch>
            <a:fillRect/>
          </a:stretch>
        </p:blipFill>
        <p:spPr>
          <a:xfrm rot="21600000">
            <a:off x="2063940" y="4741824"/>
            <a:ext cx="8089277" cy="19050"/>
          </a:xfrm>
          <a:prstGeom prst="rect">
            <a:avLst/>
          </a:prstGeom>
        </p:spPr>
      </p:pic>
      <p:sp>
        <p:nvSpPr>
          <p:cNvPr id="3" name="textbox 8"/>
          <p:cNvSpPr/>
          <p:nvPr/>
        </p:nvSpPr>
        <p:spPr>
          <a:xfrm>
            <a:off x="618825" y="67294"/>
            <a:ext cx="11393805" cy="270509"/>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100000"/>
              </a:lnSpc>
            </a:pPr>
            <a:r>
              <a:rPr sz="1600" b="1" kern="0" spc="-20" dirty="0">
                <a:solidFill>
                  <a:srgbClr val="000000">
                    <a:alpha val="100000"/>
                  </a:srgbClr>
                </a:solidFill>
                <a:latin typeface="黑体" panose="02010609060101010101" charset="-122"/>
                <a:ea typeface="黑体" panose="02010609060101010101" charset="-122"/>
                <a:cs typeface="黑体" panose="02010609060101010101" charset="-122"/>
              </a:rPr>
              <a:t>米思齐</a:t>
            </a:r>
            <a:r>
              <a:rPr 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课程作业</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600" b="1" kern="0" spc="-20" dirty="0">
                <a:solidFill>
                  <a:srgbClr val="000000">
                    <a:alpha val="100000"/>
                  </a:srgbClr>
                </a:solidFill>
                <a:latin typeface="黑体" panose="02010609060101010101" charset="-122"/>
                <a:ea typeface="黑体" panose="02010609060101010101" charset="-122"/>
                <a:cs typeface="黑体" panose="02010609060101010101" charset="-122"/>
              </a:rPr>
              <a:t>余天润</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202522039114</a:t>
            </a:r>
            <a:r>
              <a:rPr sz="1600" kern="0" spc="-20" dirty="0">
                <a:solidFill>
                  <a:srgbClr val="000000">
                    <a:alpha val="100000"/>
                  </a:srgbClr>
                </a:solidFill>
                <a:latin typeface="黑体" panose="02010609060101010101" charset="-122"/>
                <a:ea typeface="黑体" panose="02010609060101010101" charset="-122"/>
                <a:cs typeface="黑体" panose="02010609060101010101" charset="-122"/>
              </a:rPr>
              <a:t>                                         </a:t>
            </a:r>
            <a:r>
              <a:rPr sz="1400" b="1" kern="0" spc="-20" dirty="0">
                <a:solidFill>
                  <a:srgbClr val="FFFFFF">
                    <a:alpha val="100000"/>
                  </a:srgbClr>
                </a:solidFill>
                <a:latin typeface="黑体" panose="02010609060101010101" charset="-122"/>
                <a:ea typeface="黑体" panose="02010609060101010101" charset="-122"/>
                <a:cs typeface="黑体" panose="02010609060101010101" charset="-122"/>
              </a:rPr>
              <a:t>基于义务教育信息科技教学指南改编</a:t>
            </a:r>
            <a:r>
              <a:rPr sz="1400" kern="0" spc="600" dirty="0">
                <a:solidFill>
                  <a:srgbClr val="FFFFFF">
                    <a:alpha val="100000"/>
                  </a:srgbClr>
                </a:solidFill>
                <a:latin typeface="黑体" panose="02010609060101010101" charset="-122"/>
                <a:ea typeface="黑体" panose="02010609060101010101" charset="-122"/>
                <a:cs typeface="黑体" panose="02010609060101010101" charset="-122"/>
              </a:rPr>
              <a:t> </a:t>
            </a:r>
            <a:r>
              <a:rPr sz="1400" b="1" kern="0" spc="-20" dirty="0">
                <a:solidFill>
                  <a:srgbClr val="FFFFFF">
                    <a:alpha val="100000"/>
                  </a:srgbClr>
                </a:solidFill>
                <a:latin typeface="黑体" panose="02010609060101010101" charset="-122"/>
                <a:ea typeface="黑体" panose="02010609060101010101" charset="-122"/>
                <a:cs typeface="黑体" panose="02010609060101010101" charset="-122"/>
              </a:rPr>
              <a:t>八年级上</a:t>
            </a:r>
            <a:r>
              <a:rPr sz="1400" b="1" kern="0" spc="-30" dirty="0">
                <a:solidFill>
                  <a:srgbClr val="FFFFFF">
                    <a:alpha val="100000"/>
                  </a:srgbClr>
                </a:solidFill>
                <a:latin typeface="黑体" panose="02010609060101010101" charset="-122"/>
                <a:ea typeface="黑体" panose="02010609060101010101" charset="-122"/>
                <a:cs typeface="黑体" panose="02010609060101010101" charset="-122"/>
              </a:rPr>
              <a:t>册</a:t>
            </a:r>
            <a:endParaRPr sz="1400" dirty="0">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rot="21600000">
            <a:off x="0" y="0"/>
            <a:ext cx="12192000" cy="6858000"/>
          </a:xfrm>
          <a:prstGeom prst="rect">
            <a:avLst/>
          </a:prstGeom>
        </p:spPr>
      </p:pic>
      <p:pic>
        <p:nvPicPr>
          <p:cNvPr id="8" name="picture 8"/>
          <p:cNvPicPr>
            <a:picLocks noChangeAspect="1"/>
          </p:cNvPicPr>
          <p:nvPr/>
        </p:nvPicPr>
        <p:blipFill>
          <a:blip r:embed="rId2"/>
          <a:stretch>
            <a:fillRect/>
          </a:stretch>
        </p:blipFill>
        <p:spPr>
          <a:xfrm rot="21600000">
            <a:off x="4195571" y="0"/>
            <a:ext cx="7996427" cy="365759"/>
          </a:xfrm>
          <a:prstGeom prst="rect">
            <a:avLst/>
          </a:prstGeom>
        </p:spPr>
      </p:pic>
      <p:pic>
        <p:nvPicPr>
          <p:cNvPr id="12" name="picture 12"/>
          <p:cNvPicPr>
            <a:picLocks noChangeAspect="1"/>
          </p:cNvPicPr>
          <p:nvPr/>
        </p:nvPicPr>
        <p:blipFill>
          <a:blip r:embed="rId3"/>
          <a:stretch>
            <a:fillRect/>
          </a:stretch>
        </p:blipFill>
        <p:spPr>
          <a:xfrm rot="21600000">
            <a:off x="0" y="0"/>
            <a:ext cx="598931" cy="373379"/>
          </a:xfrm>
          <a:prstGeom prst="rect">
            <a:avLst/>
          </a:prstGeom>
        </p:spPr>
      </p:pic>
      <p:sp>
        <p:nvSpPr>
          <p:cNvPr id="14" name="rect 14"/>
          <p:cNvSpPr/>
          <p:nvPr/>
        </p:nvSpPr>
        <p:spPr>
          <a:xfrm>
            <a:off x="0" y="6612635"/>
            <a:ext cx="12192000" cy="245364"/>
          </a:xfrm>
          <a:prstGeom prst="rect">
            <a:avLst/>
          </a:prstGeom>
          <a:solidFill>
            <a:srgbClr val="0371AE">
              <a:alpha val="100000"/>
            </a:srgbClr>
          </a:solidFill>
          <a:ln w="0" cap="flat">
            <a:noFill/>
            <a:prstDash val="solid"/>
            <a:miter lim="0"/>
          </a:ln>
        </p:spPr>
        <p:txBody>
          <a:bodyPr rtlCol="0"/>
          <a:lstStyle/>
          <a:p>
            <a:pPr algn="ctr"/>
            <a:endParaRPr lang="zh-CN" altLang="en-US"/>
          </a:p>
        </p:txBody>
      </p:sp>
      <p:pic>
        <p:nvPicPr>
          <p:cNvPr id="18" name="picture 18"/>
          <p:cNvPicPr>
            <a:picLocks noChangeAspect="1"/>
          </p:cNvPicPr>
          <p:nvPr/>
        </p:nvPicPr>
        <p:blipFill>
          <a:blip r:embed="rId4"/>
          <a:stretch>
            <a:fillRect/>
          </a:stretch>
        </p:blipFill>
        <p:spPr>
          <a:xfrm rot="21600000">
            <a:off x="0" y="6579983"/>
            <a:ext cx="12179300" cy="12700"/>
          </a:xfrm>
          <a:prstGeom prst="rect">
            <a:avLst/>
          </a:prstGeom>
        </p:spPr>
      </p:pic>
      <p:sp>
        <p:nvSpPr>
          <p:cNvPr id="32" name="textbox 32"/>
          <p:cNvSpPr/>
          <p:nvPr/>
        </p:nvSpPr>
        <p:spPr>
          <a:xfrm>
            <a:off x="365125" y="768985"/>
            <a:ext cx="2447925" cy="500380"/>
          </a:xfrm>
          <a:prstGeom prst="rect">
            <a:avLst/>
          </a:prstGeom>
          <a:noFill/>
          <a:ln w="0" cap="flat">
            <a:noFill/>
            <a:prstDash val="solid"/>
            <a:miter lim="0"/>
          </a:ln>
        </p:spPr>
        <p:txBody>
          <a:bodyPr vert="horz" wrap="square" lIns="0" tIns="0" rIns="0" bIns="0"/>
          <a:lstStyle/>
          <a:p>
            <a:pPr algn="l" rtl="0" eaLnBrk="0">
              <a:lnSpc>
                <a:spcPct val="98000"/>
              </a:lnSpc>
            </a:pPr>
            <a:endParaRPr sz="100" dirty="0">
              <a:latin typeface="Arial" panose="020B0604020202020204"/>
              <a:ea typeface="Arial" panose="020B0604020202020204"/>
              <a:cs typeface="Arial" panose="020B0604020202020204"/>
            </a:endParaRPr>
          </a:p>
          <a:p>
            <a:pPr marL="408940" algn="l" rtl="0" eaLnBrk="0">
              <a:lnSpc>
                <a:spcPct val="87000"/>
              </a:lnSpc>
              <a:tabLst>
                <a:tab pos="676910" algn="l"/>
              </a:tabLst>
            </a:pPr>
            <a:r>
              <a:rPr sz="32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3200" b="1" kern="0" spc="-30" dirty="0">
                <a:solidFill>
                  <a:srgbClr val="4472C4">
                    <a:alpha val="100000"/>
                  </a:srgbClr>
                </a:solidFill>
                <a:latin typeface="微软雅黑" panose="020B0503020204020204" charset="-122"/>
                <a:ea typeface="微软雅黑" panose="020B0503020204020204" charset="-122"/>
                <a:cs typeface="微软雅黑" panose="020B0503020204020204" charset="-122"/>
              </a:rPr>
              <a:t>学习目标</a:t>
            </a:r>
            <a:endParaRPr sz="3200" dirty="0">
              <a:latin typeface="微软雅黑" panose="020B0503020204020204" charset="-122"/>
              <a:ea typeface="微软雅黑" panose="020B0503020204020204" charset="-122"/>
              <a:cs typeface="微软雅黑" panose="020B0503020204020204" charset="-122"/>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marL="1691640" algn="l" rtl="0" eaLnBrk="0">
              <a:lnSpc>
                <a:spcPts val="3725"/>
              </a:lnSpc>
              <a:spcBef>
                <a:spcPts val="705"/>
              </a:spcBef>
            </a:pPr>
            <a:r>
              <a:rPr sz="2300" kern="0" spc="10" dirty="0">
                <a:solidFill>
                  <a:srgbClr val="FFFFFF">
                    <a:alpha val="100000"/>
                  </a:srgbClr>
                </a:solidFill>
                <a:latin typeface="Times New Roman" panose="02020603050405020304"/>
                <a:ea typeface="Times New Roman" panose="02020603050405020304"/>
                <a:cs typeface="Times New Roman" panose="02020603050405020304"/>
              </a:rPr>
              <a:t>          </a:t>
            </a:r>
            <a:endParaRPr sz="2000" dirty="0">
              <a:latin typeface="黑体" panose="02010609060101010101" charset="-122"/>
              <a:ea typeface="黑体" panose="02010609060101010101" charset="-122"/>
              <a:cs typeface="黑体" panose="02010609060101010101" charset="-122"/>
            </a:endParaRPr>
          </a:p>
        </p:txBody>
      </p:sp>
      <p:sp>
        <p:nvSpPr>
          <p:cNvPr id="5" name="文本框 4"/>
          <p:cNvSpPr txBox="1"/>
          <p:nvPr/>
        </p:nvSpPr>
        <p:spPr>
          <a:xfrm>
            <a:off x="2547620" y="2187575"/>
            <a:ext cx="8294370" cy="2134235"/>
          </a:xfrm>
          <a:prstGeom prst="rect">
            <a:avLst/>
          </a:prstGeom>
          <a:noFill/>
        </p:spPr>
        <p:txBody>
          <a:bodyPr wrap="square" rtlCol="0">
            <a:spAutoFit/>
          </a:bodyPr>
          <a:p>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了解物联网在医疗中的应用。</a:t>
            </a:r>
            <a:endParaRPr lang="zh-CN" altLang="en-US">
              <a:latin typeface="微软雅黑" panose="020B0503020204020204" charset="-122"/>
              <a:ea typeface="微软雅黑" panose="020B0503020204020204" charset="-122"/>
              <a:cs typeface="微软雅黑" panose="020B0503020204020204" charset="-122"/>
            </a:endParaRPr>
          </a:p>
          <a:p>
            <a:endParaRPr lang="en-US" altLang="zh-CN" sz="3200">
              <a:latin typeface="微软雅黑" panose="020B0503020204020204" charset="-122"/>
              <a:ea typeface="微软雅黑" panose="020B0503020204020204" charset="-122"/>
              <a:cs typeface="微软雅黑" panose="020B0503020204020204" charset="-122"/>
            </a:endParaRPr>
          </a:p>
          <a:p>
            <a:endParaRPr lang="en-US" altLang="zh-CN">
              <a:latin typeface="微软雅黑" panose="020B0503020204020204" charset="-122"/>
              <a:ea typeface="微软雅黑" panose="020B0503020204020204" charset="-122"/>
              <a:cs typeface="微软雅黑" panose="020B0503020204020204" charset="-122"/>
            </a:endParaRPr>
          </a:p>
          <a:p>
            <a:pPr>
              <a:lnSpc>
                <a:spcPct val="130000"/>
              </a:lnSpc>
            </a:pP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通过</a:t>
            </a:r>
            <a:r>
              <a:rPr lang="zh-CN" altLang="en-US"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记忆守护</a:t>
            </a:r>
            <a:r>
              <a:rPr lang="en-US" altLang="zh-CN"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lang="zh-CN" altLang="en-US"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阿尔兹海默症预防</a:t>
            </a: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系统实践探索 </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，掌握利用物联网解决问题的方法 ，并能</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迁移应用于解决其他问题。</a:t>
            </a:r>
            <a:endParaRPr dirty="0">
              <a:latin typeface="微软雅黑" panose="020B0503020204020204" charset="-122"/>
              <a:ea typeface="微软雅黑" panose="020B0503020204020204" charset="-122"/>
              <a:cs typeface="微软雅黑" panose="020B0503020204020204" charset="-122"/>
            </a:endParaRPr>
          </a:p>
          <a:p>
            <a:endParaRPr lang="zh-CN" altLang="en-US">
              <a:latin typeface="微软雅黑" panose="020B0503020204020204" charset="-122"/>
              <a:ea typeface="微软雅黑" panose="020B0503020204020204" charset="-122"/>
              <a:cs typeface="微软雅黑" panose="020B0503020204020204" charset="-122"/>
            </a:endParaRPr>
          </a:p>
        </p:txBody>
      </p:sp>
      <p:sp>
        <p:nvSpPr>
          <p:cNvPr id="7" name="菱形 6"/>
          <p:cNvSpPr/>
          <p:nvPr/>
        </p:nvSpPr>
        <p:spPr>
          <a:xfrm>
            <a:off x="1446530" y="2077085"/>
            <a:ext cx="708660" cy="660400"/>
          </a:xfrm>
          <a:prstGeom prst="diamond">
            <a:avLst/>
          </a:prstGeom>
          <a:solidFill>
            <a:schemeClr val="accent2"/>
          </a:solidFill>
          <a:ln>
            <a:solidFill>
              <a:schemeClr val="accent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1631315" y="2162810"/>
            <a:ext cx="358140" cy="450850"/>
          </a:xfrm>
          <a:prstGeom prst="rect">
            <a:avLst/>
          </a:prstGeom>
          <a:noFill/>
        </p:spPr>
        <p:txBody>
          <a:bodyPr wrap="square" rtlCol="0">
            <a:spAutoFit/>
          </a:bodyPr>
          <a:p>
            <a:r>
              <a:rPr sz="3600" kern="0" spc="20" baseline="-9000" dirty="0">
                <a:solidFill>
                  <a:srgbClr val="FFFFFF">
                    <a:alpha val="100000"/>
                  </a:srgbClr>
                </a:solidFill>
                <a:latin typeface="Times New Roman" panose="02020603050405020304"/>
                <a:ea typeface="Times New Roman" panose="02020603050405020304"/>
                <a:cs typeface="Times New Roman" panose="02020603050405020304"/>
                <a:sym typeface="+mn-ea"/>
              </a:rPr>
              <a:t>1</a:t>
            </a:r>
            <a:endParaRPr lang="zh-CN" altLang="en-US" sz="3600" kern="0" spc="20" baseline="-9000" dirty="0">
              <a:solidFill>
                <a:srgbClr val="FFFFFF">
                  <a:alpha val="100000"/>
                </a:srgbClr>
              </a:solidFill>
              <a:latin typeface="Times New Roman" panose="02020603050405020304"/>
              <a:ea typeface="Times New Roman" panose="02020603050405020304"/>
              <a:cs typeface="Times New Roman" panose="02020603050405020304"/>
              <a:sym typeface="+mn-ea"/>
            </a:endParaRPr>
          </a:p>
        </p:txBody>
      </p:sp>
      <p:sp>
        <p:nvSpPr>
          <p:cNvPr id="34" name="path 34"/>
          <p:cNvSpPr/>
          <p:nvPr/>
        </p:nvSpPr>
        <p:spPr>
          <a:xfrm>
            <a:off x="377952" y="807720"/>
            <a:ext cx="396240" cy="344423"/>
          </a:xfrm>
          <a:custGeom>
            <a:avLst/>
            <a:gdLst/>
            <a:ahLst/>
            <a:cxnLst/>
            <a:rect l="0" t="0" r="0" b="0"/>
            <a:pathLst>
              <a:path w="624" h="542">
                <a:moveTo>
                  <a:pt x="467" y="0"/>
                </a:moveTo>
                <a:lnTo>
                  <a:pt x="624" y="0"/>
                </a:lnTo>
                <a:lnTo>
                  <a:pt x="312" y="542"/>
                </a:lnTo>
                <a:lnTo>
                  <a:pt x="0" y="0"/>
                </a:lnTo>
                <a:lnTo>
                  <a:pt x="156" y="0"/>
                </a:lnTo>
                <a:lnTo>
                  <a:pt x="467" y="0"/>
                </a:lnTo>
              </a:path>
              <a:path w="624" h="542">
                <a:moveTo>
                  <a:pt x="467" y="0"/>
                </a:moveTo>
                <a:lnTo>
                  <a:pt x="624" y="0"/>
                </a:lnTo>
                <a:lnTo>
                  <a:pt x="312" y="542"/>
                </a:lnTo>
                <a:lnTo>
                  <a:pt x="0" y="0"/>
                </a:lnTo>
                <a:lnTo>
                  <a:pt x="156" y="0"/>
                </a:lnTo>
                <a:lnTo>
                  <a:pt x="467" y="0"/>
                </a:lnTo>
              </a:path>
            </a:pathLst>
          </a:custGeom>
          <a:solidFill>
            <a:srgbClr val="004EA2">
              <a:alpha val="100000"/>
            </a:srgbClr>
          </a:solidFill>
          <a:ln w="0" cap="flat">
            <a:noFill/>
            <a:prstDash val="solid"/>
            <a:miter lim="0"/>
          </a:ln>
        </p:spPr>
        <p:txBody>
          <a:bodyPr rtlCol="0"/>
          <a:lstStyle/>
          <a:p>
            <a:pPr algn="ctr"/>
            <a:endParaRPr lang="zh-CN" altLang="en-US"/>
          </a:p>
        </p:txBody>
      </p:sp>
      <p:sp>
        <p:nvSpPr>
          <p:cNvPr id="11" name="菱形 10"/>
          <p:cNvSpPr/>
          <p:nvPr/>
        </p:nvSpPr>
        <p:spPr>
          <a:xfrm>
            <a:off x="1446530" y="3256915"/>
            <a:ext cx="708660" cy="660400"/>
          </a:xfrm>
          <a:prstGeom prst="diamond">
            <a:avLst/>
          </a:prstGeom>
          <a:solidFill>
            <a:schemeClr val="accent2"/>
          </a:solidFill>
          <a:ln>
            <a:solidFill>
              <a:schemeClr val="accent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文本框 12"/>
          <p:cNvSpPr txBox="1"/>
          <p:nvPr/>
        </p:nvSpPr>
        <p:spPr>
          <a:xfrm>
            <a:off x="1631315" y="3342640"/>
            <a:ext cx="358140" cy="450850"/>
          </a:xfrm>
          <a:prstGeom prst="rect">
            <a:avLst/>
          </a:prstGeom>
          <a:noFill/>
        </p:spPr>
        <p:txBody>
          <a:bodyPr wrap="square" rtlCol="0">
            <a:spAutoFit/>
          </a:bodyPr>
          <a:p>
            <a:r>
              <a:rPr lang="en-US" altLang="zh-CN" sz="3600" kern="0" spc="20" baseline="-9000" dirty="0">
                <a:solidFill>
                  <a:srgbClr val="FFFFFF">
                    <a:alpha val="100000"/>
                  </a:srgbClr>
                </a:solidFill>
                <a:latin typeface="Times New Roman" panose="02020603050405020304"/>
                <a:ea typeface="Times New Roman" panose="02020603050405020304"/>
                <a:cs typeface="Times New Roman" panose="02020603050405020304"/>
                <a:sym typeface="+mn-ea"/>
              </a:rPr>
              <a:t>2</a:t>
            </a:r>
            <a:endParaRPr lang="en-US" altLang="zh-CN" sz="3600" kern="0" spc="20" baseline="-9000" dirty="0">
              <a:solidFill>
                <a:srgbClr val="FFFFFF">
                  <a:alpha val="100000"/>
                </a:srgbClr>
              </a:solidFill>
              <a:latin typeface="Times New Roman" panose="02020603050405020304"/>
              <a:ea typeface="Times New Roman" panose="02020603050405020304"/>
              <a:cs typeface="Times New Roman" panose="02020603050405020304"/>
              <a:sym typeface="+mn-ea"/>
            </a:endParaRPr>
          </a:p>
        </p:txBody>
      </p:sp>
      <p:sp>
        <p:nvSpPr>
          <p:cNvPr id="3" name="textbox 8"/>
          <p:cNvSpPr/>
          <p:nvPr/>
        </p:nvSpPr>
        <p:spPr>
          <a:xfrm>
            <a:off x="618825" y="67294"/>
            <a:ext cx="11393805" cy="270509"/>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100000"/>
              </a:lnSpc>
            </a:pPr>
            <a:r>
              <a:rPr sz="1600" b="1" kern="0" spc="-20" dirty="0">
                <a:solidFill>
                  <a:srgbClr val="000000">
                    <a:alpha val="100000"/>
                  </a:srgbClr>
                </a:solidFill>
                <a:latin typeface="黑体" panose="02010609060101010101" charset="-122"/>
                <a:ea typeface="黑体" panose="02010609060101010101" charset="-122"/>
                <a:cs typeface="黑体" panose="02010609060101010101" charset="-122"/>
              </a:rPr>
              <a:t>米思齐</a:t>
            </a:r>
            <a:r>
              <a:rPr 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课程作业</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600" b="1" kern="0" spc="-20" dirty="0">
                <a:solidFill>
                  <a:srgbClr val="000000">
                    <a:alpha val="100000"/>
                  </a:srgbClr>
                </a:solidFill>
                <a:latin typeface="黑体" panose="02010609060101010101" charset="-122"/>
                <a:ea typeface="黑体" panose="02010609060101010101" charset="-122"/>
                <a:cs typeface="黑体" panose="02010609060101010101" charset="-122"/>
              </a:rPr>
              <a:t>余天润</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202522039114</a:t>
            </a:r>
            <a:r>
              <a:rPr sz="1600" kern="0" spc="-20" dirty="0">
                <a:solidFill>
                  <a:srgbClr val="000000">
                    <a:alpha val="100000"/>
                  </a:srgbClr>
                </a:solidFill>
                <a:latin typeface="黑体" panose="02010609060101010101" charset="-122"/>
                <a:ea typeface="黑体" panose="02010609060101010101" charset="-122"/>
                <a:cs typeface="黑体" panose="02010609060101010101" charset="-122"/>
              </a:rPr>
              <a:t>                                        </a:t>
            </a:r>
            <a:endParaRPr sz="1400" dirty="0">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picture 50"/>
          <p:cNvPicPr>
            <a:picLocks noChangeAspect="1"/>
          </p:cNvPicPr>
          <p:nvPr/>
        </p:nvPicPr>
        <p:blipFill>
          <a:blip r:embed="rId1"/>
          <a:stretch>
            <a:fillRect/>
          </a:stretch>
        </p:blipFill>
        <p:spPr>
          <a:xfrm rot="21600000">
            <a:off x="0" y="0"/>
            <a:ext cx="12192000" cy="6858000"/>
          </a:xfrm>
          <a:prstGeom prst="rect">
            <a:avLst/>
          </a:prstGeom>
        </p:spPr>
      </p:pic>
      <p:sp>
        <p:nvSpPr>
          <p:cNvPr id="52" name="textbox 52"/>
          <p:cNvSpPr/>
          <p:nvPr/>
        </p:nvSpPr>
        <p:spPr>
          <a:xfrm>
            <a:off x="365125" y="771525"/>
            <a:ext cx="10708005" cy="2649855"/>
          </a:xfrm>
          <a:prstGeom prst="rect">
            <a:avLst/>
          </a:prstGeom>
          <a:noFill/>
          <a:ln w="0" cap="flat">
            <a:noFill/>
            <a:prstDash val="solid"/>
            <a:miter lim="0"/>
          </a:ln>
        </p:spPr>
        <p:txBody>
          <a:bodyPr vert="horz" wrap="square" lIns="0" tIns="0" rIns="0" bIns="0"/>
          <a:lstStyle/>
          <a:p>
            <a:pPr algn="l" rtl="0" eaLnBrk="0">
              <a:lnSpc>
                <a:spcPct val="69000"/>
              </a:lnSpc>
            </a:pPr>
            <a:endParaRPr sz="100" dirty="0">
              <a:latin typeface="Arial" panose="020B0604020202020204"/>
              <a:ea typeface="Arial" panose="020B0604020202020204"/>
              <a:cs typeface="Arial" panose="020B0604020202020204"/>
            </a:endParaRPr>
          </a:p>
          <a:p>
            <a:pPr marL="408940" algn="l" rtl="0" eaLnBrk="0">
              <a:lnSpc>
                <a:spcPct val="87000"/>
              </a:lnSpc>
              <a:tabLst>
                <a:tab pos="668655" algn="l"/>
              </a:tabLst>
            </a:pPr>
            <a:r>
              <a:rPr sz="32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3200" b="1" kern="0" spc="-10" dirty="0">
                <a:solidFill>
                  <a:srgbClr val="4472C4">
                    <a:alpha val="100000"/>
                  </a:srgbClr>
                </a:solidFill>
                <a:latin typeface="微软雅黑" panose="020B0503020204020204" charset="-122"/>
                <a:ea typeface="微软雅黑" panose="020B0503020204020204" charset="-122"/>
                <a:cs typeface="微软雅黑" panose="020B0503020204020204" charset="-122"/>
              </a:rPr>
              <a:t>情境导入</a:t>
            </a:r>
            <a:endParaRPr sz="3200" b="1" kern="0" spc="-10" dirty="0">
              <a:solidFill>
                <a:srgbClr val="4472C4">
                  <a:alpha val="100000"/>
                </a:srgbClr>
              </a:solidFill>
              <a:latin typeface="微软雅黑" panose="020B0503020204020204" charset="-122"/>
              <a:ea typeface="微软雅黑" panose="020B0503020204020204" charset="-122"/>
              <a:cs typeface="微软雅黑" panose="020B0503020204020204" charset="-122"/>
            </a:endParaRPr>
          </a:p>
          <a:p>
            <a:pPr marL="408940" algn="l" rtl="0" eaLnBrk="0">
              <a:lnSpc>
                <a:spcPct val="87000"/>
              </a:lnSpc>
              <a:tabLst>
                <a:tab pos="668655" algn="l"/>
              </a:tabLst>
            </a:pPr>
            <a:endParaRPr lang="en-US" altLang="zh-CN" sz="10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408940" algn="l" rtl="0" eaLnBrk="0">
              <a:lnSpc>
                <a:spcPct val="87000"/>
              </a:lnSpc>
              <a:tabLst>
                <a:tab pos="668655" algn="l"/>
              </a:tabLst>
            </a:pPr>
            <a:endParaRPr lang="en-US" altLang="zh-CN" sz="10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lvl="2" indent="457200" algn="l" rtl="0" eaLnBrk="0" fontAlgn="auto">
              <a:lnSpc>
                <a:spcPct val="150000"/>
              </a:lnSpc>
              <a:spcBef>
                <a:spcPts val="600"/>
              </a:spcBef>
            </a:pPr>
            <a:r>
              <a:rPr lang="zh-CN" altLang="en-US"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随着全球老龄化的加剧，</a:t>
            </a:r>
            <a:r>
              <a:rPr lang="zh-CN" altLang="en-US" kern="0" spc="-2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阿尔兹海默症</a:t>
            </a:r>
            <a:r>
              <a:rPr lang="zh-CN" altLang="en-US"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（俗称老年痴呆）已成为影响老年人生活质量的一大杀手</a:t>
            </a:r>
            <a:r>
              <a:rPr lang="en-US" altLang="zh-CN"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。医学研究表明，早期的认知干预与</a:t>
            </a:r>
            <a:r>
              <a:rPr lang="zh-CN" altLang="en-US" kern="0" spc="-20" dirty="0">
                <a:ln w="22225">
                  <a:solidFill>
                    <a:schemeClr val="accent2"/>
                  </a:solidFill>
                  <a:prstDash val="solid"/>
                </a:ln>
                <a:solidFill>
                  <a:schemeClr val="accent2">
                    <a:lumMod val="40000"/>
                    <a:lumOff val="60000"/>
                  </a:schemeClr>
                </a:solidFill>
                <a:effectLst/>
                <a:latin typeface="微软雅黑" panose="020B0503020204020204" charset="-122"/>
                <a:ea typeface="微软雅黑" panose="020B0503020204020204" charset="-122"/>
                <a:cs typeface="微软雅黑" panose="020B0503020204020204" charset="-122"/>
              </a:rPr>
              <a:t>记忆力训练</a:t>
            </a:r>
            <a:r>
              <a:rPr lang="zh-CN" altLang="en-US"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能有效减缓大脑退化。</a:t>
            </a:r>
            <a:endParaRPr lang="zh-CN" altLang="en-US"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lvl="2" indent="457200" algn="l" rtl="0" eaLnBrk="0" fontAlgn="auto">
              <a:lnSpc>
                <a:spcPct val="150000"/>
              </a:lnSpc>
              <a:spcBef>
                <a:spcPts val="600"/>
              </a:spcBef>
            </a:pPr>
            <a:endParaRPr lang="en-US" altLang="zh-CN" sz="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lvl="2" indent="457200" algn="l" rtl="0" eaLnBrk="0" fontAlgn="auto">
              <a:lnSpc>
                <a:spcPct val="150000"/>
              </a:lnSpc>
              <a:spcBef>
                <a:spcPts val="600"/>
              </a:spcBef>
            </a:pPr>
            <a:r>
              <a:rPr lang="zh-CN" altLang="en-US"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你是否想过，利用物联网技术开发一款</a:t>
            </a:r>
            <a:r>
              <a:rPr lang="en-US" altLang="zh-CN"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记忆力挑战设备</a:t>
            </a:r>
            <a:r>
              <a:rPr lang="en-US" altLang="zh-CN"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？它不仅能帮助长辈进行日常</a:t>
            </a:r>
            <a:r>
              <a:rPr lang="zh-CN" altLang="en-US" kern="0" spc="-2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脑力锻炼</a:t>
            </a:r>
            <a:r>
              <a:rPr lang="zh-CN" altLang="en-US"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，还能通过</a:t>
            </a:r>
            <a:r>
              <a:rPr lang="zh-CN" altLang="en-US" kern="0" spc="-2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数据上传</a:t>
            </a:r>
            <a:r>
              <a:rPr lang="zh-CN" altLang="en-US"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功能，让远方的子女实时掌握长辈的认知状态，实现</a:t>
            </a:r>
            <a:r>
              <a:rPr lang="en-US" altLang="zh-CN"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科技助老</a:t>
            </a:r>
            <a:r>
              <a:rPr lang="en-US" altLang="zh-CN"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zh-CN" altLang="en-US"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sp>
        <p:nvSpPr>
          <p:cNvPr id="54" name="path 54"/>
          <p:cNvSpPr/>
          <p:nvPr/>
        </p:nvSpPr>
        <p:spPr>
          <a:xfrm>
            <a:off x="377952" y="807720"/>
            <a:ext cx="396240" cy="344423"/>
          </a:xfrm>
          <a:custGeom>
            <a:avLst/>
            <a:gdLst/>
            <a:ahLst/>
            <a:cxnLst/>
            <a:rect l="0" t="0" r="0" b="0"/>
            <a:pathLst>
              <a:path w="624" h="542">
                <a:moveTo>
                  <a:pt x="467" y="0"/>
                </a:moveTo>
                <a:lnTo>
                  <a:pt x="624" y="0"/>
                </a:lnTo>
                <a:lnTo>
                  <a:pt x="312" y="542"/>
                </a:lnTo>
                <a:lnTo>
                  <a:pt x="0" y="0"/>
                </a:lnTo>
                <a:lnTo>
                  <a:pt x="156" y="0"/>
                </a:lnTo>
                <a:lnTo>
                  <a:pt x="467" y="0"/>
                </a:lnTo>
              </a:path>
              <a:path w="624" h="542">
                <a:moveTo>
                  <a:pt x="467" y="0"/>
                </a:moveTo>
                <a:lnTo>
                  <a:pt x="624" y="0"/>
                </a:lnTo>
                <a:lnTo>
                  <a:pt x="312" y="542"/>
                </a:lnTo>
                <a:lnTo>
                  <a:pt x="0" y="0"/>
                </a:lnTo>
                <a:lnTo>
                  <a:pt x="156" y="0"/>
                </a:lnTo>
                <a:lnTo>
                  <a:pt x="467" y="0"/>
                </a:lnTo>
              </a:path>
            </a:pathLst>
          </a:custGeom>
          <a:solidFill>
            <a:srgbClr val="004EA2">
              <a:alpha val="100000"/>
            </a:srgbClr>
          </a:solidFill>
          <a:ln w="0" cap="flat">
            <a:noFill/>
            <a:prstDash val="solid"/>
            <a:miter lim="0"/>
          </a:ln>
        </p:spPr>
        <p:txBody>
          <a:bodyPr rtlCol="0"/>
          <a:lstStyle/>
          <a:p>
            <a:pPr algn="ctr"/>
            <a:endParaRPr lang="zh-CN" altLang="en-US"/>
          </a:p>
        </p:txBody>
      </p:sp>
      <p:pic>
        <p:nvPicPr>
          <p:cNvPr id="56" name="picture 56"/>
          <p:cNvPicPr>
            <a:picLocks noChangeAspect="1"/>
          </p:cNvPicPr>
          <p:nvPr/>
        </p:nvPicPr>
        <p:blipFill>
          <a:blip r:embed="rId2"/>
          <a:stretch>
            <a:fillRect/>
          </a:stretch>
        </p:blipFill>
        <p:spPr>
          <a:xfrm rot="21600000">
            <a:off x="1937004" y="3717035"/>
            <a:ext cx="3631691" cy="2171700"/>
          </a:xfrm>
          <a:prstGeom prst="rect">
            <a:avLst/>
          </a:prstGeom>
        </p:spPr>
      </p:pic>
      <p:pic>
        <p:nvPicPr>
          <p:cNvPr id="58" name="picture 58"/>
          <p:cNvPicPr>
            <a:picLocks noChangeAspect="1"/>
          </p:cNvPicPr>
          <p:nvPr/>
        </p:nvPicPr>
        <p:blipFill>
          <a:blip r:embed="rId3"/>
          <a:stretch>
            <a:fillRect/>
          </a:stretch>
        </p:blipFill>
        <p:spPr>
          <a:xfrm rot="21600000">
            <a:off x="6438900" y="3717035"/>
            <a:ext cx="3607308" cy="2171700"/>
          </a:xfrm>
          <a:prstGeom prst="rect">
            <a:avLst/>
          </a:prstGeom>
        </p:spPr>
      </p:pic>
      <p:sp>
        <p:nvSpPr>
          <p:cNvPr id="60" name="rect 60"/>
          <p:cNvSpPr/>
          <p:nvPr/>
        </p:nvSpPr>
        <p:spPr>
          <a:xfrm>
            <a:off x="0" y="6612635"/>
            <a:ext cx="12192000" cy="245364"/>
          </a:xfrm>
          <a:prstGeom prst="rect">
            <a:avLst/>
          </a:prstGeom>
          <a:solidFill>
            <a:srgbClr val="0371AE">
              <a:alpha val="100000"/>
            </a:srgbClr>
          </a:solidFill>
          <a:ln w="0" cap="flat">
            <a:noFill/>
            <a:prstDash val="solid"/>
            <a:miter lim="0"/>
          </a:ln>
        </p:spPr>
        <p:txBody>
          <a:bodyPr rtlCol="0"/>
          <a:lstStyle/>
          <a:p>
            <a:pPr algn="ctr"/>
            <a:endParaRPr lang="zh-CN" altLang="en-US"/>
          </a:p>
        </p:txBody>
      </p:sp>
      <p:pic>
        <p:nvPicPr>
          <p:cNvPr id="62" name="picture 62"/>
          <p:cNvPicPr>
            <a:picLocks noChangeAspect="1"/>
          </p:cNvPicPr>
          <p:nvPr/>
        </p:nvPicPr>
        <p:blipFill>
          <a:blip r:embed="rId4"/>
          <a:stretch>
            <a:fillRect/>
          </a:stretch>
        </p:blipFill>
        <p:spPr>
          <a:xfrm rot="21600000">
            <a:off x="4195571" y="0"/>
            <a:ext cx="7996427" cy="365759"/>
          </a:xfrm>
          <a:prstGeom prst="rect">
            <a:avLst/>
          </a:prstGeom>
        </p:spPr>
      </p:pic>
      <p:pic>
        <p:nvPicPr>
          <p:cNvPr id="66" name="picture 66"/>
          <p:cNvPicPr>
            <a:picLocks noChangeAspect="1"/>
          </p:cNvPicPr>
          <p:nvPr/>
        </p:nvPicPr>
        <p:blipFill>
          <a:blip r:embed="rId5"/>
          <a:stretch>
            <a:fillRect/>
          </a:stretch>
        </p:blipFill>
        <p:spPr>
          <a:xfrm rot="21600000">
            <a:off x="0" y="0"/>
            <a:ext cx="598931" cy="373379"/>
          </a:xfrm>
          <a:prstGeom prst="rect">
            <a:avLst/>
          </a:prstGeom>
        </p:spPr>
      </p:pic>
      <p:pic>
        <p:nvPicPr>
          <p:cNvPr id="68" name="picture 68"/>
          <p:cNvPicPr>
            <a:picLocks noChangeAspect="1"/>
          </p:cNvPicPr>
          <p:nvPr/>
        </p:nvPicPr>
        <p:blipFill>
          <a:blip r:embed="rId6"/>
          <a:stretch>
            <a:fillRect/>
          </a:stretch>
        </p:blipFill>
        <p:spPr>
          <a:xfrm rot="21600000">
            <a:off x="0" y="6579983"/>
            <a:ext cx="12179300" cy="12700"/>
          </a:xfrm>
          <a:prstGeom prst="rect">
            <a:avLst/>
          </a:prstGeom>
        </p:spPr>
      </p:pic>
      <p:sp>
        <p:nvSpPr>
          <p:cNvPr id="3" name="textbox 8"/>
          <p:cNvSpPr/>
          <p:nvPr/>
        </p:nvSpPr>
        <p:spPr>
          <a:xfrm>
            <a:off x="618825" y="67294"/>
            <a:ext cx="11393805" cy="270509"/>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100000"/>
              </a:lnSpc>
            </a:pPr>
            <a:r>
              <a:rPr sz="1600" b="1" kern="0" spc="-20" dirty="0">
                <a:solidFill>
                  <a:srgbClr val="000000">
                    <a:alpha val="100000"/>
                  </a:srgbClr>
                </a:solidFill>
                <a:latin typeface="黑体" panose="02010609060101010101" charset="-122"/>
                <a:ea typeface="黑体" panose="02010609060101010101" charset="-122"/>
                <a:cs typeface="黑体" panose="02010609060101010101" charset="-122"/>
              </a:rPr>
              <a:t>米思齐</a:t>
            </a:r>
            <a:r>
              <a:rPr 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课程作业</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600" b="1" kern="0" spc="-20" dirty="0">
                <a:solidFill>
                  <a:srgbClr val="000000">
                    <a:alpha val="100000"/>
                  </a:srgbClr>
                </a:solidFill>
                <a:latin typeface="黑体" panose="02010609060101010101" charset="-122"/>
                <a:ea typeface="黑体" panose="02010609060101010101" charset="-122"/>
                <a:cs typeface="黑体" panose="02010609060101010101" charset="-122"/>
              </a:rPr>
              <a:t>余天润</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202522039114</a:t>
            </a:r>
            <a:r>
              <a:rPr sz="1600" kern="0" spc="-20" dirty="0">
                <a:solidFill>
                  <a:srgbClr val="000000">
                    <a:alpha val="100000"/>
                  </a:srgbClr>
                </a:solidFill>
                <a:latin typeface="黑体" panose="02010609060101010101" charset="-122"/>
                <a:ea typeface="黑体" panose="02010609060101010101" charset="-122"/>
                <a:cs typeface="黑体" panose="02010609060101010101" charset="-122"/>
              </a:rPr>
              <a:t>                                        </a:t>
            </a:r>
            <a:endParaRPr sz="1400" dirty="0">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rot="21600000">
            <a:off x="0" y="0"/>
            <a:ext cx="12192000" cy="6858000"/>
          </a:xfrm>
          <a:prstGeom prst="rect">
            <a:avLst/>
          </a:prstGeom>
        </p:spPr>
      </p:pic>
      <p:pic>
        <p:nvPicPr>
          <p:cNvPr id="8" name="picture 8"/>
          <p:cNvPicPr>
            <a:picLocks noChangeAspect="1"/>
          </p:cNvPicPr>
          <p:nvPr/>
        </p:nvPicPr>
        <p:blipFill>
          <a:blip r:embed="rId2"/>
          <a:stretch>
            <a:fillRect/>
          </a:stretch>
        </p:blipFill>
        <p:spPr>
          <a:xfrm rot="21600000">
            <a:off x="4195571" y="0"/>
            <a:ext cx="7996427" cy="365759"/>
          </a:xfrm>
          <a:prstGeom prst="rect">
            <a:avLst/>
          </a:prstGeom>
        </p:spPr>
      </p:pic>
      <p:pic>
        <p:nvPicPr>
          <p:cNvPr id="12" name="picture 12"/>
          <p:cNvPicPr>
            <a:picLocks noChangeAspect="1"/>
          </p:cNvPicPr>
          <p:nvPr/>
        </p:nvPicPr>
        <p:blipFill>
          <a:blip r:embed="rId3"/>
          <a:stretch>
            <a:fillRect/>
          </a:stretch>
        </p:blipFill>
        <p:spPr>
          <a:xfrm rot="21600000">
            <a:off x="0" y="0"/>
            <a:ext cx="598931" cy="373379"/>
          </a:xfrm>
          <a:prstGeom prst="rect">
            <a:avLst/>
          </a:prstGeom>
        </p:spPr>
      </p:pic>
      <p:sp>
        <p:nvSpPr>
          <p:cNvPr id="14" name="rect 14"/>
          <p:cNvSpPr/>
          <p:nvPr/>
        </p:nvSpPr>
        <p:spPr>
          <a:xfrm>
            <a:off x="0" y="6612635"/>
            <a:ext cx="12192000" cy="245364"/>
          </a:xfrm>
          <a:prstGeom prst="rect">
            <a:avLst/>
          </a:prstGeom>
          <a:solidFill>
            <a:srgbClr val="0371AE">
              <a:alpha val="100000"/>
            </a:srgbClr>
          </a:solidFill>
          <a:ln w="0" cap="flat">
            <a:noFill/>
            <a:prstDash val="solid"/>
            <a:miter lim="0"/>
          </a:ln>
        </p:spPr>
        <p:txBody>
          <a:bodyPr rtlCol="0"/>
          <a:lstStyle/>
          <a:p>
            <a:pPr algn="ctr"/>
            <a:endParaRPr lang="zh-CN" altLang="en-US"/>
          </a:p>
        </p:txBody>
      </p:sp>
      <p:pic>
        <p:nvPicPr>
          <p:cNvPr id="18" name="picture 18"/>
          <p:cNvPicPr>
            <a:picLocks noChangeAspect="1"/>
          </p:cNvPicPr>
          <p:nvPr/>
        </p:nvPicPr>
        <p:blipFill>
          <a:blip r:embed="rId4"/>
          <a:stretch>
            <a:fillRect/>
          </a:stretch>
        </p:blipFill>
        <p:spPr>
          <a:xfrm rot="21600000">
            <a:off x="0" y="6579983"/>
            <a:ext cx="12179300" cy="12700"/>
          </a:xfrm>
          <a:prstGeom prst="rect">
            <a:avLst/>
          </a:prstGeom>
        </p:spPr>
      </p:pic>
      <p:sp>
        <p:nvSpPr>
          <p:cNvPr id="32" name="textbox 32"/>
          <p:cNvSpPr/>
          <p:nvPr/>
        </p:nvSpPr>
        <p:spPr>
          <a:xfrm>
            <a:off x="365125" y="768985"/>
            <a:ext cx="2447925" cy="500380"/>
          </a:xfrm>
          <a:prstGeom prst="rect">
            <a:avLst/>
          </a:prstGeom>
          <a:noFill/>
          <a:ln w="0" cap="flat">
            <a:noFill/>
            <a:prstDash val="solid"/>
            <a:miter lim="0"/>
          </a:ln>
        </p:spPr>
        <p:txBody>
          <a:bodyPr vert="horz" wrap="square" lIns="0" tIns="0" rIns="0" bIns="0"/>
          <a:lstStyle/>
          <a:p>
            <a:pPr algn="l" rtl="0" eaLnBrk="0">
              <a:lnSpc>
                <a:spcPct val="98000"/>
              </a:lnSpc>
            </a:pPr>
            <a:endParaRPr sz="100" dirty="0">
              <a:latin typeface="Arial" panose="020B0604020202020204"/>
              <a:ea typeface="Arial" panose="020B0604020202020204"/>
              <a:cs typeface="Arial" panose="020B0604020202020204"/>
            </a:endParaRPr>
          </a:p>
          <a:p>
            <a:pPr marL="408940" algn="l" rtl="0" eaLnBrk="0">
              <a:lnSpc>
                <a:spcPct val="87000"/>
              </a:lnSpc>
              <a:tabLst>
                <a:tab pos="676910" algn="l"/>
              </a:tabLst>
            </a:pPr>
            <a:r>
              <a:rPr sz="32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3200" b="1" kern="0" spc="-30" dirty="0">
                <a:solidFill>
                  <a:srgbClr val="4472C4">
                    <a:alpha val="100000"/>
                  </a:srgbClr>
                </a:solidFill>
                <a:latin typeface="微软雅黑" panose="020B0503020204020204" charset="-122"/>
                <a:ea typeface="微软雅黑" panose="020B0503020204020204" charset="-122"/>
                <a:cs typeface="微软雅黑" panose="020B0503020204020204" charset="-122"/>
              </a:rPr>
              <a:t>学习</a:t>
            </a:r>
            <a:r>
              <a:rPr lang="zh-CN" sz="3200" b="1" kern="0" spc="-30" dirty="0">
                <a:solidFill>
                  <a:srgbClr val="4472C4">
                    <a:alpha val="100000"/>
                  </a:srgbClr>
                </a:solidFill>
                <a:latin typeface="微软雅黑" panose="020B0503020204020204" charset="-122"/>
                <a:ea typeface="微软雅黑" panose="020B0503020204020204" charset="-122"/>
                <a:cs typeface="微软雅黑" panose="020B0503020204020204" charset="-122"/>
              </a:rPr>
              <a:t>内容</a:t>
            </a:r>
            <a:endParaRPr sz="3200" dirty="0">
              <a:latin typeface="微软雅黑" panose="020B0503020204020204" charset="-122"/>
              <a:ea typeface="微软雅黑" panose="020B0503020204020204" charset="-122"/>
              <a:cs typeface="微软雅黑" panose="020B0503020204020204" charset="-122"/>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marL="1691640" algn="l" rtl="0" eaLnBrk="0">
              <a:lnSpc>
                <a:spcPts val="3725"/>
              </a:lnSpc>
              <a:spcBef>
                <a:spcPts val="705"/>
              </a:spcBef>
            </a:pPr>
            <a:r>
              <a:rPr sz="2300" kern="0" spc="10" dirty="0">
                <a:solidFill>
                  <a:srgbClr val="FFFFFF">
                    <a:alpha val="100000"/>
                  </a:srgbClr>
                </a:solidFill>
                <a:latin typeface="Times New Roman" panose="02020603050405020304"/>
                <a:ea typeface="Times New Roman" panose="02020603050405020304"/>
                <a:cs typeface="Times New Roman" panose="02020603050405020304"/>
              </a:rPr>
              <a:t>          </a:t>
            </a:r>
            <a:endParaRPr sz="2000" dirty="0">
              <a:latin typeface="黑体" panose="02010609060101010101" charset="-122"/>
              <a:ea typeface="黑体" panose="02010609060101010101" charset="-122"/>
              <a:cs typeface="黑体" panose="02010609060101010101" charset="-122"/>
            </a:endParaRPr>
          </a:p>
        </p:txBody>
      </p:sp>
      <p:sp>
        <p:nvSpPr>
          <p:cNvPr id="5" name="文本框 4"/>
          <p:cNvSpPr txBox="1"/>
          <p:nvPr/>
        </p:nvSpPr>
        <p:spPr>
          <a:xfrm>
            <a:off x="2547620" y="2187575"/>
            <a:ext cx="8294370" cy="1497330"/>
          </a:xfrm>
          <a:prstGeom prst="rect">
            <a:avLst/>
          </a:prstGeom>
          <a:noFill/>
        </p:spPr>
        <p:txBody>
          <a:bodyPr wrap="square" rtlCol="0">
            <a:spAutoFit/>
          </a:bodyPr>
          <a:p>
            <a:r>
              <a:rPr lang="zh-CN"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探索</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物联网在医疗中的应用。</a:t>
            </a:r>
            <a:endParaRPr lang="zh-CN" altLang="en-US">
              <a:latin typeface="微软雅黑" panose="020B0503020204020204" charset="-122"/>
              <a:ea typeface="微软雅黑" panose="020B0503020204020204" charset="-122"/>
              <a:cs typeface="微软雅黑" panose="020B0503020204020204" charset="-122"/>
            </a:endParaRPr>
          </a:p>
          <a:p>
            <a:endParaRPr lang="en-US" altLang="zh-CN" sz="3200">
              <a:latin typeface="微软雅黑" panose="020B0503020204020204" charset="-122"/>
              <a:ea typeface="微软雅黑" panose="020B0503020204020204" charset="-122"/>
              <a:cs typeface="微软雅黑" panose="020B0503020204020204" charset="-122"/>
            </a:endParaRPr>
          </a:p>
          <a:p>
            <a:endParaRPr lang="en-US" altLang="zh-CN">
              <a:latin typeface="微软雅黑" panose="020B0503020204020204" charset="-122"/>
              <a:ea typeface="微软雅黑" panose="020B0503020204020204" charset="-122"/>
              <a:cs typeface="微软雅黑" panose="020B0503020204020204" charset="-122"/>
            </a:endParaRPr>
          </a:p>
          <a:p>
            <a:pPr>
              <a:lnSpc>
                <a:spcPct val="130000"/>
              </a:lnSpc>
            </a:pPr>
            <a:r>
              <a:rPr lang="zh-CN" altLang="en-US"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记忆守护</a:t>
            </a:r>
            <a:r>
              <a:rPr lang="en-US" altLang="zh-CN"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lang="zh-CN" altLang="en-US"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阿尔兹海默症预防</a:t>
            </a: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系统实践</a:t>
            </a:r>
            <a:r>
              <a:rPr lang="zh-CN"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zh-CN"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7" name="菱形 6"/>
          <p:cNvSpPr/>
          <p:nvPr/>
        </p:nvSpPr>
        <p:spPr>
          <a:xfrm>
            <a:off x="1446530" y="2077085"/>
            <a:ext cx="708660" cy="660400"/>
          </a:xfrm>
          <a:prstGeom prst="diamond">
            <a:avLst/>
          </a:prstGeom>
          <a:solidFill>
            <a:schemeClr val="accent2"/>
          </a:solidFill>
          <a:ln>
            <a:solidFill>
              <a:schemeClr val="accent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1631315" y="2162810"/>
            <a:ext cx="358140" cy="450850"/>
          </a:xfrm>
          <a:prstGeom prst="rect">
            <a:avLst/>
          </a:prstGeom>
          <a:noFill/>
        </p:spPr>
        <p:txBody>
          <a:bodyPr wrap="square" rtlCol="0">
            <a:spAutoFit/>
          </a:bodyPr>
          <a:p>
            <a:r>
              <a:rPr sz="3600" kern="0" spc="20" baseline="-9000" dirty="0">
                <a:solidFill>
                  <a:srgbClr val="FFFFFF">
                    <a:alpha val="100000"/>
                  </a:srgbClr>
                </a:solidFill>
                <a:latin typeface="Times New Roman" panose="02020603050405020304"/>
                <a:ea typeface="Times New Roman" panose="02020603050405020304"/>
                <a:cs typeface="Times New Roman" panose="02020603050405020304"/>
                <a:sym typeface="+mn-ea"/>
              </a:rPr>
              <a:t>1</a:t>
            </a:r>
            <a:endParaRPr lang="zh-CN" altLang="en-US" sz="3600" kern="0" spc="20" baseline="-9000" dirty="0">
              <a:solidFill>
                <a:srgbClr val="FFFFFF">
                  <a:alpha val="100000"/>
                </a:srgbClr>
              </a:solidFill>
              <a:latin typeface="Times New Roman" panose="02020603050405020304"/>
              <a:ea typeface="Times New Roman" panose="02020603050405020304"/>
              <a:cs typeface="Times New Roman" panose="02020603050405020304"/>
              <a:sym typeface="+mn-ea"/>
            </a:endParaRPr>
          </a:p>
        </p:txBody>
      </p:sp>
      <p:sp>
        <p:nvSpPr>
          <p:cNvPr id="34" name="path 34"/>
          <p:cNvSpPr/>
          <p:nvPr/>
        </p:nvSpPr>
        <p:spPr>
          <a:xfrm>
            <a:off x="377952" y="807720"/>
            <a:ext cx="396240" cy="344423"/>
          </a:xfrm>
          <a:custGeom>
            <a:avLst/>
            <a:gdLst/>
            <a:ahLst/>
            <a:cxnLst/>
            <a:rect l="0" t="0" r="0" b="0"/>
            <a:pathLst>
              <a:path w="624" h="542">
                <a:moveTo>
                  <a:pt x="467" y="0"/>
                </a:moveTo>
                <a:lnTo>
                  <a:pt x="624" y="0"/>
                </a:lnTo>
                <a:lnTo>
                  <a:pt x="312" y="542"/>
                </a:lnTo>
                <a:lnTo>
                  <a:pt x="0" y="0"/>
                </a:lnTo>
                <a:lnTo>
                  <a:pt x="156" y="0"/>
                </a:lnTo>
                <a:lnTo>
                  <a:pt x="467" y="0"/>
                </a:lnTo>
              </a:path>
              <a:path w="624" h="542">
                <a:moveTo>
                  <a:pt x="467" y="0"/>
                </a:moveTo>
                <a:lnTo>
                  <a:pt x="624" y="0"/>
                </a:lnTo>
                <a:lnTo>
                  <a:pt x="312" y="542"/>
                </a:lnTo>
                <a:lnTo>
                  <a:pt x="0" y="0"/>
                </a:lnTo>
                <a:lnTo>
                  <a:pt x="156" y="0"/>
                </a:lnTo>
                <a:lnTo>
                  <a:pt x="467" y="0"/>
                </a:lnTo>
              </a:path>
            </a:pathLst>
          </a:custGeom>
          <a:solidFill>
            <a:srgbClr val="004EA2">
              <a:alpha val="100000"/>
            </a:srgbClr>
          </a:solidFill>
          <a:ln w="0" cap="flat">
            <a:noFill/>
            <a:prstDash val="solid"/>
            <a:miter lim="0"/>
          </a:ln>
        </p:spPr>
        <p:txBody>
          <a:bodyPr rtlCol="0"/>
          <a:lstStyle/>
          <a:p>
            <a:pPr algn="ctr"/>
            <a:endParaRPr lang="zh-CN" altLang="en-US"/>
          </a:p>
        </p:txBody>
      </p:sp>
      <p:sp>
        <p:nvSpPr>
          <p:cNvPr id="11" name="菱形 10"/>
          <p:cNvSpPr/>
          <p:nvPr/>
        </p:nvSpPr>
        <p:spPr>
          <a:xfrm>
            <a:off x="1446530" y="3256915"/>
            <a:ext cx="708660" cy="660400"/>
          </a:xfrm>
          <a:prstGeom prst="diamond">
            <a:avLst/>
          </a:prstGeom>
          <a:solidFill>
            <a:schemeClr val="accent2"/>
          </a:solidFill>
          <a:ln>
            <a:solidFill>
              <a:schemeClr val="accent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文本框 12"/>
          <p:cNvSpPr txBox="1"/>
          <p:nvPr/>
        </p:nvSpPr>
        <p:spPr>
          <a:xfrm>
            <a:off x="1631315" y="3342640"/>
            <a:ext cx="358140" cy="450850"/>
          </a:xfrm>
          <a:prstGeom prst="rect">
            <a:avLst/>
          </a:prstGeom>
          <a:noFill/>
        </p:spPr>
        <p:txBody>
          <a:bodyPr wrap="square" rtlCol="0">
            <a:spAutoFit/>
          </a:bodyPr>
          <a:p>
            <a:r>
              <a:rPr lang="en-US" altLang="zh-CN" sz="3600" kern="0" spc="20" baseline="-9000" dirty="0">
                <a:solidFill>
                  <a:srgbClr val="FFFFFF">
                    <a:alpha val="100000"/>
                  </a:srgbClr>
                </a:solidFill>
                <a:latin typeface="Times New Roman" panose="02020603050405020304"/>
                <a:ea typeface="Times New Roman" panose="02020603050405020304"/>
                <a:cs typeface="Times New Roman" panose="02020603050405020304"/>
                <a:sym typeface="+mn-ea"/>
              </a:rPr>
              <a:t>2</a:t>
            </a:r>
            <a:endParaRPr lang="en-US" altLang="zh-CN" sz="3600" kern="0" spc="20" baseline="-9000" dirty="0">
              <a:solidFill>
                <a:srgbClr val="FFFFFF">
                  <a:alpha val="100000"/>
                </a:srgbClr>
              </a:solidFill>
              <a:latin typeface="Times New Roman" panose="02020603050405020304"/>
              <a:ea typeface="Times New Roman" panose="02020603050405020304"/>
              <a:cs typeface="Times New Roman" panose="02020603050405020304"/>
              <a:sym typeface="+mn-ea"/>
            </a:endParaRPr>
          </a:p>
        </p:txBody>
      </p:sp>
      <p:sp>
        <p:nvSpPr>
          <p:cNvPr id="3" name="textbox 8"/>
          <p:cNvSpPr/>
          <p:nvPr/>
        </p:nvSpPr>
        <p:spPr>
          <a:xfrm>
            <a:off x="618825" y="67294"/>
            <a:ext cx="11393805" cy="270509"/>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100000"/>
              </a:lnSpc>
            </a:pPr>
            <a:r>
              <a:rPr sz="1600" b="1" kern="0" spc="-20" dirty="0">
                <a:solidFill>
                  <a:srgbClr val="000000">
                    <a:alpha val="100000"/>
                  </a:srgbClr>
                </a:solidFill>
                <a:latin typeface="黑体" panose="02010609060101010101" charset="-122"/>
                <a:ea typeface="黑体" panose="02010609060101010101" charset="-122"/>
                <a:cs typeface="黑体" panose="02010609060101010101" charset="-122"/>
              </a:rPr>
              <a:t>米思齐</a:t>
            </a:r>
            <a:r>
              <a:rPr 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课程作业</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600" b="1" kern="0" spc="-20" dirty="0">
                <a:solidFill>
                  <a:srgbClr val="000000">
                    <a:alpha val="100000"/>
                  </a:srgbClr>
                </a:solidFill>
                <a:latin typeface="黑体" panose="02010609060101010101" charset="-122"/>
                <a:ea typeface="黑体" panose="02010609060101010101" charset="-122"/>
                <a:cs typeface="黑体" panose="02010609060101010101" charset="-122"/>
              </a:rPr>
              <a:t>余天润</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202522039114</a:t>
            </a:r>
            <a:r>
              <a:rPr sz="1600" kern="0" spc="-20" dirty="0">
                <a:solidFill>
                  <a:srgbClr val="000000">
                    <a:alpha val="100000"/>
                  </a:srgbClr>
                </a:solidFill>
                <a:latin typeface="黑体" panose="02010609060101010101" charset="-122"/>
                <a:ea typeface="黑体" panose="02010609060101010101" charset="-122"/>
                <a:cs typeface="黑体" panose="02010609060101010101" charset="-122"/>
              </a:rPr>
              <a:t>                                        </a:t>
            </a:r>
            <a:endParaRPr sz="1400" dirty="0">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 name="picture 96"/>
          <p:cNvPicPr>
            <a:picLocks noChangeAspect="1"/>
          </p:cNvPicPr>
          <p:nvPr/>
        </p:nvPicPr>
        <p:blipFill>
          <a:blip r:embed="rId1"/>
          <a:stretch>
            <a:fillRect/>
          </a:stretch>
        </p:blipFill>
        <p:spPr>
          <a:xfrm rot="21600000">
            <a:off x="0" y="0"/>
            <a:ext cx="12192000" cy="6858000"/>
          </a:xfrm>
          <a:prstGeom prst="rect">
            <a:avLst/>
          </a:prstGeom>
        </p:spPr>
      </p:pic>
      <p:pic>
        <p:nvPicPr>
          <p:cNvPr id="98" name="picture 98"/>
          <p:cNvPicPr>
            <a:picLocks noChangeAspect="1"/>
          </p:cNvPicPr>
          <p:nvPr/>
        </p:nvPicPr>
        <p:blipFill>
          <a:blip r:embed="rId2"/>
          <a:stretch>
            <a:fillRect/>
          </a:stretch>
        </p:blipFill>
        <p:spPr>
          <a:xfrm rot="21600000">
            <a:off x="1754124" y="2203704"/>
            <a:ext cx="9075419" cy="2860547"/>
          </a:xfrm>
          <a:prstGeom prst="rect">
            <a:avLst/>
          </a:prstGeom>
        </p:spPr>
      </p:pic>
      <p:sp>
        <p:nvSpPr>
          <p:cNvPr id="100" name="textbox 100"/>
          <p:cNvSpPr/>
          <p:nvPr/>
        </p:nvSpPr>
        <p:spPr>
          <a:xfrm>
            <a:off x="327152" y="795020"/>
            <a:ext cx="5840729" cy="1035050"/>
          </a:xfrm>
          <a:prstGeom prst="rect">
            <a:avLst/>
          </a:prstGeom>
          <a:noFill/>
          <a:ln w="0" cap="flat">
            <a:noFill/>
            <a:prstDash val="solid"/>
            <a:miter lim="0"/>
          </a:ln>
        </p:spPr>
        <p:txBody>
          <a:bodyPr vert="horz" wrap="square" lIns="0" tIns="0" rIns="0" bIns="0"/>
          <a:lstStyle/>
          <a:p>
            <a:pPr algn="l" rtl="0" eaLnBrk="0">
              <a:lnSpc>
                <a:spcPct val="100000"/>
              </a:lnSpc>
            </a:pPr>
            <a:endParaRPr sz="500" dirty="0">
              <a:latin typeface="Arial" panose="020B0604020202020204"/>
              <a:ea typeface="Arial" panose="020B0604020202020204"/>
              <a:cs typeface="Arial" panose="020B0604020202020204"/>
            </a:endParaRPr>
          </a:p>
          <a:p>
            <a:pPr marL="597535" algn="l" rtl="0" eaLnBrk="0">
              <a:lnSpc>
                <a:spcPct val="88000"/>
              </a:lnSpc>
              <a:tabLst>
                <a:tab pos="854710" algn="l"/>
              </a:tabLst>
            </a:pPr>
            <a:r>
              <a:rPr sz="2700" b="1" kern="0" spc="0" dirty="0">
                <a:solidFill>
                  <a:srgbClr val="ED7D31">
                    <a:alpha val="100000"/>
                  </a:srgbClr>
                </a:solidFill>
                <a:latin typeface="微软雅黑" panose="020B0503020204020204" charset="-122"/>
                <a:ea typeface="微软雅黑" panose="020B0503020204020204" charset="-122"/>
                <a:cs typeface="微软雅黑" panose="020B0503020204020204" charset="-122"/>
              </a:rPr>
              <a:t>	</a:t>
            </a:r>
            <a:r>
              <a:rPr sz="2700" b="1" kern="0" spc="90" dirty="0">
                <a:solidFill>
                  <a:srgbClr val="ED7D31">
                    <a:alpha val="100000"/>
                  </a:srgbClr>
                </a:solidFill>
                <a:latin typeface="微软雅黑" panose="020B0503020204020204" charset="-122"/>
                <a:ea typeface="微软雅黑" panose="020B0503020204020204" charset="-122"/>
                <a:cs typeface="微软雅黑" panose="020B0503020204020204" charset="-122"/>
              </a:rPr>
              <a:t>探索物联网在医疗设施中的应用</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46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946150" algn="l" rtl="0" eaLnBrk="0">
              <a:lnSpc>
                <a:spcPct val="93000"/>
              </a:lnSpc>
              <a:spcBef>
                <a:spcPts val="5"/>
              </a:spcBef>
              <a:tabLst>
                <a:tab pos="1127125" algn="l"/>
              </a:tabLst>
            </a:pP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57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20" dirty="0">
                <a:solidFill>
                  <a:srgbClr val="5B9BD5">
                    <a:alpha val="100000"/>
                  </a:srgbClr>
                </a:solidFill>
                <a:latin typeface="微软雅黑" panose="020B0503020204020204" charset="-122"/>
                <a:ea typeface="微软雅黑" panose="020B0503020204020204" charset="-122"/>
                <a:cs typeface="微软雅黑" panose="020B0503020204020204" charset="-122"/>
              </a:rPr>
              <a:t>实例演示</a:t>
            </a:r>
            <a:endParaRPr sz="2000" dirty="0">
              <a:latin typeface="微软雅黑" panose="020B0503020204020204" charset="-122"/>
              <a:ea typeface="微软雅黑" panose="020B0503020204020204" charset="-122"/>
              <a:cs typeface="微软雅黑" panose="020B0503020204020204" charset="-122"/>
            </a:endParaRPr>
          </a:p>
        </p:txBody>
      </p:sp>
      <p:pic>
        <p:nvPicPr>
          <p:cNvPr id="102" name="picture 102"/>
          <p:cNvPicPr>
            <a:picLocks noChangeAspect="1"/>
          </p:cNvPicPr>
          <p:nvPr/>
        </p:nvPicPr>
        <p:blipFill>
          <a:blip r:embed="rId3"/>
          <a:stretch>
            <a:fillRect/>
          </a:stretch>
        </p:blipFill>
        <p:spPr>
          <a:xfrm rot="21600000">
            <a:off x="1273609" y="1534618"/>
            <a:ext cx="180790" cy="282135"/>
          </a:xfrm>
          <a:prstGeom prst="rect">
            <a:avLst/>
          </a:prstGeom>
        </p:spPr>
      </p:pic>
      <p:sp>
        <p:nvSpPr>
          <p:cNvPr id="104" name="path 104"/>
          <p:cNvSpPr/>
          <p:nvPr/>
        </p:nvSpPr>
        <p:spPr>
          <a:xfrm>
            <a:off x="339852" y="807720"/>
            <a:ext cx="585216" cy="364235"/>
          </a:xfrm>
          <a:custGeom>
            <a:avLst/>
            <a:gdLst/>
            <a:ahLst/>
            <a:cxnLst/>
            <a:rect l="0" t="0" r="0" b="0"/>
            <a:pathLst>
              <a:path w="921" h="573">
                <a:moveTo>
                  <a:pt x="0" y="0"/>
                </a:moveTo>
                <a:lnTo>
                  <a:pt x="739" y="0"/>
                </a:lnTo>
                <a:lnTo>
                  <a:pt x="921" y="287"/>
                </a:lnTo>
                <a:lnTo>
                  <a:pt x="739" y="573"/>
                </a:lnTo>
                <a:lnTo>
                  <a:pt x="0" y="573"/>
                </a:lnTo>
                <a:lnTo>
                  <a:pt x="0" y="0"/>
                </a:lnTo>
              </a:path>
            </a:pathLst>
          </a:custGeom>
          <a:solidFill>
            <a:srgbClr val="ED7D31">
              <a:alpha val="100000"/>
            </a:srgbClr>
          </a:solidFill>
          <a:ln w="0" cap="flat">
            <a:noFill/>
            <a:prstDash val="solid"/>
            <a:miter lim="0"/>
          </a:ln>
        </p:spPr>
        <p:txBody>
          <a:bodyPr rtlCol="0"/>
          <a:lstStyle/>
          <a:p>
            <a:pPr algn="ctr"/>
            <a:endParaRPr lang="zh-CN" altLang="en-US"/>
          </a:p>
        </p:txBody>
      </p:sp>
      <p:sp>
        <p:nvSpPr>
          <p:cNvPr id="106" name="rect 106"/>
          <p:cNvSpPr/>
          <p:nvPr/>
        </p:nvSpPr>
        <p:spPr>
          <a:xfrm>
            <a:off x="0" y="6612635"/>
            <a:ext cx="12192000" cy="245364"/>
          </a:xfrm>
          <a:prstGeom prst="rect">
            <a:avLst/>
          </a:prstGeom>
          <a:solidFill>
            <a:srgbClr val="0371AE">
              <a:alpha val="100000"/>
            </a:srgbClr>
          </a:solidFill>
          <a:ln w="0" cap="flat">
            <a:noFill/>
            <a:prstDash val="solid"/>
            <a:miter lim="0"/>
          </a:ln>
        </p:spPr>
        <p:txBody>
          <a:bodyPr rtlCol="0"/>
          <a:lstStyle/>
          <a:p>
            <a:pPr algn="ctr"/>
            <a:endParaRPr lang="zh-CN" altLang="en-US"/>
          </a:p>
        </p:txBody>
      </p:sp>
      <p:pic>
        <p:nvPicPr>
          <p:cNvPr id="108" name="picture 108"/>
          <p:cNvPicPr>
            <a:picLocks noChangeAspect="1"/>
          </p:cNvPicPr>
          <p:nvPr/>
        </p:nvPicPr>
        <p:blipFill>
          <a:blip r:embed="rId4"/>
          <a:stretch>
            <a:fillRect/>
          </a:stretch>
        </p:blipFill>
        <p:spPr>
          <a:xfrm rot="21600000">
            <a:off x="4195571" y="0"/>
            <a:ext cx="7996427" cy="365759"/>
          </a:xfrm>
          <a:prstGeom prst="rect">
            <a:avLst/>
          </a:prstGeom>
        </p:spPr>
      </p:pic>
      <p:pic>
        <p:nvPicPr>
          <p:cNvPr id="112" name="picture 112"/>
          <p:cNvPicPr>
            <a:picLocks noChangeAspect="1"/>
          </p:cNvPicPr>
          <p:nvPr/>
        </p:nvPicPr>
        <p:blipFill>
          <a:blip r:embed="rId5"/>
          <a:stretch>
            <a:fillRect/>
          </a:stretch>
        </p:blipFill>
        <p:spPr>
          <a:xfrm rot="21600000">
            <a:off x="0" y="0"/>
            <a:ext cx="598931" cy="373379"/>
          </a:xfrm>
          <a:prstGeom prst="rect">
            <a:avLst/>
          </a:prstGeom>
        </p:spPr>
      </p:pic>
      <p:sp>
        <p:nvSpPr>
          <p:cNvPr id="114" name="textbox 114"/>
          <p:cNvSpPr/>
          <p:nvPr/>
        </p:nvSpPr>
        <p:spPr>
          <a:xfrm>
            <a:off x="2912745" y="5356860"/>
            <a:ext cx="7579995" cy="252730"/>
          </a:xfrm>
          <a:prstGeom prst="rect">
            <a:avLst/>
          </a:prstGeom>
          <a:noFill/>
          <a:ln w="0" cap="flat">
            <a:noFill/>
            <a:prstDash val="solid"/>
            <a:miter lim="0"/>
          </a:ln>
        </p:spPr>
        <p:txBody>
          <a:bodyPr vert="horz" wrap="square" lIns="0" tIns="0" rIns="0" bIns="0"/>
          <a:lstStyle/>
          <a:p>
            <a:pPr algn="l" rtl="0" eaLnBrk="0">
              <a:lnSpc>
                <a:spcPct val="79000"/>
              </a:lnSpc>
            </a:pPr>
            <a:endParaRPr sz="200" dirty="0">
              <a:latin typeface="微软雅黑" panose="020B0503020204020204" charset="-122"/>
              <a:ea typeface="微软雅黑" panose="020B0503020204020204" charset="-122"/>
              <a:cs typeface="微软雅黑" panose="020B0503020204020204" charset="-122"/>
            </a:endParaRPr>
          </a:p>
          <a:p>
            <a:pPr marL="12700" algn="l" rtl="0" eaLnBrk="0">
              <a:lnSpc>
                <a:spcPct val="88000"/>
              </a:lnSpc>
            </a:pPr>
            <a:r>
              <a:rPr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智慧病房</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智慧外科手术</a:t>
            </a:r>
            <a:endParaRPr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116" name="picture 116"/>
          <p:cNvPicPr>
            <a:picLocks noChangeAspect="1"/>
          </p:cNvPicPr>
          <p:nvPr/>
        </p:nvPicPr>
        <p:blipFill>
          <a:blip r:embed="rId6"/>
          <a:stretch>
            <a:fillRect/>
          </a:stretch>
        </p:blipFill>
        <p:spPr>
          <a:xfrm rot="21600000">
            <a:off x="0" y="6579983"/>
            <a:ext cx="12179300" cy="12700"/>
          </a:xfrm>
          <a:prstGeom prst="rect">
            <a:avLst/>
          </a:prstGeom>
        </p:spPr>
      </p:pic>
      <p:sp>
        <p:nvSpPr>
          <p:cNvPr id="3" name="textbox 8"/>
          <p:cNvSpPr/>
          <p:nvPr/>
        </p:nvSpPr>
        <p:spPr>
          <a:xfrm>
            <a:off x="618825" y="67294"/>
            <a:ext cx="11393805" cy="270509"/>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100000"/>
              </a:lnSpc>
            </a:pPr>
            <a:r>
              <a:rPr sz="1600" b="1" kern="0" spc="-20" dirty="0">
                <a:solidFill>
                  <a:srgbClr val="000000">
                    <a:alpha val="100000"/>
                  </a:srgbClr>
                </a:solidFill>
                <a:latin typeface="黑体" panose="02010609060101010101" charset="-122"/>
                <a:ea typeface="黑体" panose="02010609060101010101" charset="-122"/>
                <a:cs typeface="黑体" panose="02010609060101010101" charset="-122"/>
              </a:rPr>
              <a:t>米思齐</a:t>
            </a:r>
            <a:r>
              <a:rPr 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课程作业</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600" b="1" kern="0" spc="-20" dirty="0">
                <a:solidFill>
                  <a:srgbClr val="000000">
                    <a:alpha val="100000"/>
                  </a:srgbClr>
                </a:solidFill>
                <a:latin typeface="黑体" panose="02010609060101010101" charset="-122"/>
                <a:ea typeface="黑体" panose="02010609060101010101" charset="-122"/>
                <a:cs typeface="黑体" panose="02010609060101010101" charset="-122"/>
              </a:rPr>
              <a:t>余天润</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202522039114</a:t>
            </a:r>
            <a:r>
              <a:rPr sz="1600" kern="0" spc="-20" dirty="0">
                <a:solidFill>
                  <a:srgbClr val="000000">
                    <a:alpha val="100000"/>
                  </a:srgbClr>
                </a:solidFill>
                <a:latin typeface="黑体" panose="02010609060101010101" charset="-122"/>
                <a:ea typeface="黑体" panose="02010609060101010101" charset="-122"/>
                <a:cs typeface="黑体" panose="02010609060101010101" charset="-122"/>
              </a:rPr>
              <a:t>                                        </a:t>
            </a:r>
            <a:endParaRPr sz="1400" dirty="0">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 name="picture 118"/>
          <p:cNvPicPr>
            <a:picLocks noChangeAspect="1"/>
          </p:cNvPicPr>
          <p:nvPr/>
        </p:nvPicPr>
        <p:blipFill>
          <a:blip r:embed="rId1"/>
          <a:stretch>
            <a:fillRect/>
          </a:stretch>
        </p:blipFill>
        <p:spPr>
          <a:xfrm rot="21600000">
            <a:off x="0" y="0"/>
            <a:ext cx="12192000" cy="6858000"/>
          </a:xfrm>
          <a:prstGeom prst="rect">
            <a:avLst/>
          </a:prstGeom>
        </p:spPr>
      </p:pic>
      <p:pic>
        <p:nvPicPr>
          <p:cNvPr id="120" name="picture 120"/>
          <p:cNvPicPr>
            <a:picLocks noChangeAspect="1"/>
          </p:cNvPicPr>
          <p:nvPr/>
        </p:nvPicPr>
        <p:blipFill>
          <a:blip r:embed="rId2"/>
          <a:stretch>
            <a:fillRect/>
          </a:stretch>
        </p:blipFill>
        <p:spPr>
          <a:xfrm rot="21600000">
            <a:off x="2631948" y="2029967"/>
            <a:ext cx="6928104" cy="3493008"/>
          </a:xfrm>
          <a:prstGeom prst="rect">
            <a:avLst/>
          </a:prstGeom>
        </p:spPr>
      </p:pic>
      <p:sp>
        <p:nvSpPr>
          <p:cNvPr id="122" name="textbox 122"/>
          <p:cNvSpPr/>
          <p:nvPr/>
        </p:nvSpPr>
        <p:spPr>
          <a:xfrm>
            <a:off x="327152" y="795020"/>
            <a:ext cx="5840729" cy="1035050"/>
          </a:xfrm>
          <a:prstGeom prst="rect">
            <a:avLst/>
          </a:prstGeom>
          <a:noFill/>
          <a:ln w="0" cap="flat">
            <a:noFill/>
            <a:prstDash val="solid"/>
            <a:miter lim="0"/>
          </a:ln>
        </p:spPr>
        <p:txBody>
          <a:bodyPr vert="horz" wrap="square" lIns="0" tIns="0" rIns="0" bIns="0"/>
          <a:lstStyle/>
          <a:p>
            <a:pPr algn="l" rtl="0" eaLnBrk="0">
              <a:lnSpc>
                <a:spcPct val="100000"/>
              </a:lnSpc>
            </a:pPr>
            <a:endParaRPr sz="500" dirty="0">
              <a:latin typeface="Arial" panose="020B0604020202020204"/>
              <a:ea typeface="Arial" panose="020B0604020202020204"/>
              <a:cs typeface="Arial" panose="020B0604020202020204"/>
            </a:endParaRPr>
          </a:p>
          <a:p>
            <a:pPr marL="597535" algn="l" rtl="0" eaLnBrk="0">
              <a:lnSpc>
                <a:spcPct val="88000"/>
              </a:lnSpc>
              <a:tabLst>
                <a:tab pos="854710" algn="l"/>
              </a:tabLst>
            </a:pPr>
            <a:r>
              <a:rPr sz="2700" b="1" kern="0" spc="0" dirty="0">
                <a:solidFill>
                  <a:srgbClr val="ED7D31">
                    <a:alpha val="100000"/>
                  </a:srgbClr>
                </a:solidFill>
                <a:latin typeface="微软雅黑" panose="020B0503020204020204" charset="-122"/>
                <a:ea typeface="微软雅黑" panose="020B0503020204020204" charset="-122"/>
                <a:cs typeface="微软雅黑" panose="020B0503020204020204" charset="-122"/>
              </a:rPr>
              <a:t>	</a:t>
            </a:r>
            <a:r>
              <a:rPr sz="2700" b="1" kern="0" spc="90" dirty="0">
                <a:solidFill>
                  <a:srgbClr val="ED7D31">
                    <a:alpha val="100000"/>
                  </a:srgbClr>
                </a:solidFill>
                <a:latin typeface="微软雅黑" panose="020B0503020204020204" charset="-122"/>
                <a:ea typeface="微软雅黑" panose="020B0503020204020204" charset="-122"/>
                <a:cs typeface="微软雅黑" panose="020B0503020204020204" charset="-122"/>
              </a:rPr>
              <a:t>探索物联网在医疗设施中的应用</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46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946150" algn="l" rtl="0" eaLnBrk="0">
              <a:lnSpc>
                <a:spcPct val="93000"/>
              </a:lnSpc>
              <a:spcBef>
                <a:spcPts val="5"/>
              </a:spcBef>
              <a:tabLst>
                <a:tab pos="1127125" algn="l"/>
              </a:tabLst>
            </a:pP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57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20" dirty="0">
                <a:solidFill>
                  <a:srgbClr val="5B9BD5">
                    <a:alpha val="100000"/>
                  </a:srgbClr>
                </a:solidFill>
                <a:latin typeface="微软雅黑" panose="020B0503020204020204" charset="-122"/>
                <a:ea typeface="微软雅黑" panose="020B0503020204020204" charset="-122"/>
                <a:cs typeface="微软雅黑" panose="020B0503020204020204" charset="-122"/>
              </a:rPr>
              <a:t>实例演示</a:t>
            </a:r>
            <a:endParaRPr sz="2000" dirty="0">
              <a:latin typeface="微软雅黑" panose="020B0503020204020204" charset="-122"/>
              <a:ea typeface="微软雅黑" panose="020B0503020204020204" charset="-122"/>
              <a:cs typeface="微软雅黑" panose="020B0503020204020204" charset="-122"/>
            </a:endParaRPr>
          </a:p>
        </p:txBody>
      </p:sp>
      <p:pic>
        <p:nvPicPr>
          <p:cNvPr id="124" name="picture 124"/>
          <p:cNvPicPr>
            <a:picLocks noChangeAspect="1"/>
          </p:cNvPicPr>
          <p:nvPr/>
        </p:nvPicPr>
        <p:blipFill>
          <a:blip r:embed="rId3"/>
          <a:stretch>
            <a:fillRect/>
          </a:stretch>
        </p:blipFill>
        <p:spPr>
          <a:xfrm rot="21600000">
            <a:off x="1273609" y="1534618"/>
            <a:ext cx="180790" cy="282135"/>
          </a:xfrm>
          <a:prstGeom prst="rect">
            <a:avLst/>
          </a:prstGeom>
        </p:spPr>
      </p:pic>
      <p:sp>
        <p:nvSpPr>
          <p:cNvPr id="126" name="path 126"/>
          <p:cNvSpPr/>
          <p:nvPr/>
        </p:nvSpPr>
        <p:spPr>
          <a:xfrm>
            <a:off x="339852" y="807720"/>
            <a:ext cx="585216" cy="364235"/>
          </a:xfrm>
          <a:custGeom>
            <a:avLst/>
            <a:gdLst/>
            <a:ahLst/>
            <a:cxnLst/>
            <a:rect l="0" t="0" r="0" b="0"/>
            <a:pathLst>
              <a:path w="921" h="573">
                <a:moveTo>
                  <a:pt x="0" y="0"/>
                </a:moveTo>
                <a:lnTo>
                  <a:pt x="739" y="0"/>
                </a:lnTo>
                <a:lnTo>
                  <a:pt x="921" y="287"/>
                </a:lnTo>
                <a:lnTo>
                  <a:pt x="739" y="573"/>
                </a:lnTo>
                <a:lnTo>
                  <a:pt x="0" y="573"/>
                </a:lnTo>
                <a:lnTo>
                  <a:pt x="0" y="0"/>
                </a:lnTo>
              </a:path>
            </a:pathLst>
          </a:custGeom>
          <a:solidFill>
            <a:srgbClr val="ED7D31">
              <a:alpha val="100000"/>
            </a:srgbClr>
          </a:solidFill>
          <a:ln w="0" cap="flat">
            <a:noFill/>
            <a:prstDash val="solid"/>
            <a:miter lim="0"/>
          </a:ln>
        </p:spPr>
        <p:txBody>
          <a:bodyPr rtlCol="0"/>
          <a:lstStyle/>
          <a:p>
            <a:pPr algn="ctr"/>
            <a:endParaRPr lang="zh-CN" altLang="en-US"/>
          </a:p>
        </p:txBody>
      </p:sp>
      <p:sp>
        <p:nvSpPr>
          <p:cNvPr id="128" name="rect 128"/>
          <p:cNvSpPr/>
          <p:nvPr/>
        </p:nvSpPr>
        <p:spPr>
          <a:xfrm>
            <a:off x="0" y="6612635"/>
            <a:ext cx="12192000" cy="245364"/>
          </a:xfrm>
          <a:prstGeom prst="rect">
            <a:avLst/>
          </a:prstGeom>
          <a:solidFill>
            <a:srgbClr val="0371AE">
              <a:alpha val="100000"/>
            </a:srgbClr>
          </a:solidFill>
          <a:ln w="0" cap="flat">
            <a:noFill/>
            <a:prstDash val="solid"/>
            <a:miter lim="0"/>
          </a:ln>
        </p:spPr>
        <p:txBody>
          <a:bodyPr rtlCol="0"/>
          <a:lstStyle/>
          <a:p>
            <a:pPr algn="ctr"/>
            <a:endParaRPr lang="zh-CN" altLang="en-US"/>
          </a:p>
        </p:txBody>
      </p:sp>
      <p:pic>
        <p:nvPicPr>
          <p:cNvPr id="130" name="picture 130"/>
          <p:cNvPicPr>
            <a:picLocks noChangeAspect="1"/>
          </p:cNvPicPr>
          <p:nvPr/>
        </p:nvPicPr>
        <p:blipFill>
          <a:blip r:embed="rId4"/>
          <a:stretch>
            <a:fillRect/>
          </a:stretch>
        </p:blipFill>
        <p:spPr>
          <a:xfrm rot="21600000">
            <a:off x="4195571" y="0"/>
            <a:ext cx="7996427" cy="365759"/>
          </a:xfrm>
          <a:prstGeom prst="rect">
            <a:avLst/>
          </a:prstGeom>
        </p:spPr>
      </p:pic>
      <p:pic>
        <p:nvPicPr>
          <p:cNvPr id="134" name="picture 134"/>
          <p:cNvPicPr>
            <a:picLocks noChangeAspect="1"/>
          </p:cNvPicPr>
          <p:nvPr/>
        </p:nvPicPr>
        <p:blipFill>
          <a:blip r:embed="rId5"/>
          <a:stretch>
            <a:fillRect/>
          </a:stretch>
        </p:blipFill>
        <p:spPr>
          <a:xfrm rot="21600000">
            <a:off x="0" y="0"/>
            <a:ext cx="598931" cy="373379"/>
          </a:xfrm>
          <a:prstGeom prst="rect">
            <a:avLst/>
          </a:prstGeom>
        </p:spPr>
      </p:pic>
      <p:sp>
        <p:nvSpPr>
          <p:cNvPr id="136" name="textbox 136"/>
          <p:cNvSpPr/>
          <p:nvPr/>
        </p:nvSpPr>
        <p:spPr>
          <a:xfrm>
            <a:off x="5128895" y="5822950"/>
            <a:ext cx="2061845" cy="252730"/>
          </a:xfrm>
          <a:prstGeom prst="rect">
            <a:avLst/>
          </a:prstGeom>
          <a:noFill/>
          <a:ln w="0" cap="flat">
            <a:noFill/>
            <a:prstDash val="solid"/>
            <a:miter lim="0"/>
          </a:ln>
        </p:spPr>
        <p:txBody>
          <a:bodyPr vert="horz" wrap="square" lIns="0" tIns="0" rIns="0" bIns="0"/>
          <a:lstStyle/>
          <a:p>
            <a:pPr algn="l" rtl="0" eaLnBrk="0">
              <a:lnSpc>
                <a:spcPct val="76000"/>
              </a:lnSpc>
            </a:pPr>
            <a:r>
              <a:rPr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视频来源于央视网</a:t>
            </a:r>
            <a:endParaRPr dirty="0">
              <a:latin typeface="微软雅黑" panose="020B0503020204020204" charset="-122"/>
              <a:ea typeface="微软雅黑" panose="020B0503020204020204" charset="-122"/>
              <a:cs typeface="微软雅黑" panose="020B0503020204020204" charset="-122"/>
            </a:endParaRPr>
          </a:p>
        </p:txBody>
      </p:sp>
      <p:pic>
        <p:nvPicPr>
          <p:cNvPr id="138" name="picture 138"/>
          <p:cNvPicPr>
            <a:picLocks noChangeAspect="1"/>
          </p:cNvPicPr>
          <p:nvPr/>
        </p:nvPicPr>
        <p:blipFill>
          <a:blip r:embed="rId6"/>
          <a:stretch>
            <a:fillRect/>
          </a:stretch>
        </p:blipFill>
        <p:spPr>
          <a:xfrm rot="21600000">
            <a:off x="0" y="6579983"/>
            <a:ext cx="12179300" cy="12700"/>
          </a:xfrm>
          <a:prstGeom prst="rect">
            <a:avLst/>
          </a:prstGeom>
        </p:spPr>
      </p:pic>
      <p:sp>
        <p:nvSpPr>
          <p:cNvPr id="3" name="textbox 8"/>
          <p:cNvSpPr/>
          <p:nvPr/>
        </p:nvSpPr>
        <p:spPr>
          <a:xfrm>
            <a:off x="618825" y="67294"/>
            <a:ext cx="11393805" cy="270509"/>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100000"/>
              </a:lnSpc>
            </a:pPr>
            <a:r>
              <a:rPr sz="1600" b="1" kern="0" spc="-20" dirty="0">
                <a:solidFill>
                  <a:srgbClr val="000000">
                    <a:alpha val="100000"/>
                  </a:srgbClr>
                </a:solidFill>
                <a:latin typeface="黑体" panose="02010609060101010101" charset="-122"/>
                <a:ea typeface="黑体" panose="02010609060101010101" charset="-122"/>
                <a:cs typeface="黑体" panose="02010609060101010101" charset="-122"/>
              </a:rPr>
              <a:t>米思齐</a:t>
            </a:r>
            <a:r>
              <a:rPr 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课程作业</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600" b="1" kern="0" spc="-20" dirty="0">
                <a:solidFill>
                  <a:srgbClr val="000000">
                    <a:alpha val="100000"/>
                  </a:srgbClr>
                </a:solidFill>
                <a:latin typeface="黑体" panose="02010609060101010101" charset="-122"/>
                <a:ea typeface="黑体" panose="02010609060101010101" charset="-122"/>
                <a:cs typeface="黑体" panose="02010609060101010101" charset="-122"/>
              </a:rPr>
              <a:t>余天润</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202522039114</a:t>
            </a:r>
            <a:r>
              <a:rPr sz="1600" kern="0" spc="-20" dirty="0">
                <a:solidFill>
                  <a:srgbClr val="000000">
                    <a:alpha val="100000"/>
                  </a:srgbClr>
                </a:solidFill>
                <a:latin typeface="黑体" panose="02010609060101010101" charset="-122"/>
                <a:ea typeface="黑体" panose="02010609060101010101" charset="-122"/>
                <a:cs typeface="黑体" panose="02010609060101010101" charset="-122"/>
              </a:rPr>
              <a:t>                                        </a:t>
            </a:r>
            <a:endParaRPr sz="1400" dirty="0">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0" name="picture 140"/>
          <p:cNvPicPr>
            <a:picLocks noChangeAspect="1"/>
          </p:cNvPicPr>
          <p:nvPr/>
        </p:nvPicPr>
        <p:blipFill>
          <a:blip r:embed="rId1"/>
          <a:stretch>
            <a:fillRect/>
          </a:stretch>
        </p:blipFill>
        <p:spPr>
          <a:xfrm rot="21600000">
            <a:off x="0" y="0"/>
            <a:ext cx="12192000" cy="6858000"/>
          </a:xfrm>
          <a:prstGeom prst="rect">
            <a:avLst/>
          </a:prstGeom>
        </p:spPr>
      </p:pic>
      <p:sp>
        <p:nvSpPr>
          <p:cNvPr id="142" name="path 142"/>
          <p:cNvSpPr/>
          <p:nvPr/>
        </p:nvSpPr>
        <p:spPr>
          <a:xfrm>
            <a:off x="339852" y="807720"/>
            <a:ext cx="585216" cy="364235"/>
          </a:xfrm>
          <a:custGeom>
            <a:avLst/>
            <a:gdLst/>
            <a:ahLst/>
            <a:cxnLst/>
            <a:rect l="0" t="0" r="0" b="0"/>
            <a:pathLst>
              <a:path w="921" h="573">
                <a:moveTo>
                  <a:pt x="0" y="0"/>
                </a:moveTo>
                <a:lnTo>
                  <a:pt x="739" y="0"/>
                </a:lnTo>
                <a:lnTo>
                  <a:pt x="921" y="287"/>
                </a:lnTo>
                <a:lnTo>
                  <a:pt x="739" y="573"/>
                </a:lnTo>
                <a:lnTo>
                  <a:pt x="0" y="573"/>
                </a:lnTo>
                <a:lnTo>
                  <a:pt x="0" y="0"/>
                </a:lnTo>
              </a:path>
            </a:pathLst>
          </a:custGeom>
          <a:solidFill>
            <a:srgbClr val="ED7D31">
              <a:alpha val="100000"/>
            </a:srgbClr>
          </a:solidFill>
          <a:ln w="0" cap="flat">
            <a:noFill/>
            <a:prstDash val="solid"/>
            <a:miter lim="0"/>
          </a:ln>
        </p:spPr>
        <p:txBody>
          <a:bodyPr rtlCol="0"/>
          <a:lstStyle/>
          <a:p>
            <a:pPr algn="ctr"/>
            <a:endParaRPr lang="zh-CN" altLang="en-US"/>
          </a:p>
        </p:txBody>
      </p:sp>
      <p:sp>
        <p:nvSpPr>
          <p:cNvPr id="144" name="textbox 144"/>
          <p:cNvSpPr/>
          <p:nvPr/>
        </p:nvSpPr>
        <p:spPr>
          <a:xfrm>
            <a:off x="497840" y="860425"/>
            <a:ext cx="10170795" cy="3116580"/>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a:ea typeface="Arial" panose="020B0604020202020204"/>
              <a:cs typeface="Arial" panose="020B0604020202020204"/>
            </a:endParaRPr>
          </a:p>
          <a:p>
            <a:pPr marL="12700" algn="l" rtl="0" eaLnBrk="0">
              <a:lnSpc>
                <a:spcPct val="87000"/>
              </a:lnSpc>
            </a:pPr>
            <a:r>
              <a:rPr sz="3600" b="1" kern="0" spc="50" baseline="12000" dirty="0">
                <a:solidFill>
                  <a:srgbClr val="FFFFFF">
                    <a:alpha val="100000"/>
                  </a:srgbClr>
                </a:solidFill>
                <a:latin typeface="Times New Roman" panose="02020603050405020304"/>
                <a:ea typeface="Times New Roman" panose="02020603050405020304"/>
                <a:cs typeface="Times New Roman" panose="02020603050405020304"/>
              </a:rPr>
              <a:t>2</a:t>
            </a:r>
            <a:r>
              <a:rPr sz="2300" b="1" kern="0" spc="50" dirty="0">
                <a:solidFill>
                  <a:srgbClr val="FFFFFF">
                    <a:alpha val="100000"/>
                  </a:srgbClr>
                </a:solidFill>
                <a:latin typeface="Times New Roman" panose="02020603050405020304"/>
                <a:ea typeface="Times New Roman" panose="02020603050405020304"/>
                <a:cs typeface="Times New Roman" panose="02020603050405020304"/>
              </a:rPr>
              <a:t>       </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rPr>
              <a:t>记忆守护</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sym typeface="+mn-ea"/>
              </a:rPr>
              <a:t>：</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rPr>
              <a:t>阿尔兹海默症预防</a:t>
            </a:r>
            <a:r>
              <a:rPr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rPr>
              <a:t>系统实践</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47000"/>
              </a:lnSpc>
            </a:pPr>
            <a:endParaRPr sz="1000" dirty="0">
              <a:latin typeface="Arial" panose="020B0604020202020204"/>
              <a:ea typeface="Arial" panose="020B0604020202020204"/>
              <a:cs typeface="Arial" panose="020B0604020202020204"/>
            </a:endParaRPr>
          </a:p>
          <a:p>
            <a:pPr marL="775335" algn="l" rtl="0" eaLnBrk="0">
              <a:lnSpc>
                <a:spcPct val="93000"/>
              </a:lnSpc>
              <a:spcBef>
                <a:spcPts val="610"/>
              </a:spcBef>
              <a:tabLst>
                <a:tab pos="956310" algn="l"/>
              </a:tabLst>
            </a:pP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3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40" dirty="0">
                <a:solidFill>
                  <a:srgbClr val="5B9BD5">
                    <a:alpha val="100000"/>
                  </a:srgbClr>
                </a:solidFill>
                <a:latin typeface="微软雅黑" panose="020B0503020204020204" charset="-122"/>
                <a:ea typeface="微软雅黑" panose="020B0503020204020204" charset="-122"/>
                <a:cs typeface="微软雅黑" panose="020B0503020204020204" charset="-122"/>
              </a:rPr>
              <a:t>问题思考</a:t>
            </a:r>
            <a:endParaRPr sz="2000" dirty="0">
              <a:latin typeface="微软雅黑" panose="020B0503020204020204" charset="-122"/>
              <a:ea typeface="微软雅黑" panose="020B0503020204020204" charset="-122"/>
              <a:cs typeface="微软雅黑" panose="020B0503020204020204" charset="-122"/>
            </a:endParaRPr>
          </a:p>
          <a:p>
            <a:pPr algn="l" rtl="0" eaLnBrk="0">
              <a:lnSpc>
                <a:spcPct val="138000"/>
              </a:lnSpc>
            </a:pPr>
            <a:endParaRPr sz="1000" dirty="0">
              <a:latin typeface="Arial" panose="020B0604020202020204"/>
              <a:ea typeface="Arial" panose="020B0604020202020204"/>
              <a:cs typeface="Arial" panose="020B0604020202020204"/>
            </a:endParaRPr>
          </a:p>
          <a:p>
            <a:pPr lvl="2" indent="457200" algn="l" rtl="0" eaLnBrk="0" fontAlgn="auto">
              <a:lnSpc>
                <a:spcPct val="150000"/>
              </a:lnSpc>
              <a:spcBef>
                <a:spcPts val="600"/>
              </a:spcBef>
              <a:buClrTx/>
              <a:buSzTx/>
              <a:buNone/>
            </a:pPr>
            <a:r>
              <a:rPr lang="zh-CN" altLang="en-US" sz="18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在我们的身边，有这样一群特殊的老年人：他们会突然忘记回家的路，忘记刚刚吃过的饭，甚至慢慢忘记至亲的名字。这便是阿尔兹海默症（俗称老年痴呆）。</a:t>
            </a:r>
            <a:endParaRPr lang="zh-CN" altLang="en-US" sz="18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lvl="2" indent="457200" algn="l" rtl="0" eaLnBrk="0" fontAlgn="auto">
              <a:lnSpc>
                <a:spcPct val="150000"/>
              </a:lnSpc>
              <a:spcBef>
                <a:spcPts val="600"/>
              </a:spcBef>
              <a:buClrTx/>
              <a:buSzTx/>
              <a:buNone/>
            </a:pPr>
            <a:r>
              <a:rPr lang="zh-CN" altLang="en-US" sz="18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医学研究发现，</a:t>
            </a:r>
            <a:r>
              <a:rPr lang="zh-CN" altLang="en-US" sz="1800" kern="0" spc="-2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大脑也需要“健身”</a:t>
            </a:r>
            <a:r>
              <a:rPr lang="zh-CN" altLang="en-US" sz="18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，持续的认知干预和记忆力训练可以有效激活脑部神经元，延缓病程的发展 。</a:t>
            </a:r>
            <a:r>
              <a:rPr lang="zh-CN" altLang="en-US" sz="1800" kern="0" spc="-20" dirty="0">
                <a:ln w="15875">
                  <a:gradFill>
                    <a:gsLst>
                      <a:gs pos="0">
                        <a:schemeClr val="accent1">
                          <a:hueMod val="80000"/>
                        </a:schemeClr>
                      </a:gs>
                      <a:gs pos="100000">
                        <a:schemeClr val="accent1"/>
                      </a:gs>
                    </a:gsLst>
                    <a:lin ang="2700000" scaled="1"/>
                  </a:gradFill>
                </a:ln>
                <a:noFill/>
                <a:effectLst/>
                <a:latin typeface="微软雅黑" panose="020B0503020204020204" charset="-122"/>
                <a:ea typeface="微软雅黑" panose="020B0503020204020204" charset="-122"/>
                <a:cs typeface="微软雅黑" panose="020B0503020204020204" charset="-122"/>
              </a:rPr>
              <a:t>传统的纸笔训练枯燥乏味，且家中老人是否坚持锻炼、锻炼效果如何，远在外地工作的子女往往无法得知。</a:t>
            </a:r>
            <a:endParaRPr lang="zh-CN" altLang="en-US" sz="1800" kern="0" spc="-20" dirty="0">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微软雅黑" panose="020B0503020204020204" charset="-122"/>
              <a:ea typeface="微软雅黑" panose="020B0503020204020204" charset="-122"/>
              <a:cs typeface="微软雅黑" panose="020B0503020204020204" charset="-122"/>
            </a:endParaRPr>
          </a:p>
          <a:p>
            <a:pPr lvl="2" indent="457200" algn="l" rtl="0" eaLnBrk="0" fontAlgn="auto">
              <a:lnSpc>
                <a:spcPct val="150000"/>
              </a:lnSpc>
              <a:spcBef>
                <a:spcPts val="600"/>
              </a:spcBef>
              <a:buClrTx/>
              <a:buSzTx/>
              <a:buNone/>
            </a:pPr>
            <a:endParaRPr lang="zh-CN" altLang="en-US" sz="18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lvl="2" indent="457200" algn="l" rtl="0" eaLnBrk="0" fontAlgn="auto">
              <a:lnSpc>
                <a:spcPct val="150000"/>
              </a:lnSpc>
              <a:spcBef>
                <a:spcPts val="600"/>
              </a:spcBef>
              <a:buClrTx/>
              <a:buSzTx/>
              <a:buNone/>
            </a:pPr>
            <a:r>
              <a:rPr lang="zh-CN" altLang="en-US" sz="2000" kern="0" spc="-2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能否利用物联网技术，设计一款既能让老人进行记忆力挑战，又能让数据同步到云端的系统？</a:t>
            </a:r>
            <a:endParaRPr lang="zh-CN" altLang="en-US" sz="2000" kern="0" spc="-2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endParaRPr>
          </a:p>
          <a:p>
            <a:pPr lvl="2" indent="457200" algn="l" rtl="0" eaLnBrk="0" fontAlgn="auto">
              <a:lnSpc>
                <a:spcPct val="150000"/>
              </a:lnSpc>
              <a:spcBef>
                <a:spcPts val="600"/>
              </a:spcBef>
              <a:buClrTx/>
              <a:buSzTx/>
              <a:buNone/>
            </a:pPr>
            <a:endParaRPr lang="zh-CN" altLang="en-US" sz="2000" kern="0" spc="-2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endParaRPr>
          </a:p>
        </p:txBody>
      </p:sp>
      <p:pic>
        <p:nvPicPr>
          <p:cNvPr id="146" name="picture 146"/>
          <p:cNvPicPr>
            <a:picLocks noChangeAspect="1"/>
          </p:cNvPicPr>
          <p:nvPr/>
        </p:nvPicPr>
        <p:blipFill>
          <a:blip r:embed="rId2"/>
          <a:stretch>
            <a:fillRect/>
          </a:stretch>
        </p:blipFill>
        <p:spPr>
          <a:xfrm rot="21600000">
            <a:off x="1273609" y="1534618"/>
            <a:ext cx="180790" cy="282135"/>
          </a:xfrm>
          <a:prstGeom prst="rect">
            <a:avLst/>
          </a:prstGeom>
        </p:spPr>
      </p:pic>
      <p:sp>
        <p:nvSpPr>
          <p:cNvPr id="148" name="rect 148"/>
          <p:cNvSpPr/>
          <p:nvPr/>
        </p:nvSpPr>
        <p:spPr>
          <a:xfrm>
            <a:off x="0" y="6612635"/>
            <a:ext cx="12192000" cy="245364"/>
          </a:xfrm>
          <a:prstGeom prst="rect">
            <a:avLst/>
          </a:prstGeom>
          <a:solidFill>
            <a:srgbClr val="0371AE">
              <a:alpha val="100000"/>
            </a:srgbClr>
          </a:solidFill>
          <a:ln w="0" cap="flat">
            <a:noFill/>
            <a:prstDash val="solid"/>
            <a:miter lim="0"/>
          </a:ln>
        </p:spPr>
        <p:txBody>
          <a:bodyPr rtlCol="0"/>
          <a:lstStyle/>
          <a:p>
            <a:pPr algn="ctr"/>
            <a:endParaRPr lang="zh-CN" altLang="en-US"/>
          </a:p>
        </p:txBody>
      </p:sp>
      <p:pic>
        <p:nvPicPr>
          <p:cNvPr id="150" name="picture 150"/>
          <p:cNvPicPr>
            <a:picLocks noChangeAspect="1"/>
          </p:cNvPicPr>
          <p:nvPr/>
        </p:nvPicPr>
        <p:blipFill>
          <a:blip r:embed="rId3"/>
          <a:stretch>
            <a:fillRect/>
          </a:stretch>
        </p:blipFill>
        <p:spPr>
          <a:xfrm rot="21600000">
            <a:off x="4195571" y="0"/>
            <a:ext cx="7996427" cy="365759"/>
          </a:xfrm>
          <a:prstGeom prst="rect">
            <a:avLst/>
          </a:prstGeom>
        </p:spPr>
      </p:pic>
      <p:pic>
        <p:nvPicPr>
          <p:cNvPr id="154" name="picture 154"/>
          <p:cNvPicPr>
            <a:picLocks noChangeAspect="1"/>
          </p:cNvPicPr>
          <p:nvPr/>
        </p:nvPicPr>
        <p:blipFill>
          <a:blip r:embed="rId4"/>
          <a:stretch>
            <a:fillRect/>
          </a:stretch>
        </p:blipFill>
        <p:spPr>
          <a:xfrm rot="21600000">
            <a:off x="0" y="0"/>
            <a:ext cx="598931" cy="373379"/>
          </a:xfrm>
          <a:prstGeom prst="rect">
            <a:avLst/>
          </a:prstGeom>
        </p:spPr>
      </p:pic>
      <p:pic>
        <p:nvPicPr>
          <p:cNvPr id="156" name="picture 156"/>
          <p:cNvPicPr>
            <a:picLocks noChangeAspect="1"/>
          </p:cNvPicPr>
          <p:nvPr/>
        </p:nvPicPr>
        <p:blipFill>
          <a:blip r:embed="rId5"/>
          <a:stretch>
            <a:fillRect/>
          </a:stretch>
        </p:blipFill>
        <p:spPr>
          <a:xfrm rot="21600000">
            <a:off x="0" y="6579983"/>
            <a:ext cx="12179300" cy="12700"/>
          </a:xfrm>
          <a:prstGeom prst="rect">
            <a:avLst/>
          </a:prstGeom>
        </p:spPr>
      </p:pic>
      <p:sp>
        <p:nvSpPr>
          <p:cNvPr id="3" name="textbox 8"/>
          <p:cNvSpPr/>
          <p:nvPr/>
        </p:nvSpPr>
        <p:spPr>
          <a:xfrm>
            <a:off x="618825" y="67294"/>
            <a:ext cx="11393805" cy="270509"/>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100000"/>
              </a:lnSpc>
            </a:pPr>
            <a:r>
              <a:rPr sz="1600" b="1" kern="0" spc="-20" dirty="0">
                <a:solidFill>
                  <a:srgbClr val="000000">
                    <a:alpha val="100000"/>
                  </a:srgbClr>
                </a:solidFill>
                <a:latin typeface="黑体" panose="02010609060101010101" charset="-122"/>
                <a:ea typeface="黑体" panose="02010609060101010101" charset="-122"/>
                <a:cs typeface="黑体" panose="02010609060101010101" charset="-122"/>
              </a:rPr>
              <a:t>米思齐</a:t>
            </a:r>
            <a:r>
              <a:rPr 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课程作业</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600" b="1" kern="0" spc="-20" dirty="0">
                <a:solidFill>
                  <a:srgbClr val="000000">
                    <a:alpha val="100000"/>
                  </a:srgbClr>
                </a:solidFill>
                <a:latin typeface="黑体" panose="02010609060101010101" charset="-122"/>
                <a:ea typeface="黑体" panose="02010609060101010101" charset="-122"/>
                <a:cs typeface="黑体" panose="02010609060101010101" charset="-122"/>
              </a:rPr>
              <a:t>余天润</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202522039114</a:t>
            </a:r>
            <a:r>
              <a:rPr sz="1600" kern="0" spc="-20" dirty="0">
                <a:solidFill>
                  <a:srgbClr val="000000">
                    <a:alpha val="100000"/>
                  </a:srgbClr>
                </a:solidFill>
                <a:latin typeface="黑体" panose="02010609060101010101" charset="-122"/>
                <a:ea typeface="黑体" panose="02010609060101010101" charset="-122"/>
                <a:cs typeface="黑体" panose="02010609060101010101" charset="-122"/>
              </a:rPr>
              <a:t>                                        </a:t>
            </a:r>
            <a:endParaRPr sz="1400" dirty="0">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8" name="picture 158"/>
          <p:cNvPicPr>
            <a:picLocks noChangeAspect="1"/>
          </p:cNvPicPr>
          <p:nvPr/>
        </p:nvPicPr>
        <p:blipFill>
          <a:blip r:embed="rId1"/>
          <a:stretch>
            <a:fillRect/>
          </a:stretch>
        </p:blipFill>
        <p:spPr>
          <a:xfrm rot="21600000">
            <a:off x="0" y="0"/>
            <a:ext cx="12192000" cy="6858000"/>
          </a:xfrm>
          <a:prstGeom prst="rect">
            <a:avLst/>
          </a:prstGeom>
        </p:spPr>
      </p:pic>
      <p:sp>
        <p:nvSpPr>
          <p:cNvPr id="160" name="textbox 160"/>
          <p:cNvSpPr/>
          <p:nvPr/>
        </p:nvSpPr>
        <p:spPr>
          <a:xfrm>
            <a:off x="497840" y="860425"/>
            <a:ext cx="10479405" cy="1748790"/>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a:ea typeface="Arial" panose="020B0604020202020204"/>
              <a:cs typeface="Arial" panose="020B0604020202020204"/>
            </a:endParaRPr>
          </a:p>
          <a:p>
            <a:pPr marL="12700" algn="l" rtl="0" eaLnBrk="0">
              <a:lnSpc>
                <a:spcPct val="87000"/>
              </a:lnSpc>
            </a:pPr>
            <a:r>
              <a:rPr sz="3600" b="1" kern="0" spc="50" baseline="12000" dirty="0">
                <a:solidFill>
                  <a:srgbClr val="FFFFFF">
                    <a:alpha val="100000"/>
                  </a:srgbClr>
                </a:solidFill>
                <a:latin typeface="Times New Roman" panose="02020603050405020304"/>
                <a:ea typeface="Times New Roman" panose="02020603050405020304"/>
                <a:cs typeface="Times New Roman" panose="02020603050405020304"/>
              </a:rPr>
              <a:t>2</a:t>
            </a:r>
            <a:r>
              <a:rPr sz="2300" b="1" kern="0" spc="50" dirty="0">
                <a:solidFill>
                  <a:srgbClr val="FFFFFF">
                    <a:alpha val="100000"/>
                  </a:srgbClr>
                </a:solidFill>
                <a:latin typeface="Times New Roman" panose="02020603050405020304"/>
                <a:ea typeface="Times New Roman" panose="02020603050405020304"/>
                <a:cs typeface="Times New Roman" panose="02020603050405020304"/>
              </a:rPr>
              <a:t>       </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sym typeface="+mn-ea"/>
              </a:rPr>
              <a:t>记忆守护：阿尔兹海默症预防</a:t>
            </a:r>
            <a:r>
              <a:rPr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rPr>
              <a:t>系统实践</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22000"/>
              </a:lnSpc>
            </a:pPr>
            <a:endParaRPr sz="1000" dirty="0">
              <a:latin typeface="Arial" panose="020B0604020202020204"/>
              <a:ea typeface="Arial" panose="020B0604020202020204"/>
              <a:cs typeface="Arial" panose="020B0604020202020204"/>
            </a:endParaRPr>
          </a:p>
          <a:p>
            <a:pPr marL="716280" algn="l" rtl="0" eaLnBrk="0">
              <a:lnSpc>
                <a:spcPts val="2645"/>
              </a:lnSpc>
              <a:spcBef>
                <a:spcPts val="600"/>
              </a:spcBef>
              <a:tabLst>
                <a:tab pos="897255" algn="l"/>
              </a:tabLst>
            </a:pP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54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具体任务1:</a:t>
            </a:r>
            <a:r>
              <a:rPr lang="en-US"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记忆守护：</a:t>
            </a:r>
            <a:r>
              <a:rPr lang="zh-CN" altLang="en-US"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阿尔兹海默症预防</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系统</a:t>
            </a:r>
            <a:r>
              <a:rPr sz="2000" b="1" kern="0" spc="-10" dirty="0">
                <a:solidFill>
                  <a:srgbClr val="5B9BD5">
                    <a:alpha val="100000"/>
                  </a:srgbClr>
                </a:solidFill>
                <a:latin typeface="微软雅黑" panose="020B0503020204020204" charset="-122"/>
                <a:ea typeface="微软雅黑" panose="020B0503020204020204" charset="-122"/>
                <a:cs typeface="微软雅黑" panose="020B0503020204020204" charset="-122"/>
              </a:rPr>
              <a:t>的功能实现</a:t>
            </a:r>
            <a:endParaRPr sz="2000" dirty="0">
              <a:latin typeface="微软雅黑" panose="020B0503020204020204" charset="-122"/>
              <a:ea typeface="微软雅黑" panose="020B0503020204020204" charset="-122"/>
              <a:cs typeface="微软雅黑" panose="020B0503020204020204" charset="-122"/>
            </a:endParaRPr>
          </a:p>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119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457200" lvl="1" indent="457200" algn="l" rtl="0" eaLnBrk="0">
              <a:lnSpc>
                <a:spcPts val="2590"/>
              </a:lnSpc>
              <a:spcBef>
                <a:spcPts val="0"/>
              </a:spcBef>
            </a:pPr>
            <a:r>
              <a:rPr lang="en-US"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你想设计一款怎样的</a:t>
            </a:r>
            <a:r>
              <a:rPr lang="zh-CN"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帮助长辈训练记忆的</a:t>
            </a: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系统？</a:t>
            </a:r>
            <a:endPar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457200" lvl="1" indent="457200" algn="l" rtl="0" eaLnBrk="0">
              <a:lnSpc>
                <a:spcPts val="2590"/>
              </a:lnSpc>
              <a:spcBef>
                <a:spcPts val="0"/>
              </a:spcBef>
            </a:pPr>
            <a:endPar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457200" lvl="1" indent="457200" algn="l" rtl="0" eaLnBrk="0">
              <a:lnSpc>
                <a:spcPts val="2590"/>
              </a:lnSpc>
              <a:spcBef>
                <a:spcPts val="0"/>
              </a:spcBef>
            </a:pPr>
            <a:r>
              <a:rPr lang="en-US" altLang="zh-CN" kern="0" spc="-20" dirty="0">
                <a:solidFill>
                  <a:srgbClr val="2080C0">
                    <a:alpha val="100000"/>
                  </a:srgbClr>
                </a:solidFill>
                <a:latin typeface="微软雅黑" panose="020B0503020204020204" charset="-122"/>
                <a:ea typeface="微软雅黑" panose="020B0503020204020204" charset="-122"/>
                <a:cs typeface="黑体" panose="02010609060101010101" charset="-122"/>
                <a:sym typeface="+mn-ea"/>
              </a:rPr>
              <a:t> </a:t>
            </a:r>
            <a:r>
              <a:rPr lang="zh-CN" altLang="en-US" kern="0" spc="-20" dirty="0">
                <a:solidFill>
                  <a:srgbClr val="2080C0">
                    <a:alpha val="100000"/>
                  </a:srgbClr>
                </a:solidFill>
                <a:latin typeface="微软雅黑" panose="020B0503020204020204" charset="-122"/>
                <a:ea typeface="微软雅黑" panose="020B0503020204020204" charset="-122"/>
                <a:cs typeface="黑体" panose="02010609060101010101" charset="-122"/>
                <a:sym typeface="+mn-ea"/>
              </a:rPr>
              <a:t>•  </a:t>
            </a:r>
            <a:r>
              <a:rPr lang="en-US" altLang="zh-CN" kern="0" spc="-20" dirty="0">
                <a:solidFill>
                  <a:srgbClr val="2080C0">
                    <a:alpha val="100000"/>
                  </a:srgbClr>
                </a:solidFill>
                <a:latin typeface="微软雅黑" panose="020B0503020204020204" charset="-122"/>
                <a:ea typeface="微软雅黑" panose="020B0503020204020204" charset="-122"/>
                <a:cs typeface="黑体" panose="02010609060101010101" charset="-122"/>
                <a:sym typeface="+mn-ea"/>
              </a:rPr>
              <a:t> </a:t>
            </a:r>
            <a:r>
              <a:rPr lang="zh-CN" altLang="en-US" kern="0" spc="-20" dirty="0">
                <a:solidFill>
                  <a:srgbClr val="2080C0">
                    <a:alpha val="100000"/>
                  </a:srgbClr>
                </a:solidFill>
                <a:latin typeface="微软雅黑" panose="020B0503020204020204" charset="-122"/>
                <a:ea typeface="微软雅黑" panose="020B0503020204020204" charset="-122"/>
                <a:cs typeface="黑体" panose="02010609060101010101" charset="-122"/>
              </a:rPr>
              <a:t>本小组探究的核心问题是 ：</a:t>
            </a:r>
            <a:endParaRPr lang="zh-CN" altLang="en-US" kern="0" spc="-20" dirty="0">
              <a:solidFill>
                <a:srgbClr val="2080C0">
                  <a:alpha val="100000"/>
                </a:srgbClr>
              </a:solidFill>
              <a:latin typeface="微软雅黑" panose="020B0503020204020204" charset="-122"/>
              <a:ea typeface="微软雅黑" panose="020B0503020204020204" charset="-122"/>
              <a:cs typeface="黑体" panose="02010609060101010101" charset="-122"/>
            </a:endParaRPr>
          </a:p>
        </p:txBody>
      </p:sp>
      <p:pic>
        <p:nvPicPr>
          <p:cNvPr id="162" name="picture 162"/>
          <p:cNvPicPr>
            <a:picLocks noChangeAspect="1"/>
          </p:cNvPicPr>
          <p:nvPr/>
        </p:nvPicPr>
        <p:blipFill>
          <a:blip r:embed="rId2"/>
          <a:stretch>
            <a:fillRect/>
          </a:stretch>
        </p:blipFill>
        <p:spPr>
          <a:xfrm rot="21600000">
            <a:off x="1214554" y="1534618"/>
            <a:ext cx="180790" cy="282135"/>
          </a:xfrm>
          <a:prstGeom prst="rect">
            <a:avLst/>
          </a:prstGeom>
        </p:spPr>
      </p:pic>
      <p:sp>
        <p:nvSpPr>
          <p:cNvPr id="164" name="rect 164"/>
          <p:cNvSpPr/>
          <p:nvPr/>
        </p:nvSpPr>
        <p:spPr>
          <a:xfrm>
            <a:off x="0" y="6612635"/>
            <a:ext cx="12192000" cy="245364"/>
          </a:xfrm>
          <a:prstGeom prst="rect">
            <a:avLst/>
          </a:prstGeom>
          <a:solidFill>
            <a:srgbClr val="0371AE">
              <a:alpha val="100000"/>
            </a:srgbClr>
          </a:solidFill>
          <a:ln w="0" cap="flat">
            <a:noFill/>
            <a:prstDash val="solid"/>
            <a:miter lim="0"/>
          </a:ln>
        </p:spPr>
        <p:txBody>
          <a:bodyPr rtlCol="0"/>
          <a:lstStyle/>
          <a:p>
            <a:pPr algn="ctr"/>
            <a:endParaRPr lang="zh-CN" altLang="en-US"/>
          </a:p>
        </p:txBody>
      </p:sp>
      <p:pic>
        <p:nvPicPr>
          <p:cNvPr id="166" name="picture 166"/>
          <p:cNvPicPr>
            <a:picLocks noChangeAspect="1"/>
          </p:cNvPicPr>
          <p:nvPr/>
        </p:nvPicPr>
        <p:blipFill>
          <a:blip r:embed="rId3"/>
          <a:stretch>
            <a:fillRect/>
          </a:stretch>
        </p:blipFill>
        <p:spPr>
          <a:xfrm rot="21600000">
            <a:off x="4195571" y="0"/>
            <a:ext cx="7996427" cy="365759"/>
          </a:xfrm>
          <a:prstGeom prst="rect">
            <a:avLst/>
          </a:prstGeom>
        </p:spPr>
      </p:pic>
      <p:pic>
        <p:nvPicPr>
          <p:cNvPr id="170" name="picture 170"/>
          <p:cNvPicPr>
            <a:picLocks noChangeAspect="1"/>
          </p:cNvPicPr>
          <p:nvPr/>
        </p:nvPicPr>
        <p:blipFill>
          <a:blip r:embed="rId4"/>
          <a:stretch>
            <a:fillRect/>
          </a:stretch>
        </p:blipFill>
        <p:spPr>
          <a:xfrm rot="21600000">
            <a:off x="0" y="0"/>
            <a:ext cx="598931" cy="373379"/>
          </a:xfrm>
          <a:prstGeom prst="rect">
            <a:avLst/>
          </a:prstGeom>
        </p:spPr>
      </p:pic>
      <p:sp>
        <p:nvSpPr>
          <p:cNvPr id="172" name="textbox 172"/>
          <p:cNvSpPr/>
          <p:nvPr/>
        </p:nvSpPr>
        <p:spPr>
          <a:xfrm>
            <a:off x="1499560" y="4360093"/>
            <a:ext cx="1371600" cy="291465"/>
          </a:xfrm>
          <a:prstGeom prst="rect">
            <a:avLst/>
          </a:prstGeom>
          <a:noFill/>
          <a:ln w="0" cap="flat">
            <a:noFill/>
            <a:prstDash val="solid"/>
            <a:miter lim="0"/>
          </a:ln>
        </p:spPr>
        <p:txBody>
          <a:bodyPr vert="horz" wrap="square" lIns="0" tIns="0" rIns="0" bIns="0"/>
          <a:lstStyle/>
          <a:p>
            <a:pPr algn="l" rtl="0" eaLnBrk="0">
              <a:lnSpc>
                <a:spcPct val="89000"/>
              </a:lnSpc>
            </a:pPr>
            <a:r>
              <a:rPr lang="zh-CN" altLang="en-US" kern="0" spc="-20" dirty="0">
                <a:solidFill>
                  <a:srgbClr val="2080C0">
                    <a:alpha val="100000"/>
                  </a:srgbClr>
                </a:solidFill>
                <a:latin typeface="微软雅黑" panose="020B0503020204020204" charset="-122"/>
                <a:ea typeface="微软雅黑" panose="020B0503020204020204" charset="-122"/>
                <a:cs typeface="黑体" panose="02010609060101010101" charset="-122"/>
              </a:rPr>
              <a:t>•   确定主题：</a:t>
            </a:r>
            <a:endParaRPr lang="zh-CN" altLang="en-US" kern="0" spc="-20" dirty="0">
              <a:solidFill>
                <a:srgbClr val="2080C0">
                  <a:alpha val="100000"/>
                </a:srgbClr>
              </a:solidFill>
              <a:latin typeface="微软雅黑" panose="020B0503020204020204" charset="-122"/>
              <a:ea typeface="微软雅黑" panose="020B0503020204020204" charset="-122"/>
              <a:cs typeface="黑体" panose="02010609060101010101" charset="-122"/>
            </a:endParaRPr>
          </a:p>
        </p:txBody>
      </p:sp>
      <p:pic>
        <p:nvPicPr>
          <p:cNvPr id="174" name="picture 174"/>
          <p:cNvPicPr>
            <a:picLocks noChangeAspect="1"/>
          </p:cNvPicPr>
          <p:nvPr/>
        </p:nvPicPr>
        <p:blipFill>
          <a:blip r:embed="rId5"/>
          <a:stretch>
            <a:fillRect/>
          </a:stretch>
        </p:blipFill>
        <p:spPr>
          <a:xfrm rot="21600000">
            <a:off x="0" y="6579983"/>
            <a:ext cx="12179300" cy="12700"/>
          </a:xfrm>
          <a:prstGeom prst="rect">
            <a:avLst/>
          </a:prstGeom>
        </p:spPr>
      </p:pic>
      <p:pic>
        <p:nvPicPr>
          <p:cNvPr id="176" name="picture 176"/>
          <p:cNvPicPr>
            <a:picLocks noChangeAspect="1"/>
          </p:cNvPicPr>
          <p:nvPr/>
        </p:nvPicPr>
        <p:blipFill>
          <a:blip r:embed="rId6"/>
          <a:stretch>
            <a:fillRect/>
          </a:stretch>
        </p:blipFill>
        <p:spPr>
          <a:xfrm rot="21600000">
            <a:off x="1628228" y="3838981"/>
            <a:ext cx="7288860" cy="19050"/>
          </a:xfrm>
          <a:prstGeom prst="rect">
            <a:avLst/>
          </a:prstGeom>
        </p:spPr>
      </p:pic>
      <p:pic>
        <p:nvPicPr>
          <p:cNvPr id="178" name="picture 178"/>
          <p:cNvPicPr>
            <a:picLocks noChangeAspect="1"/>
          </p:cNvPicPr>
          <p:nvPr/>
        </p:nvPicPr>
        <p:blipFill>
          <a:blip r:embed="rId7"/>
          <a:stretch>
            <a:fillRect/>
          </a:stretch>
        </p:blipFill>
        <p:spPr>
          <a:xfrm rot="21600000">
            <a:off x="1628228" y="5130152"/>
            <a:ext cx="7288860" cy="19050"/>
          </a:xfrm>
          <a:prstGeom prst="rect">
            <a:avLst/>
          </a:prstGeom>
        </p:spPr>
      </p:pic>
      <p:sp>
        <p:nvSpPr>
          <p:cNvPr id="3" name="textbox 8"/>
          <p:cNvSpPr/>
          <p:nvPr/>
        </p:nvSpPr>
        <p:spPr>
          <a:xfrm>
            <a:off x="618825" y="67294"/>
            <a:ext cx="11393805" cy="270509"/>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100000"/>
              </a:lnSpc>
            </a:pPr>
            <a:r>
              <a:rPr sz="1600" b="1" kern="0" spc="-20" dirty="0">
                <a:solidFill>
                  <a:srgbClr val="000000">
                    <a:alpha val="100000"/>
                  </a:srgbClr>
                </a:solidFill>
                <a:latin typeface="黑体" panose="02010609060101010101" charset="-122"/>
                <a:ea typeface="黑体" panose="02010609060101010101" charset="-122"/>
                <a:cs typeface="黑体" panose="02010609060101010101" charset="-122"/>
              </a:rPr>
              <a:t>米思齐</a:t>
            </a:r>
            <a:r>
              <a:rPr 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课程作业</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600" b="1" kern="0" spc="-20" dirty="0">
                <a:solidFill>
                  <a:srgbClr val="000000">
                    <a:alpha val="100000"/>
                  </a:srgbClr>
                </a:solidFill>
                <a:latin typeface="黑体" panose="02010609060101010101" charset="-122"/>
                <a:ea typeface="黑体" panose="02010609060101010101" charset="-122"/>
                <a:cs typeface="黑体" panose="02010609060101010101" charset="-122"/>
              </a:rPr>
              <a:t>余天润</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202522039114</a:t>
            </a:r>
            <a:r>
              <a:rPr sz="1600" kern="0" spc="-20" dirty="0">
                <a:solidFill>
                  <a:srgbClr val="000000">
                    <a:alpha val="100000"/>
                  </a:srgbClr>
                </a:solidFill>
                <a:latin typeface="黑体" panose="02010609060101010101" charset="-122"/>
                <a:ea typeface="黑体" panose="02010609060101010101" charset="-122"/>
                <a:cs typeface="黑体" panose="02010609060101010101" charset="-122"/>
              </a:rPr>
              <a:t>                                        </a:t>
            </a:r>
            <a:endParaRPr sz="1400" dirty="0">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0" name="picture 180"/>
          <p:cNvPicPr>
            <a:picLocks noChangeAspect="1"/>
          </p:cNvPicPr>
          <p:nvPr/>
        </p:nvPicPr>
        <p:blipFill>
          <a:blip r:embed="rId1"/>
          <a:stretch>
            <a:fillRect/>
          </a:stretch>
        </p:blipFill>
        <p:spPr>
          <a:xfrm rot="21600000">
            <a:off x="0" y="0"/>
            <a:ext cx="12192000" cy="6858000"/>
          </a:xfrm>
          <a:prstGeom prst="rect">
            <a:avLst/>
          </a:prstGeom>
        </p:spPr>
      </p:pic>
      <p:graphicFrame>
        <p:nvGraphicFramePr>
          <p:cNvPr id="182" name="table 182"/>
          <p:cNvGraphicFramePr>
            <a:graphicFrameLocks noGrp="1"/>
          </p:cNvGraphicFramePr>
          <p:nvPr/>
        </p:nvGraphicFramePr>
        <p:xfrm>
          <a:off x="1400975" y="2981655"/>
          <a:ext cx="7628890" cy="1671955"/>
        </p:xfrm>
        <a:graphic>
          <a:graphicData uri="http://schemas.openxmlformats.org/drawingml/2006/table">
            <a:tbl>
              <a:tblPr/>
              <a:tblGrid>
                <a:gridCol w="2463164"/>
                <a:gridCol w="2666364"/>
                <a:gridCol w="2499360"/>
              </a:tblGrid>
              <a:tr h="543559">
                <a:tc>
                  <a:txBody>
                    <a:bodyPr/>
                    <a:lstStyle/>
                    <a:p>
                      <a:pPr algn="ctr" rtl="0" eaLnBrk="0">
                        <a:lnSpc>
                          <a:spcPct val="101000"/>
                        </a:lnSpc>
                      </a:pPr>
                      <a:r>
                        <a:rPr lang="zh-CN" sz="2000" b="1" kern="0" spc="-10" dirty="0">
                          <a:solidFill>
                            <a:srgbClr val="FFFFFF">
                              <a:alpha val="100000"/>
                            </a:srgbClr>
                          </a:solidFill>
                          <a:latin typeface="微软雅黑" panose="020B0503020204020204" charset="-122"/>
                          <a:ea typeface="微软雅黑" panose="020B0503020204020204" charset="-122"/>
                          <a:cs typeface="微软雅黑" panose="020B0503020204020204" charset="-122"/>
                        </a:rPr>
                        <a:t>训练记忆</a:t>
                      </a:r>
                      <a:endParaRPr lang="zh-CN" sz="2000" b="1" kern="0" spc="-10" dirty="0">
                        <a:solidFill>
                          <a:srgbClr val="FFFFFF">
                            <a:alpha val="100000"/>
                          </a:srgbClr>
                        </a:solidFill>
                        <a:latin typeface="微软雅黑" panose="020B0503020204020204" charset="-122"/>
                        <a:ea typeface="微软雅黑" panose="020B0503020204020204" charset="-122"/>
                        <a:cs typeface="微软雅黑" panose="020B0503020204020204" charset="-122"/>
                      </a:endParaRPr>
                    </a:p>
                  </a:txBody>
                  <a:tcPr marL="0" marR="0" marT="0" marB="0" vert="horz"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solidFill>
                  </a:tcPr>
                </a:tc>
                <a:tc>
                  <a:txBody>
                    <a:bodyPr/>
                    <a:lstStyle/>
                    <a:p>
                      <a:pPr algn="ctr" rtl="0" eaLnBrk="0">
                        <a:lnSpc>
                          <a:spcPct val="110000"/>
                        </a:lnSpc>
                      </a:pPr>
                      <a:r>
                        <a:rPr sz="2000" b="1" kern="0" spc="-20" dirty="0">
                          <a:solidFill>
                            <a:srgbClr val="FFFFFF">
                              <a:alpha val="100000"/>
                            </a:srgbClr>
                          </a:solidFill>
                          <a:latin typeface="微软雅黑" panose="020B0503020204020204" charset="-122"/>
                          <a:ea typeface="微软雅黑" panose="020B0503020204020204" charset="-122"/>
                          <a:cs typeface="微软雅黑" panose="020B0503020204020204" charset="-122"/>
                        </a:rPr>
                        <a:t>方案1</a:t>
                      </a:r>
                      <a:endParaRPr sz="2000" dirty="0">
                        <a:latin typeface="微软雅黑" panose="020B0503020204020204" charset="-122"/>
                        <a:ea typeface="微软雅黑" panose="020B0503020204020204" charset="-122"/>
                        <a:cs typeface="微软雅黑" panose="020B0503020204020204" charset="-122"/>
                      </a:endParaRPr>
                    </a:p>
                  </a:txBody>
                  <a:tcPr marL="0" marR="0" marT="0" marB="0" vert="horz"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solidFill>
                  </a:tcPr>
                </a:tc>
                <a:tc>
                  <a:txBody>
                    <a:bodyPr/>
                    <a:lstStyle/>
                    <a:p>
                      <a:pPr algn="ctr" rtl="0" eaLnBrk="0">
                        <a:lnSpc>
                          <a:spcPct val="110000"/>
                        </a:lnSpc>
                      </a:pPr>
                      <a:r>
                        <a:rPr sz="2000" b="1" kern="0" spc="-20" dirty="0">
                          <a:solidFill>
                            <a:srgbClr val="FFFFFF">
                              <a:alpha val="100000"/>
                            </a:srgbClr>
                          </a:solidFill>
                          <a:latin typeface="微软雅黑" panose="020B0503020204020204" charset="-122"/>
                          <a:ea typeface="微软雅黑" panose="020B0503020204020204" charset="-122"/>
                          <a:cs typeface="微软雅黑" panose="020B0503020204020204" charset="-122"/>
                        </a:rPr>
                        <a:t>方案2</a:t>
                      </a:r>
                      <a:endParaRPr sz="2000" dirty="0">
                        <a:latin typeface="微软雅黑" panose="020B0503020204020204" charset="-122"/>
                        <a:ea typeface="微软雅黑" panose="020B0503020204020204" charset="-122"/>
                        <a:cs typeface="微软雅黑" panose="020B0503020204020204" charset="-122"/>
                      </a:endParaRPr>
                    </a:p>
                  </a:txBody>
                  <a:tcPr marL="0" marR="0" marT="0" marB="0" vert="horz"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solidFill>
                  </a:tcPr>
                </a:tc>
              </a:tr>
              <a:tr h="542290">
                <a:tc>
                  <a:txBody>
                    <a:bodyPr/>
                    <a:lstStyle/>
                    <a:p>
                      <a:pPr algn="ctr" rtl="0" eaLnBrk="0">
                        <a:lnSpc>
                          <a:spcPct val="107000"/>
                        </a:lnSpc>
                      </a:pPr>
                      <a:endParaRPr sz="1000" dirty="0">
                        <a:latin typeface="微软雅黑" panose="020B0503020204020204" charset="-122"/>
                        <a:ea typeface="微软雅黑" panose="020B0503020204020204" charset="-122"/>
                        <a:cs typeface="Arial" panose="020B0604020202020204"/>
                      </a:endParaRPr>
                    </a:p>
                    <a:p>
                      <a:pPr algn="ctr" rtl="0" eaLnBrk="0">
                        <a:lnSpc>
                          <a:spcPct val="9000"/>
                        </a:lnSpc>
                      </a:pPr>
                      <a:r>
                        <a:rPr sz="17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可选传感器</a:t>
                      </a:r>
                      <a:endParaRPr sz="1700" dirty="0">
                        <a:latin typeface="微软雅黑" panose="020B0503020204020204" charset="-122"/>
                        <a:ea typeface="微软雅黑" panose="020B0503020204020204" charset="-122"/>
                        <a:cs typeface="微软雅黑" panose="020B0503020204020204" charset="-122"/>
                      </a:endParaRPr>
                    </a:p>
                  </a:txBody>
                  <a:tcPr marL="0" marR="0" marT="0" marB="0" vert="horz"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ctr" rtl="0" eaLnBrk="0">
                        <a:lnSpc>
                          <a:spcPct val="100000"/>
                        </a:lnSpc>
                      </a:pPr>
                      <a:endParaRPr sz="1000" dirty="0">
                        <a:latin typeface="微软雅黑" panose="020B0503020204020204" charset="-122"/>
                        <a:ea typeface="微软雅黑" panose="020B0503020204020204" charset="-122"/>
                        <a:cs typeface="Arial" panose="020B0604020202020204"/>
                      </a:endParaRPr>
                    </a:p>
                  </a:txBody>
                  <a:tcPr marL="0" marR="0" marT="0" marB="0" vert="horz"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ctr" rtl="0" eaLnBrk="0">
                        <a:lnSpc>
                          <a:spcPct val="100000"/>
                        </a:lnSpc>
                      </a:pPr>
                      <a:endParaRPr sz="1000" dirty="0">
                        <a:latin typeface="微软雅黑" panose="020B0503020204020204" charset="-122"/>
                        <a:ea typeface="微软雅黑" panose="020B0503020204020204" charset="-122"/>
                        <a:cs typeface="Arial" panose="020B0604020202020204"/>
                      </a:endParaRPr>
                    </a:p>
                  </a:txBody>
                  <a:tcPr marL="0" marR="0" marT="0" marB="0" vert="horz"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r>
              <a:tr h="586105">
                <a:tc>
                  <a:txBody>
                    <a:bodyPr/>
                    <a:lstStyle/>
                    <a:p>
                      <a:pPr algn="ctr" rtl="0" eaLnBrk="0">
                        <a:lnSpc>
                          <a:spcPct val="179000"/>
                        </a:lnSpc>
                      </a:pPr>
                      <a:r>
                        <a:rPr sz="17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主要原理</a:t>
                      </a:r>
                      <a:endParaRPr sz="1700" dirty="0">
                        <a:latin typeface="微软雅黑" panose="020B0503020204020204" charset="-122"/>
                        <a:ea typeface="微软雅黑" panose="020B0503020204020204" charset="-122"/>
                        <a:cs typeface="微软雅黑" panose="020B0503020204020204" charset="-122"/>
                      </a:endParaRPr>
                    </a:p>
                  </a:txBody>
                  <a:tcPr marL="0" marR="0" marT="0" marB="0" vert="horz"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ctr" rtl="0" eaLnBrk="0">
                        <a:lnSpc>
                          <a:spcPct val="100000"/>
                        </a:lnSpc>
                      </a:pPr>
                      <a:endParaRPr sz="1000" dirty="0">
                        <a:latin typeface="微软雅黑" panose="020B0503020204020204" charset="-122"/>
                        <a:ea typeface="微软雅黑" panose="020B0503020204020204" charset="-122"/>
                        <a:cs typeface="Arial" panose="020B0604020202020204"/>
                      </a:endParaRPr>
                    </a:p>
                  </a:txBody>
                  <a:tcPr marL="0" marR="0" marT="0" marB="0" vert="horz"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ctr" rtl="0" eaLnBrk="0">
                        <a:lnSpc>
                          <a:spcPct val="100000"/>
                        </a:lnSpc>
                      </a:pPr>
                      <a:endParaRPr sz="1000" dirty="0">
                        <a:latin typeface="微软雅黑" panose="020B0503020204020204" charset="-122"/>
                        <a:ea typeface="微软雅黑" panose="020B0503020204020204" charset="-122"/>
                        <a:cs typeface="Arial" panose="020B0604020202020204"/>
                      </a:endParaRPr>
                    </a:p>
                  </a:txBody>
                  <a:tcPr marL="0" marR="0" marT="0" marB="0" vert="horz"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r>
            </a:tbl>
          </a:graphicData>
        </a:graphic>
      </p:graphicFrame>
      <p:sp>
        <p:nvSpPr>
          <p:cNvPr id="184" name="path 184"/>
          <p:cNvSpPr/>
          <p:nvPr/>
        </p:nvSpPr>
        <p:spPr>
          <a:xfrm>
            <a:off x="339852" y="807720"/>
            <a:ext cx="585216" cy="364235"/>
          </a:xfrm>
          <a:custGeom>
            <a:avLst/>
            <a:gdLst/>
            <a:ahLst/>
            <a:cxnLst/>
            <a:rect l="0" t="0" r="0" b="0"/>
            <a:pathLst>
              <a:path w="921" h="573">
                <a:moveTo>
                  <a:pt x="0" y="0"/>
                </a:moveTo>
                <a:lnTo>
                  <a:pt x="739" y="0"/>
                </a:lnTo>
                <a:lnTo>
                  <a:pt x="921" y="287"/>
                </a:lnTo>
                <a:lnTo>
                  <a:pt x="739" y="573"/>
                </a:lnTo>
                <a:lnTo>
                  <a:pt x="0" y="573"/>
                </a:lnTo>
                <a:lnTo>
                  <a:pt x="0" y="0"/>
                </a:lnTo>
              </a:path>
            </a:pathLst>
          </a:custGeom>
          <a:solidFill>
            <a:srgbClr val="ED7D31">
              <a:alpha val="100000"/>
            </a:srgbClr>
          </a:solidFill>
          <a:ln w="0" cap="flat">
            <a:noFill/>
            <a:prstDash val="solid"/>
            <a:miter lim="0"/>
          </a:ln>
        </p:spPr>
        <p:txBody>
          <a:bodyPr rtlCol="0"/>
          <a:lstStyle/>
          <a:p>
            <a:pPr algn="ctr"/>
            <a:endParaRPr lang="zh-CN" altLang="en-US"/>
          </a:p>
        </p:txBody>
      </p:sp>
      <p:sp>
        <p:nvSpPr>
          <p:cNvPr id="186" name="textbox 186"/>
          <p:cNvSpPr/>
          <p:nvPr/>
        </p:nvSpPr>
        <p:spPr>
          <a:xfrm>
            <a:off x="497840" y="860425"/>
            <a:ext cx="10720070" cy="1748790"/>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a:ea typeface="Arial" panose="020B0604020202020204"/>
              <a:cs typeface="Arial" panose="020B0604020202020204"/>
            </a:endParaRPr>
          </a:p>
          <a:p>
            <a:pPr marL="12700" algn="l" rtl="0" eaLnBrk="0">
              <a:lnSpc>
                <a:spcPct val="87000"/>
              </a:lnSpc>
            </a:pPr>
            <a:r>
              <a:rPr sz="3600" b="1" kern="0" spc="50" baseline="12000" dirty="0">
                <a:solidFill>
                  <a:srgbClr val="FFFFFF">
                    <a:alpha val="100000"/>
                  </a:srgbClr>
                </a:solidFill>
                <a:latin typeface="Times New Roman" panose="02020603050405020304"/>
                <a:ea typeface="Times New Roman" panose="02020603050405020304"/>
                <a:cs typeface="Times New Roman" panose="02020603050405020304"/>
              </a:rPr>
              <a:t>2</a:t>
            </a:r>
            <a:r>
              <a:rPr sz="2300" b="1" kern="0" spc="50" dirty="0">
                <a:solidFill>
                  <a:srgbClr val="FFFFFF">
                    <a:alpha val="100000"/>
                  </a:srgbClr>
                </a:solidFill>
                <a:latin typeface="Times New Roman" panose="02020603050405020304"/>
                <a:ea typeface="Times New Roman" panose="02020603050405020304"/>
                <a:cs typeface="Times New Roman" panose="02020603050405020304"/>
              </a:rPr>
              <a:t>       </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rPr>
              <a:t>记忆守护</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sym typeface="+mn-ea"/>
              </a:rPr>
              <a:t>：</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rPr>
              <a:t>阿尔兹海默症预防</a:t>
            </a:r>
            <a:r>
              <a:rPr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rPr>
              <a:t>系统实践</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22000"/>
              </a:lnSpc>
            </a:pPr>
            <a:endParaRPr sz="1000" dirty="0">
              <a:latin typeface="Arial" panose="020B0604020202020204"/>
              <a:ea typeface="Arial" panose="020B0604020202020204"/>
              <a:cs typeface="Arial" panose="020B0604020202020204"/>
            </a:endParaRPr>
          </a:p>
          <a:p>
            <a:pPr marL="716280" algn="l" rtl="0" eaLnBrk="0">
              <a:lnSpc>
                <a:spcPts val="2645"/>
              </a:lnSpc>
              <a:spcBef>
                <a:spcPts val="600"/>
              </a:spcBef>
              <a:tabLst>
                <a:tab pos="897255" algn="l"/>
              </a:tabLst>
            </a:pP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54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具体任务1:</a:t>
            </a:r>
            <a:r>
              <a:rPr lang="en-US"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dirty="0">
                <a:solidFill>
                  <a:srgbClr val="5B9BD5">
                    <a:alpha val="100000"/>
                  </a:srgbClr>
                </a:solidFill>
                <a:latin typeface="微软雅黑" panose="020B0503020204020204" charset="-122"/>
                <a:ea typeface="微软雅黑" panose="020B0503020204020204" charset="-122"/>
                <a:cs typeface="微软雅黑" panose="020B0503020204020204" charset="-122"/>
                <a:sym typeface="+mn-ea"/>
              </a:rPr>
              <a:t>记忆守护：阿尔兹海默症预防</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系统</a:t>
            </a:r>
            <a:r>
              <a:rPr sz="2000" b="1" kern="0" spc="-10" dirty="0">
                <a:solidFill>
                  <a:srgbClr val="5B9BD5">
                    <a:alpha val="100000"/>
                  </a:srgbClr>
                </a:solidFill>
                <a:latin typeface="微软雅黑" panose="020B0503020204020204" charset="-122"/>
                <a:ea typeface="微软雅黑" panose="020B0503020204020204" charset="-122"/>
                <a:cs typeface="微软雅黑" panose="020B0503020204020204" charset="-122"/>
              </a:rPr>
              <a:t>的功能实现</a:t>
            </a:r>
            <a:endParaRPr sz="2000" dirty="0">
              <a:latin typeface="微软雅黑" panose="020B0503020204020204" charset="-122"/>
              <a:ea typeface="微软雅黑" panose="020B0503020204020204" charset="-122"/>
              <a:cs typeface="微软雅黑" panose="020B0503020204020204" charset="-122"/>
            </a:endParaRPr>
          </a:p>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119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1005205" algn="l" rtl="0" eaLnBrk="0">
              <a:lnSpc>
                <a:spcPts val="2590"/>
              </a:lnSpc>
              <a:spcBef>
                <a:spcPts val="0"/>
              </a:spcBef>
            </a:pP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想一想 ：如何</a:t>
            </a:r>
            <a:r>
              <a:rPr lang="zh-CN"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帮助长辈训练记忆呢</a:t>
            </a: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188" name="picture 188"/>
          <p:cNvPicPr>
            <a:picLocks noChangeAspect="1"/>
          </p:cNvPicPr>
          <p:nvPr/>
        </p:nvPicPr>
        <p:blipFill>
          <a:blip r:embed="rId2"/>
          <a:stretch>
            <a:fillRect/>
          </a:stretch>
        </p:blipFill>
        <p:spPr>
          <a:xfrm rot="21600000">
            <a:off x="1214554" y="1534618"/>
            <a:ext cx="180790" cy="282135"/>
          </a:xfrm>
          <a:prstGeom prst="rect">
            <a:avLst/>
          </a:prstGeom>
        </p:spPr>
      </p:pic>
      <p:sp>
        <p:nvSpPr>
          <p:cNvPr id="190" name="rect 190"/>
          <p:cNvSpPr/>
          <p:nvPr/>
        </p:nvSpPr>
        <p:spPr>
          <a:xfrm>
            <a:off x="0" y="6612635"/>
            <a:ext cx="12192000" cy="245364"/>
          </a:xfrm>
          <a:prstGeom prst="rect">
            <a:avLst/>
          </a:prstGeom>
          <a:solidFill>
            <a:srgbClr val="0371AE">
              <a:alpha val="100000"/>
            </a:srgbClr>
          </a:solidFill>
          <a:ln w="0" cap="flat">
            <a:noFill/>
            <a:prstDash val="solid"/>
            <a:miter lim="0"/>
          </a:ln>
        </p:spPr>
        <p:txBody>
          <a:bodyPr rtlCol="0"/>
          <a:lstStyle/>
          <a:p>
            <a:pPr algn="ctr"/>
            <a:endParaRPr lang="zh-CN" altLang="en-US"/>
          </a:p>
        </p:txBody>
      </p:sp>
      <p:pic>
        <p:nvPicPr>
          <p:cNvPr id="192" name="picture 192"/>
          <p:cNvPicPr>
            <a:picLocks noChangeAspect="1"/>
          </p:cNvPicPr>
          <p:nvPr/>
        </p:nvPicPr>
        <p:blipFill>
          <a:blip r:embed="rId3"/>
          <a:stretch>
            <a:fillRect/>
          </a:stretch>
        </p:blipFill>
        <p:spPr>
          <a:xfrm rot="21600000">
            <a:off x="4195571" y="0"/>
            <a:ext cx="7996427" cy="365759"/>
          </a:xfrm>
          <a:prstGeom prst="rect">
            <a:avLst/>
          </a:prstGeom>
        </p:spPr>
      </p:pic>
      <p:pic>
        <p:nvPicPr>
          <p:cNvPr id="196" name="picture 196"/>
          <p:cNvPicPr>
            <a:picLocks noChangeAspect="1"/>
          </p:cNvPicPr>
          <p:nvPr/>
        </p:nvPicPr>
        <p:blipFill>
          <a:blip r:embed="rId4"/>
          <a:stretch>
            <a:fillRect/>
          </a:stretch>
        </p:blipFill>
        <p:spPr>
          <a:xfrm rot="21600000">
            <a:off x="0" y="0"/>
            <a:ext cx="598931" cy="373379"/>
          </a:xfrm>
          <a:prstGeom prst="rect">
            <a:avLst/>
          </a:prstGeom>
        </p:spPr>
      </p:pic>
      <p:pic>
        <p:nvPicPr>
          <p:cNvPr id="198" name="picture 198"/>
          <p:cNvPicPr>
            <a:picLocks noChangeAspect="1"/>
          </p:cNvPicPr>
          <p:nvPr/>
        </p:nvPicPr>
        <p:blipFill>
          <a:blip r:embed="rId5"/>
          <a:stretch>
            <a:fillRect/>
          </a:stretch>
        </p:blipFill>
        <p:spPr>
          <a:xfrm rot="21600000">
            <a:off x="0" y="6579983"/>
            <a:ext cx="12179300" cy="12700"/>
          </a:xfrm>
          <a:prstGeom prst="rect">
            <a:avLst/>
          </a:prstGeom>
        </p:spPr>
      </p:pic>
      <p:sp>
        <p:nvSpPr>
          <p:cNvPr id="3" name="textbox 8"/>
          <p:cNvSpPr/>
          <p:nvPr/>
        </p:nvSpPr>
        <p:spPr>
          <a:xfrm>
            <a:off x="618825" y="67294"/>
            <a:ext cx="11393805" cy="270509"/>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100000"/>
              </a:lnSpc>
            </a:pPr>
            <a:r>
              <a:rPr sz="1600" b="1" kern="0" spc="-20" dirty="0">
                <a:solidFill>
                  <a:srgbClr val="000000">
                    <a:alpha val="100000"/>
                  </a:srgbClr>
                </a:solidFill>
                <a:latin typeface="黑体" panose="02010609060101010101" charset="-122"/>
                <a:ea typeface="黑体" panose="02010609060101010101" charset="-122"/>
                <a:cs typeface="黑体" panose="02010609060101010101" charset="-122"/>
              </a:rPr>
              <a:t>米思齐</a:t>
            </a:r>
            <a:r>
              <a:rPr 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课程作业</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600" b="1" kern="0" spc="-20" dirty="0">
                <a:solidFill>
                  <a:srgbClr val="000000">
                    <a:alpha val="100000"/>
                  </a:srgbClr>
                </a:solidFill>
                <a:latin typeface="黑体" panose="02010609060101010101" charset="-122"/>
                <a:ea typeface="黑体" panose="02010609060101010101" charset="-122"/>
                <a:cs typeface="黑体" panose="02010609060101010101" charset="-122"/>
              </a:rPr>
              <a:t>余天润</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202522039114</a:t>
            </a:r>
            <a:r>
              <a:rPr sz="1600" kern="0" spc="-20" dirty="0">
                <a:solidFill>
                  <a:srgbClr val="000000">
                    <a:alpha val="100000"/>
                  </a:srgbClr>
                </a:solidFill>
                <a:latin typeface="黑体" panose="02010609060101010101" charset="-122"/>
                <a:ea typeface="黑体" panose="02010609060101010101" charset="-122"/>
                <a:cs typeface="黑体" panose="02010609060101010101" charset="-122"/>
              </a:rPr>
              <a:t>                                        </a:t>
            </a:r>
            <a:endParaRPr sz="1400" dirty="0">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0" name="picture 200"/>
          <p:cNvPicPr>
            <a:picLocks noChangeAspect="1"/>
          </p:cNvPicPr>
          <p:nvPr/>
        </p:nvPicPr>
        <p:blipFill>
          <a:blip r:embed="rId1"/>
          <a:stretch>
            <a:fillRect/>
          </a:stretch>
        </p:blipFill>
        <p:spPr>
          <a:xfrm rot="21600000">
            <a:off x="0" y="0"/>
            <a:ext cx="12192000" cy="6858000"/>
          </a:xfrm>
          <a:prstGeom prst="rect">
            <a:avLst/>
          </a:prstGeom>
        </p:spPr>
      </p:pic>
      <p:sp>
        <p:nvSpPr>
          <p:cNvPr id="202" name="path 202"/>
          <p:cNvSpPr/>
          <p:nvPr/>
        </p:nvSpPr>
        <p:spPr>
          <a:xfrm>
            <a:off x="339852" y="807720"/>
            <a:ext cx="585216" cy="364235"/>
          </a:xfrm>
          <a:custGeom>
            <a:avLst/>
            <a:gdLst/>
            <a:ahLst/>
            <a:cxnLst/>
            <a:rect l="0" t="0" r="0" b="0"/>
            <a:pathLst>
              <a:path w="921" h="573">
                <a:moveTo>
                  <a:pt x="0" y="0"/>
                </a:moveTo>
                <a:lnTo>
                  <a:pt x="739" y="0"/>
                </a:lnTo>
                <a:lnTo>
                  <a:pt x="921" y="287"/>
                </a:lnTo>
                <a:lnTo>
                  <a:pt x="739" y="573"/>
                </a:lnTo>
                <a:lnTo>
                  <a:pt x="0" y="573"/>
                </a:lnTo>
                <a:lnTo>
                  <a:pt x="0" y="0"/>
                </a:lnTo>
              </a:path>
            </a:pathLst>
          </a:custGeom>
          <a:solidFill>
            <a:srgbClr val="ED7D31">
              <a:alpha val="100000"/>
            </a:srgbClr>
          </a:solidFill>
          <a:ln w="0" cap="flat">
            <a:noFill/>
            <a:prstDash val="solid"/>
            <a:miter lim="0"/>
          </a:ln>
        </p:spPr>
        <p:txBody>
          <a:bodyPr rtlCol="0"/>
          <a:lstStyle/>
          <a:p>
            <a:pPr algn="ctr"/>
            <a:endParaRPr lang="zh-CN" altLang="en-US"/>
          </a:p>
        </p:txBody>
      </p:sp>
      <p:sp>
        <p:nvSpPr>
          <p:cNvPr id="204" name="textbox 204"/>
          <p:cNvSpPr/>
          <p:nvPr/>
        </p:nvSpPr>
        <p:spPr>
          <a:xfrm>
            <a:off x="497840" y="860425"/>
            <a:ext cx="10694035" cy="4034790"/>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a:ea typeface="Arial" panose="020B0604020202020204"/>
              <a:cs typeface="Arial" panose="020B0604020202020204"/>
            </a:endParaRPr>
          </a:p>
          <a:p>
            <a:pPr marL="12700" algn="l" rtl="0" eaLnBrk="0">
              <a:lnSpc>
                <a:spcPct val="87000"/>
              </a:lnSpc>
            </a:pPr>
            <a:r>
              <a:rPr sz="3600" b="1" kern="0" spc="50" baseline="12000" dirty="0">
                <a:solidFill>
                  <a:srgbClr val="FFFFFF">
                    <a:alpha val="100000"/>
                  </a:srgbClr>
                </a:solidFill>
                <a:latin typeface="Times New Roman" panose="02020603050405020304"/>
                <a:ea typeface="Times New Roman" panose="02020603050405020304"/>
                <a:cs typeface="Times New Roman" panose="02020603050405020304"/>
              </a:rPr>
              <a:t>2</a:t>
            </a:r>
            <a:r>
              <a:rPr sz="2300" b="1" kern="0" spc="50" dirty="0">
                <a:solidFill>
                  <a:srgbClr val="FFFFFF">
                    <a:alpha val="100000"/>
                  </a:srgbClr>
                </a:solidFill>
                <a:latin typeface="Times New Roman" panose="02020603050405020304"/>
                <a:ea typeface="Times New Roman" panose="02020603050405020304"/>
                <a:cs typeface="Times New Roman" panose="02020603050405020304"/>
              </a:rPr>
              <a:t>       </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rPr>
              <a:t>记忆守护：</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rPr>
              <a:t>阿尔兹海默症预防</a:t>
            </a:r>
            <a:r>
              <a:rPr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rPr>
              <a:t>系统实践</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22000"/>
              </a:lnSpc>
            </a:pPr>
            <a:endParaRPr sz="1000" dirty="0">
              <a:latin typeface="Arial" panose="020B0604020202020204"/>
              <a:ea typeface="Arial" panose="020B0604020202020204"/>
              <a:cs typeface="Arial" panose="020B0604020202020204"/>
            </a:endParaRPr>
          </a:p>
          <a:p>
            <a:pPr marL="716280" algn="l" rtl="0" eaLnBrk="0">
              <a:lnSpc>
                <a:spcPts val="2645"/>
              </a:lnSpc>
              <a:spcBef>
                <a:spcPts val="600"/>
              </a:spcBef>
              <a:tabLst>
                <a:tab pos="897255" algn="l"/>
              </a:tabLst>
            </a:pP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54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具体任务1:</a:t>
            </a:r>
            <a:r>
              <a:rPr lang="en-US"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lang="zh-CN" altLang="en-US" sz="2000" b="1" kern="0" dirty="0">
                <a:solidFill>
                  <a:srgbClr val="5B9BD5">
                    <a:alpha val="100000"/>
                  </a:srgbClr>
                </a:solidFill>
                <a:latin typeface="微软雅黑" panose="020B0503020204020204" charset="-122"/>
                <a:ea typeface="微软雅黑" panose="020B0503020204020204" charset="-122"/>
                <a:cs typeface="微软雅黑" panose="020B0503020204020204" charset="-122"/>
                <a:sym typeface="+mn-ea"/>
              </a:rPr>
              <a:t>记忆守护：</a:t>
            </a:r>
            <a:r>
              <a:rPr lang="zh-CN" altLang="en-US" sz="2000" b="1" kern="0" dirty="0">
                <a:solidFill>
                  <a:srgbClr val="5B9BD5">
                    <a:alpha val="100000"/>
                  </a:srgbClr>
                </a:solidFill>
                <a:latin typeface="微软雅黑" panose="020B0503020204020204" charset="-122"/>
                <a:ea typeface="微软雅黑" panose="020B0503020204020204" charset="-122"/>
                <a:cs typeface="微软雅黑" panose="020B0503020204020204" charset="-122"/>
                <a:sym typeface="+mn-ea"/>
              </a:rPr>
              <a:t>阿尔兹海默症预防</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系统</a:t>
            </a:r>
            <a:r>
              <a:rPr sz="2000" b="1" kern="0" spc="-10" dirty="0">
                <a:solidFill>
                  <a:srgbClr val="5B9BD5">
                    <a:alpha val="100000"/>
                  </a:srgbClr>
                </a:solidFill>
                <a:latin typeface="微软雅黑" panose="020B0503020204020204" charset="-122"/>
                <a:ea typeface="微软雅黑" panose="020B0503020204020204" charset="-122"/>
                <a:cs typeface="微软雅黑" panose="020B0503020204020204" charset="-122"/>
              </a:rPr>
              <a:t>的功能实现</a:t>
            </a:r>
            <a:endParaRPr sz="2000" dirty="0">
              <a:latin typeface="微软雅黑" panose="020B0503020204020204" charset="-122"/>
              <a:ea typeface="微软雅黑" panose="020B0503020204020204" charset="-122"/>
              <a:cs typeface="微软雅黑" panose="020B0503020204020204" charset="-122"/>
            </a:endParaRPr>
          </a:p>
          <a:p>
            <a:pPr algn="l" rtl="0" eaLnBrk="0">
              <a:lnSpc>
                <a:spcPct val="134000"/>
              </a:lnSpc>
            </a:pPr>
            <a:endParaRPr sz="1000" dirty="0">
              <a:latin typeface="Arial" panose="020B0604020202020204"/>
              <a:ea typeface="Arial" panose="020B0604020202020204"/>
              <a:cs typeface="Arial" panose="020B0604020202020204"/>
            </a:endParaRPr>
          </a:p>
          <a:p>
            <a:pPr marL="1003935" algn="l" rtl="0" eaLnBrk="0">
              <a:lnSpc>
                <a:spcPct val="87000"/>
              </a:lnSpc>
              <a:spcBef>
                <a:spcPts val="610"/>
              </a:spcBef>
            </a:pPr>
            <a:r>
              <a:rPr sz="20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本任务的具体要求</a:t>
            </a:r>
            <a:endParaRPr lang="zh-CN" altLang="en-US" sz="2000" dirty="0">
              <a:latin typeface="微软雅黑" panose="020B0503020204020204" charset="-122"/>
              <a:ea typeface="微软雅黑" panose="020B0503020204020204" charset="-122"/>
              <a:cs typeface="微软雅黑" panose="020B0503020204020204" charset="-122"/>
            </a:endParaRPr>
          </a:p>
          <a:p>
            <a:pPr marL="1102995" indent="0" algn="l" rtl="0" eaLnBrk="0">
              <a:lnSpc>
                <a:spcPts val="2690"/>
              </a:lnSpc>
              <a:spcBef>
                <a:spcPts val="1140"/>
              </a:spcBef>
              <a:buFont typeface="+mj-lt"/>
              <a:buNone/>
            </a:pPr>
            <a:r>
              <a:rPr lang="zh-CN" dirty="0">
                <a:latin typeface="Times New Roman" panose="02020603050405020304" charset="0"/>
                <a:ea typeface="微软雅黑" panose="020B0503020204020204" charset="-122"/>
                <a:cs typeface="Times New Roman" panose="02020603050405020304" charset="0"/>
              </a:rPr>
              <a:t>（</a:t>
            </a:r>
            <a:r>
              <a:rPr lang="en-US" altLang="zh-CN" dirty="0">
                <a:latin typeface="Times New Roman" panose="02020603050405020304" charset="0"/>
                <a:ea typeface="微软雅黑" panose="020B0503020204020204" charset="-122"/>
                <a:cs typeface="Times New Roman" panose="02020603050405020304" charset="0"/>
              </a:rPr>
              <a:t>1</a:t>
            </a:r>
            <a:r>
              <a:rPr lang="zh-CN" dirty="0">
                <a:latin typeface="Times New Roman" panose="02020603050405020304" charset="0"/>
                <a:ea typeface="微软雅黑" panose="020B0503020204020204" charset="-122"/>
                <a:cs typeface="Times New Roman" panose="02020603050405020304" charset="0"/>
              </a:rPr>
              <a:t>）</a:t>
            </a:r>
            <a:r>
              <a:rPr lang="zh-CN" altLang="en-US" b="1" dirty="0">
                <a:solidFill>
                  <a:schemeClr val="accent1"/>
                </a:solidFill>
                <a:effectLst>
                  <a:outerShdw blurRad="38100" dist="25400" dir="5400000" algn="ctr" rotWithShape="0">
                    <a:srgbClr val="6E747A">
                      <a:alpha val="43000"/>
                    </a:srgbClr>
                  </a:outerShdw>
                </a:effectLst>
                <a:latin typeface="Times New Roman" panose="02020603050405020304" charset="0"/>
                <a:ea typeface="微软雅黑" panose="020B0503020204020204" charset="-122"/>
                <a:cs typeface="Times New Roman" panose="02020603050405020304" charset="0"/>
              </a:rPr>
              <a:t>难度自定义选择</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charset="0"/>
                <a:ea typeface="微软雅黑" panose="020B0503020204020204" charset="-122"/>
                <a:cs typeface="Times New Roman" panose="02020603050405020304" charset="0"/>
              </a:rPr>
              <a:t>：</a:t>
            </a:r>
            <a:r>
              <a:rPr lang="zh-CN" altLang="en-US" dirty="0">
                <a:latin typeface="Times New Roman" panose="02020603050405020304" charset="0"/>
                <a:ea typeface="微软雅黑" panose="020B0503020204020204" charset="-122"/>
                <a:cs typeface="Times New Roman" panose="02020603050405020304" charset="0"/>
              </a:rPr>
              <a:t>启动后，用户能通过</a:t>
            </a:r>
            <a:r>
              <a:rPr lang="en-US" altLang="zh-CN" dirty="0">
                <a:latin typeface="Times New Roman" panose="02020603050405020304" charset="0"/>
                <a:ea typeface="微软雅黑" panose="020B0503020204020204" charset="-122"/>
                <a:cs typeface="Times New Roman" panose="02020603050405020304" charset="0"/>
              </a:rPr>
              <a:t> A1-A4 </a:t>
            </a:r>
            <a:r>
              <a:rPr lang="zh-CN" altLang="en-US" dirty="0">
                <a:latin typeface="Times New Roman" panose="02020603050405020304" charset="0"/>
                <a:ea typeface="微软雅黑" panose="020B0503020204020204" charset="-122"/>
                <a:cs typeface="Times New Roman" panose="02020603050405020304" charset="0"/>
              </a:rPr>
              <a:t>按键选择不同的训练难度（</a:t>
            </a:r>
            <a:r>
              <a:rPr lang="en-US" altLang="zh-CN" dirty="0">
                <a:latin typeface="Times New Roman" panose="02020603050405020304" charset="0"/>
                <a:ea typeface="微软雅黑" panose="020B0503020204020204" charset="-122"/>
                <a:cs typeface="Times New Roman" panose="02020603050405020304" charset="0"/>
              </a:rPr>
              <a:t>S1-S4</a:t>
            </a:r>
            <a:r>
              <a:rPr lang="zh-CN" altLang="en-US" dirty="0">
                <a:latin typeface="Times New Roman" panose="02020603050405020304" charset="0"/>
                <a:ea typeface="微软雅黑" panose="020B0503020204020204" charset="-122"/>
                <a:cs typeface="Times New Roman" panose="02020603050405020304" charset="0"/>
              </a:rPr>
              <a:t>），对应不同的符号显示速度。</a:t>
            </a:r>
            <a:endParaRPr lang="zh-CN" altLang="en-US" dirty="0">
              <a:latin typeface="Times New Roman" panose="02020603050405020304" charset="0"/>
              <a:ea typeface="微软雅黑" panose="020B0503020204020204" charset="-122"/>
              <a:cs typeface="Times New Roman" panose="02020603050405020304" charset="0"/>
            </a:endParaRPr>
          </a:p>
          <a:p>
            <a:pPr marL="1102995" indent="0" algn="l" rtl="0" eaLnBrk="0">
              <a:lnSpc>
                <a:spcPts val="2690"/>
              </a:lnSpc>
              <a:spcBef>
                <a:spcPts val="1140"/>
              </a:spcBef>
              <a:buFont typeface="+mj-lt"/>
              <a:buNone/>
            </a:pPr>
            <a:r>
              <a:rPr lang="zh-CN" altLang="en-US" dirty="0">
                <a:latin typeface="Times New Roman" panose="02020603050405020304" charset="0"/>
                <a:ea typeface="微软雅黑" panose="020B0503020204020204" charset="-122"/>
                <a:cs typeface="Times New Roman" panose="02020603050405020304" charset="0"/>
              </a:rPr>
              <a:t>（</a:t>
            </a:r>
            <a:r>
              <a:rPr lang="en-US" altLang="zh-CN" dirty="0">
                <a:latin typeface="Times New Roman" panose="02020603050405020304" charset="0"/>
                <a:ea typeface="微软雅黑" panose="020B0503020204020204" charset="-122"/>
                <a:cs typeface="Times New Roman" panose="02020603050405020304" charset="0"/>
              </a:rPr>
              <a:t>2</a:t>
            </a:r>
            <a:r>
              <a:rPr lang="zh-CN" altLang="en-US" dirty="0">
                <a:latin typeface="Times New Roman" panose="02020603050405020304" charset="0"/>
                <a:ea typeface="微软雅黑" panose="020B0503020204020204" charset="-122"/>
                <a:cs typeface="Times New Roman" panose="02020603050405020304" charset="0"/>
              </a:rPr>
              <a:t>）</a:t>
            </a:r>
            <a:r>
              <a:rPr lang="zh-CN" altLang="en-US" b="1" dirty="0">
                <a:solidFill>
                  <a:schemeClr val="accent1"/>
                </a:solidFill>
                <a:effectLst>
                  <a:outerShdw blurRad="38100" dist="25400" dir="5400000" algn="ctr" rotWithShape="0">
                    <a:srgbClr val="6E747A">
                      <a:alpha val="43000"/>
                    </a:srgbClr>
                  </a:outerShdw>
                </a:effectLst>
                <a:latin typeface="Times New Roman" panose="02020603050405020304" charset="0"/>
                <a:ea typeface="微软雅黑" panose="020B0503020204020204" charset="-122"/>
                <a:cs typeface="Times New Roman" panose="02020603050405020304" charset="0"/>
              </a:rPr>
              <a:t>随机序列生成</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charset="0"/>
                <a:ea typeface="微软雅黑" panose="020B0503020204020204" charset="-122"/>
                <a:cs typeface="Times New Roman" panose="02020603050405020304" charset="0"/>
              </a:rPr>
              <a:t>：</a:t>
            </a:r>
            <a:r>
              <a:rPr lang="zh-CN" altLang="en-US" dirty="0">
                <a:latin typeface="Times New Roman" panose="02020603050405020304" charset="0"/>
                <a:ea typeface="微软雅黑" panose="020B0503020204020204" charset="-122"/>
                <a:cs typeface="Times New Roman" panose="02020603050405020304" charset="0"/>
              </a:rPr>
              <a:t>根据当前关卡等级，随机生成一组由</a:t>
            </a:r>
            <a:r>
              <a:rPr lang="en-US" altLang="zh-CN" dirty="0">
                <a:latin typeface="Times New Roman" panose="02020603050405020304" charset="0"/>
                <a:ea typeface="微软雅黑" panose="020B0503020204020204" charset="-122"/>
                <a:cs typeface="Times New Roman" panose="02020603050405020304" charset="0"/>
              </a:rPr>
              <a:t>“v</a:t>
            </a:r>
            <a:r>
              <a:rPr lang="zh-CN" altLang="en-US" dirty="0">
                <a:latin typeface="Times New Roman" panose="02020603050405020304" charset="0"/>
                <a:ea typeface="微软雅黑" panose="020B0503020204020204" charset="-122"/>
                <a:cs typeface="Times New Roman" panose="02020603050405020304" charset="0"/>
              </a:rPr>
              <a:t>、</a:t>
            </a:r>
            <a:r>
              <a:rPr lang="en-US" altLang="zh-CN" dirty="0">
                <a:latin typeface="Times New Roman" panose="02020603050405020304" charset="0"/>
                <a:ea typeface="微软雅黑" panose="020B0503020204020204" charset="-122"/>
                <a:cs typeface="Times New Roman" panose="02020603050405020304" charset="0"/>
              </a:rPr>
              <a:t>&lt;</a:t>
            </a:r>
            <a:r>
              <a:rPr lang="zh-CN" altLang="en-US" dirty="0">
                <a:latin typeface="Times New Roman" panose="02020603050405020304" charset="0"/>
                <a:ea typeface="微软雅黑" panose="020B0503020204020204" charset="-122"/>
                <a:cs typeface="Times New Roman" panose="02020603050405020304" charset="0"/>
              </a:rPr>
              <a:t>、</a:t>
            </a:r>
            <a:r>
              <a:rPr lang="en-US" altLang="zh-CN" dirty="0">
                <a:latin typeface="Times New Roman" panose="02020603050405020304" charset="0"/>
                <a:ea typeface="微软雅黑" panose="020B0503020204020204" charset="-122"/>
                <a:cs typeface="Times New Roman" panose="02020603050405020304" charset="0"/>
              </a:rPr>
              <a:t>^</a:t>
            </a:r>
            <a:r>
              <a:rPr lang="zh-CN" altLang="en-US" dirty="0">
                <a:latin typeface="Times New Roman" panose="02020603050405020304" charset="0"/>
                <a:ea typeface="微软雅黑" panose="020B0503020204020204" charset="-122"/>
                <a:cs typeface="Times New Roman" panose="02020603050405020304" charset="0"/>
              </a:rPr>
              <a:t>、</a:t>
            </a:r>
            <a:r>
              <a:rPr lang="en-US" altLang="zh-CN" dirty="0">
                <a:latin typeface="Times New Roman" panose="02020603050405020304" charset="0"/>
                <a:ea typeface="微软雅黑" panose="020B0503020204020204" charset="-122"/>
                <a:cs typeface="Times New Roman" panose="02020603050405020304" charset="0"/>
              </a:rPr>
              <a:t>&gt;”</a:t>
            </a:r>
            <a:r>
              <a:rPr lang="zh-CN" altLang="en-US" dirty="0">
                <a:latin typeface="Times New Roman" panose="02020603050405020304" charset="0"/>
                <a:ea typeface="微软雅黑" panose="020B0503020204020204" charset="-122"/>
                <a:cs typeface="Times New Roman" panose="02020603050405020304" charset="0"/>
              </a:rPr>
              <a:t>组成的题目序列，并在点阵屏上依次展示。</a:t>
            </a:r>
            <a:endParaRPr lang="zh-CN" altLang="en-US" dirty="0">
              <a:latin typeface="Times New Roman" panose="02020603050405020304" charset="0"/>
              <a:ea typeface="微软雅黑" panose="020B0503020204020204" charset="-122"/>
              <a:cs typeface="Times New Roman" panose="02020603050405020304" charset="0"/>
            </a:endParaRPr>
          </a:p>
          <a:p>
            <a:pPr marL="1102995" indent="0" algn="l" rtl="0" eaLnBrk="0">
              <a:lnSpc>
                <a:spcPts val="2690"/>
              </a:lnSpc>
              <a:spcBef>
                <a:spcPts val="1140"/>
              </a:spcBef>
              <a:buFont typeface="+mj-lt"/>
              <a:buNone/>
            </a:pPr>
            <a:r>
              <a:rPr lang="zh-CN" altLang="en-US" dirty="0">
                <a:latin typeface="Times New Roman" panose="02020603050405020304" charset="0"/>
                <a:ea typeface="微软雅黑" panose="020B0503020204020204" charset="-122"/>
                <a:cs typeface="Times New Roman" panose="02020603050405020304" charset="0"/>
              </a:rPr>
              <a:t>（</a:t>
            </a:r>
            <a:r>
              <a:rPr lang="en-US" altLang="zh-CN" dirty="0">
                <a:latin typeface="Times New Roman" panose="02020603050405020304" charset="0"/>
                <a:ea typeface="微软雅黑" panose="020B0503020204020204" charset="-122"/>
                <a:cs typeface="Times New Roman" panose="02020603050405020304" charset="0"/>
              </a:rPr>
              <a:t>3</a:t>
            </a:r>
            <a:r>
              <a:rPr lang="zh-CN" altLang="en-US" dirty="0">
                <a:latin typeface="Times New Roman" panose="02020603050405020304" charset="0"/>
                <a:ea typeface="微软雅黑" panose="020B0503020204020204" charset="-122"/>
                <a:cs typeface="Times New Roman" panose="02020603050405020304" charset="0"/>
              </a:rPr>
              <a:t>）</a:t>
            </a:r>
            <a:r>
              <a:rPr lang="zh-CN" altLang="en-US" b="1" dirty="0">
                <a:solidFill>
                  <a:schemeClr val="accent1"/>
                </a:solidFill>
                <a:effectLst>
                  <a:outerShdw blurRad="38100" dist="25400" dir="5400000" algn="ctr" rotWithShape="0">
                    <a:srgbClr val="6E747A">
                      <a:alpha val="43000"/>
                    </a:srgbClr>
                  </a:outerShdw>
                </a:effectLst>
                <a:latin typeface="Times New Roman" panose="02020603050405020304" charset="0"/>
                <a:ea typeface="微软雅黑" panose="020B0503020204020204" charset="-122"/>
                <a:cs typeface="Times New Roman" panose="02020603050405020304" charset="0"/>
              </a:rPr>
              <a:t>实时交互反馈</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charset="0"/>
                <a:ea typeface="微软雅黑" panose="020B0503020204020204" charset="-122"/>
                <a:cs typeface="Times New Roman" panose="02020603050405020304" charset="0"/>
              </a:rPr>
              <a:t>：</a:t>
            </a:r>
            <a:r>
              <a:rPr lang="zh-CN" altLang="en-US" dirty="0">
                <a:latin typeface="Times New Roman" panose="02020603050405020304" charset="0"/>
                <a:ea typeface="微软雅黑" panose="020B0503020204020204" charset="-122"/>
                <a:cs typeface="Times New Roman" panose="02020603050405020304" charset="0"/>
              </a:rPr>
              <a:t>用户需按照记忆顺序按下对应按键（</a:t>
            </a:r>
            <a:r>
              <a:rPr lang="en-US" altLang="zh-CN" dirty="0">
                <a:latin typeface="Times New Roman" panose="02020603050405020304" charset="0"/>
                <a:ea typeface="微软雅黑" panose="020B0503020204020204" charset="-122"/>
                <a:cs typeface="Times New Roman" panose="02020603050405020304" charset="0"/>
              </a:rPr>
              <a:t>A1-A4</a:t>
            </a:r>
            <a:r>
              <a:rPr lang="zh-CN" altLang="en-US" dirty="0">
                <a:latin typeface="Times New Roman" panose="02020603050405020304" charset="0"/>
                <a:ea typeface="微软雅黑" panose="020B0503020204020204" charset="-122"/>
                <a:cs typeface="Times New Roman" panose="02020603050405020304" charset="0"/>
              </a:rPr>
              <a:t>）。系统需实时判断用户的每次输入是否正确。若用户全部输入正确，点阵屏显示</a:t>
            </a:r>
            <a:r>
              <a:rPr lang="en-US" altLang="zh-CN" dirty="0">
                <a:latin typeface="Times New Roman" panose="02020603050405020304" charset="0"/>
                <a:ea typeface="微软雅黑" panose="020B0503020204020204" charset="-122"/>
                <a:cs typeface="Times New Roman" panose="02020603050405020304" charset="0"/>
              </a:rPr>
              <a:t>“√”</a:t>
            </a:r>
            <a:r>
              <a:rPr lang="zh-CN" altLang="en-US" dirty="0">
                <a:latin typeface="Times New Roman" panose="02020603050405020304" charset="0"/>
                <a:ea typeface="微软雅黑" panose="020B0503020204020204" charset="-122"/>
                <a:cs typeface="Times New Roman" panose="02020603050405020304" charset="0"/>
              </a:rPr>
              <a:t>反馈，并自动进入下一关（增加题目长度）。若输入错误或时间耗尽，则结束当前训练。</a:t>
            </a:r>
            <a:endParaRPr lang="zh-CN" altLang="en-US" dirty="0">
              <a:latin typeface="Times New Roman" panose="02020603050405020304" charset="0"/>
              <a:ea typeface="微软雅黑" panose="020B0503020204020204" charset="-122"/>
              <a:cs typeface="Times New Roman" panose="02020603050405020304" charset="0"/>
            </a:endParaRPr>
          </a:p>
          <a:p>
            <a:pPr marL="1102995" indent="0" algn="l" rtl="0" eaLnBrk="0">
              <a:lnSpc>
                <a:spcPts val="2690"/>
              </a:lnSpc>
              <a:spcBef>
                <a:spcPts val="1140"/>
              </a:spcBef>
              <a:buFont typeface="+mj-lt"/>
              <a:buNone/>
            </a:pPr>
            <a:r>
              <a:rPr lang="zh-CN" altLang="en-US" dirty="0">
                <a:latin typeface="Times New Roman" panose="02020603050405020304" charset="0"/>
                <a:ea typeface="微软雅黑" panose="020B0503020204020204" charset="-122"/>
                <a:cs typeface="Times New Roman" panose="02020603050405020304" charset="0"/>
              </a:rPr>
              <a:t>（</a:t>
            </a:r>
            <a:r>
              <a:rPr lang="en-US" altLang="zh-CN" dirty="0">
                <a:latin typeface="Times New Roman" panose="02020603050405020304" charset="0"/>
                <a:ea typeface="微软雅黑" panose="020B0503020204020204" charset="-122"/>
                <a:cs typeface="Times New Roman" panose="02020603050405020304" charset="0"/>
              </a:rPr>
              <a:t>4</a:t>
            </a:r>
            <a:r>
              <a:rPr lang="zh-CN" altLang="en-US" dirty="0">
                <a:latin typeface="Times New Roman" panose="02020603050405020304" charset="0"/>
                <a:ea typeface="微软雅黑" panose="020B0503020204020204" charset="-122"/>
                <a:cs typeface="Times New Roman" panose="02020603050405020304" charset="0"/>
              </a:rPr>
              <a:t>）</a:t>
            </a:r>
            <a:r>
              <a:rPr lang="zh-CN" altLang="en-US" b="1" dirty="0">
                <a:solidFill>
                  <a:schemeClr val="accent1"/>
                </a:solidFill>
                <a:effectLst>
                  <a:outerShdw blurRad="38100" dist="25400" dir="5400000" algn="ctr" rotWithShape="0">
                    <a:srgbClr val="6E747A">
                      <a:alpha val="43000"/>
                    </a:srgbClr>
                  </a:outerShdw>
                </a:effectLst>
                <a:latin typeface="Times New Roman" panose="02020603050405020304" charset="0"/>
                <a:ea typeface="微软雅黑" panose="020B0503020204020204" charset="-122"/>
                <a:cs typeface="Times New Roman" panose="02020603050405020304" charset="0"/>
              </a:rPr>
              <a:t>训练得分云同步</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charset="0"/>
                <a:ea typeface="微软雅黑" panose="020B0503020204020204" charset="-122"/>
                <a:cs typeface="Times New Roman" panose="02020603050405020304" charset="0"/>
              </a:rPr>
              <a:t>：</a:t>
            </a:r>
            <a:r>
              <a:rPr lang="zh-CN" altLang="en-US" dirty="0">
                <a:latin typeface="Times New Roman" panose="02020603050405020304" charset="0"/>
                <a:ea typeface="微软雅黑" panose="020B0503020204020204" charset="-122"/>
                <a:cs typeface="Times New Roman" panose="02020603050405020304" charset="0"/>
              </a:rPr>
              <a:t>训练结束，将本次训练的最终得分（</a:t>
            </a:r>
            <a:r>
              <a:rPr lang="en-US" altLang="zh-CN" dirty="0">
                <a:latin typeface="Times New Roman" panose="02020603050405020304" charset="0"/>
                <a:ea typeface="微软雅黑" panose="020B0503020204020204" charset="-122"/>
                <a:cs typeface="Times New Roman" panose="02020603050405020304" charset="0"/>
              </a:rPr>
              <a:t>Score</a:t>
            </a:r>
            <a:r>
              <a:rPr lang="zh-CN" altLang="en-US" dirty="0">
                <a:latin typeface="Times New Roman" panose="02020603050405020304" charset="0"/>
                <a:ea typeface="微软雅黑" panose="020B0503020204020204" charset="-122"/>
                <a:cs typeface="Times New Roman" panose="02020603050405020304" charset="0"/>
              </a:rPr>
              <a:t>）通过</a:t>
            </a:r>
            <a:r>
              <a:rPr lang="en-US" altLang="zh-CN" dirty="0">
                <a:latin typeface="Times New Roman" panose="02020603050405020304" charset="0"/>
                <a:ea typeface="微软雅黑" panose="020B0503020204020204" charset="-122"/>
                <a:cs typeface="Times New Roman" panose="02020603050405020304" charset="0"/>
              </a:rPr>
              <a:t> MQTT </a:t>
            </a:r>
            <a:r>
              <a:rPr lang="zh-CN" altLang="en-US" dirty="0">
                <a:latin typeface="Times New Roman" panose="02020603050405020304" charset="0"/>
                <a:ea typeface="微软雅黑" panose="020B0503020204020204" charset="-122"/>
                <a:cs typeface="Times New Roman" panose="02020603050405020304" charset="0"/>
              </a:rPr>
              <a:t>协议上传至物联网服务平台。</a:t>
            </a:r>
            <a:r>
              <a:rPr lang="en-US" altLang="zh-CN" dirty="0">
                <a:latin typeface="Times New Roman" panose="02020603050405020304" charset="0"/>
                <a:ea typeface="微软雅黑" panose="020B0503020204020204" charset="-122"/>
                <a:cs typeface="Times New Roman" panose="02020603050405020304" charset="0"/>
              </a:rPr>
              <a:t> </a:t>
            </a:r>
            <a:endParaRPr lang="en-US" altLang="zh-CN" dirty="0">
              <a:latin typeface="Times New Roman" panose="02020603050405020304" charset="0"/>
              <a:ea typeface="微软雅黑" panose="020B0503020204020204" charset="-122"/>
              <a:cs typeface="Times New Roman" panose="02020603050405020304" charset="0"/>
            </a:endParaRPr>
          </a:p>
        </p:txBody>
      </p:sp>
      <p:pic>
        <p:nvPicPr>
          <p:cNvPr id="206" name="picture 206"/>
          <p:cNvPicPr>
            <a:picLocks noChangeAspect="1"/>
          </p:cNvPicPr>
          <p:nvPr/>
        </p:nvPicPr>
        <p:blipFill>
          <a:blip r:embed="rId2"/>
          <a:stretch>
            <a:fillRect/>
          </a:stretch>
        </p:blipFill>
        <p:spPr>
          <a:xfrm rot="21600000">
            <a:off x="1214554" y="1534618"/>
            <a:ext cx="180790" cy="282135"/>
          </a:xfrm>
          <a:prstGeom prst="rect">
            <a:avLst/>
          </a:prstGeom>
        </p:spPr>
      </p:pic>
      <p:sp>
        <p:nvSpPr>
          <p:cNvPr id="208" name="rect 208"/>
          <p:cNvSpPr/>
          <p:nvPr/>
        </p:nvSpPr>
        <p:spPr>
          <a:xfrm>
            <a:off x="0" y="6612635"/>
            <a:ext cx="12192000" cy="245364"/>
          </a:xfrm>
          <a:prstGeom prst="rect">
            <a:avLst/>
          </a:prstGeom>
          <a:solidFill>
            <a:srgbClr val="0371AE">
              <a:alpha val="100000"/>
            </a:srgbClr>
          </a:solidFill>
          <a:ln w="0" cap="flat">
            <a:noFill/>
            <a:prstDash val="solid"/>
            <a:miter lim="0"/>
          </a:ln>
        </p:spPr>
        <p:txBody>
          <a:bodyPr rtlCol="0"/>
          <a:lstStyle/>
          <a:p>
            <a:pPr algn="ctr"/>
            <a:endParaRPr lang="zh-CN" altLang="en-US"/>
          </a:p>
        </p:txBody>
      </p:sp>
      <p:pic>
        <p:nvPicPr>
          <p:cNvPr id="210" name="picture 210"/>
          <p:cNvPicPr>
            <a:picLocks noChangeAspect="1"/>
          </p:cNvPicPr>
          <p:nvPr/>
        </p:nvPicPr>
        <p:blipFill>
          <a:blip r:embed="rId3"/>
          <a:stretch>
            <a:fillRect/>
          </a:stretch>
        </p:blipFill>
        <p:spPr>
          <a:xfrm rot="21600000">
            <a:off x="4195571" y="0"/>
            <a:ext cx="7996427" cy="365759"/>
          </a:xfrm>
          <a:prstGeom prst="rect">
            <a:avLst/>
          </a:prstGeom>
        </p:spPr>
      </p:pic>
      <p:pic>
        <p:nvPicPr>
          <p:cNvPr id="214" name="picture 214"/>
          <p:cNvPicPr>
            <a:picLocks noChangeAspect="1"/>
          </p:cNvPicPr>
          <p:nvPr/>
        </p:nvPicPr>
        <p:blipFill>
          <a:blip r:embed="rId4"/>
          <a:stretch>
            <a:fillRect/>
          </a:stretch>
        </p:blipFill>
        <p:spPr>
          <a:xfrm rot="21600000">
            <a:off x="0" y="0"/>
            <a:ext cx="598931" cy="373379"/>
          </a:xfrm>
          <a:prstGeom prst="rect">
            <a:avLst/>
          </a:prstGeom>
        </p:spPr>
      </p:pic>
      <p:pic>
        <p:nvPicPr>
          <p:cNvPr id="216" name="picture 216"/>
          <p:cNvPicPr>
            <a:picLocks noChangeAspect="1"/>
          </p:cNvPicPr>
          <p:nvPr/>
        </p:nvPicPr>
        <p:blipFill>
          <a:blip r:embed="rId5"/>
          <a:stretch>
            <a:fillRect/>
          </a:stretch>
        </p:blipFill>
        <p:spPr>
          <a:xfrm rot="21600000">
            <a:off x="0" y="6579983"/>
            <a:ext cx="12179300" cy="12700"/>
          </a:xfrm>
          <a:prstGeom prst="rect">
            <a:avLst/>
          </a:prstGeom>
        </p:spPr>
      </p:pic>
      <p:sp>
        <p:nvSpPr>
          <p:cNvPr id="3" name="textbox 8"/>
          <p:cNvSpPr/>
          <p:nvPr/>
        </p:nvSpPr>
        <p:spPr>
          <a:xfrm>
            <a:off x="618825" y="67294"/>
            <a:ext cx="11393805" cy="270509"/>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100000"/>
              </a:lnSpc>
            </a:pPr>
            <a:r>
              <a:rPr sz="1600" b="1" kern="0" spc="-20" dirty="0">
                <a:solidFill>
                  <a:srgbClr val="000000">
                    <a:alpha val="100000"/>
                  </a:srgbClr>
                </a:solidFill>
                <a:latin typeface="黑体" panose="02010609060101010101" charset="-122"/>
                <a:ea typeface="黑体" panose="02010609060101010101" charset="-122"/>
                <a:cs typeface="黑体" panose="02010609060101010101" charset="-122"/>
              </a:rPr>
              <a:t>米思齐</a:t>
            </a:r>
            <a:r>
              <a:rPr 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课程作业</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600" b="1" kern="0" spc="-20" dirty="0">
                <a:solidFill>
                  <a:srgbClr val="000000">
                    <a:alpha val="100000"/>
                  </a:srgbClr>
                </a:solidFill>
                <a:latin typeface="黑体" panose="02010609060101010101" charset="-122"/>
                <a:ea typeface="黑体" panose="02010609060101010101" charset="-122"/>
                <a:cs typeface="黑体" panose="02010609060101010101" charset="-122"/>
              </a:rPr>
              <a:t>余天润</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202522039114</a:t>
            </a:r>
            <a:r>
              <a:rPr sz="1600" kern="0" spc="-20" dirty="0">
                <a:solidFill>
                  <a:srgbClr val="000000">
                    <a:alpha val="100000"/>
                  </a:srgbClr>
                </a:solidFill>
                <a:latin typeface="黑体" panose="02010609060101010101" charset="-122"/>
                <a:ea typeface="黑体" panose="02010609060101010101" charset="-122"/>
                <a:cs typeface="黑体" panose="02010609060101010101" charset="-122"/>
              </a:rPr>
              <a:t>                                        </a:t>
            </a:r>
            <a:endParaRPr sz="1400" dirty="0">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8" name="picture 218"/>
          <p:cNvPicPr>
            <a:picLocks noChangeAspect="1"/>
          </p:cNvPicPr>
          <p:nvPr/>
        </p:nvPicPr>
        <p:blipFill>
          <a:blip r:embed="rId1"/>
          <a:stretch>
            <a:fillRect/>
          </a:stretch>
        </p:blipFill>
        <p:spPr>
          <a:xfrm rot="21600000">
            <a:off x="0" y="0"/>
            <a:ext cx="12192000" cy="6858000"/>
          </a:xfrm>
          <a:prstGeom prst="rect">
            <a:avLst/>
          </a:prstGeom>
        </p:spPr>
      </p:pic>
      <p:graphicFrame>
        <p:nvGraphicFramePr>
          <p:cNvPr id="220" name="table 220"/>
          <p:cNvGraphicFramePr>
            <a:graphicFrameLocks noGrp="1"/>
          </p:cNvGraphicFramePr>
          <p:nvPr/>
        </p:nvGraphicFramePr>
        <p:xfrm>
          <a:off x="1775485" y="2166023"/>
          <a:ext cx="7774305" cy="2816860"/>
        </p:xfrm>
        <a:graphic>
          <a:graphicData uri="http://schemas.openxmlformats.org/drawingml/2006/table">
            <a:tbl>
              <a:tblPr/>
              <a:tblGrid>
                <a:gridCol w="2539364"/>
                <a:gridCol w="5234940"/>
              </a:tblGrid>
              <a:tr h="594359">
                <a:tc>
                  <a:txBody>
                    <a:bodyPr/>
                    <a:lstStyle/>
                    <a:p>
                      <a:pPr algn="l" rtl="0" eaLnBrk="0">
                        <a:lnSpc>
                          <a:spcPct val="117000"/>
                        </a:lnSpc>
                      </a:pPr>
                      <a:endParaRPr sz="1000" dirty="0">
                        <a:latin typeface="Arial" panose="020B0604020202020204"/>
                        <a:ea typeface="Arial" panose="020B0604020202020204"/>
                        <a:cs typeface="Arial" panose="020B0604020202020204"/>
                      </a:endParaRPr>
                    </a:p>
                    <a:p>
                      <a:pPr marL="770890" algn="l" rtl="0" eaLnBrk="0">
                        <a:lnSpc>
                          <a:spcPct val="87000"/>
                        </a:lnSpc>
                        <a:spcBef>
                          <a:spcPts val="0"/>
                        </a:spcBef>
                      </a:pPr>
                      <a:r>
                        <a:rPr sz="2000" b="1" kern="0" spc="-20" dirty="0">
                          <a:solidFill>
                            <a:srgbClr val="FFFFFF">
                              <a:alpha val="100000"/>
                            </a:srgbClr>
                          </a:solidFill>
                          <a:latin typeface="微软雅黑" panose="020B0503020204020204" charset="-122"/>
                          <a:ea typeface="微软雅黑" panose="020B0503020204020204" charset="-122"/>
                          <a:cs typeface="微软雅黑" panose="020B0503020204020204" charset="-122"/>
                        </a:rPr>
                        <a:t>需求环节</a:t>
                      </a:r>
                      <a:endParaRPr sz="20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solidFill>
                  </a:tcPr>
                </a:tc>
                <a:tc>
                  <a:txBody>
                    <a:bodyPr/>
                    <a:lstStyle/>
                    <a:p>
                      <a:pPr algn="l" rtl="0" eaLnBrk="0">
                        <a:lnSpc>
                          <a:spcPct val="117000"/>
                        </a:lnSpc>
                      </a:pPr>
                      <a:endParaRPr sz="10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2110105" algn="l" rtl="0" eaLnBrk="0">
                        <a:lnSpc>
                          <a:spcPct val="87000"/>
                        </a:lnSpc>
                      </a:pPr>
                      <a:r>
                        <a:rPr sz="2000" b="1" kern="0" spc="-10" dirty="0">
                          <a:solidFill>
                            <a:srgbClr val="FFFFFF">
                              <a:alpha val="100000"/>
                            </a:srgbClr>
                          </a:solidFill>
                          <a:latin typeface="微软雅黑" panose="020B0503020204020204" charset="-122"/>
                          <a:ea typeface="微软雅黑" panose="020B0503020204020204" charset="-122"/>
                          <a:cs typeface="微软雅黑" panose="020B0503020204020204" charset="-122"/>
                        </a:rPr>
                        <a:t>功能描述</a:t>
                      </a:r>
                      <a:endParaRPr sz="20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solidFill>
                  </a:tcPr>
                </a:tc>
              </a:tr>
              <a:tr h="519430">
                <a:tc>
                  <a:txBody>
                    <a:bodyPr/>
                    <a:lstStyle/>
                    <a:p>
                      <a:pPr algn="l" rtl="0" eaLnBrk="0">
                        <a:lnSpc>
                          <a:spcPct val="110000"/>
                        </a:lnSpc>
                      </a:pPr>
                      <a:endParaRPr sz="900" dirty="0">
                        <a:latin typeface="Arial" panose="020B0604020202020204"/>
                        <a:ea typeface="Arial" panose="020B0604020202020204"/>
                        <a:cs typeface="Arial" panose="020B0604020202020204"/>
                      </a:endParaRPr>
                    </a:p>
                    <a:p>
                      <a:pPr marL="817880" algn="l" rtl="0" eaLnBrk="0">
                        <a:lnSpc>
                          <a:spcPct val="88000"/>
                        </a:lnSpc>
                        <a:spcBef>
                          <a:spcPts val="5"/>
                        </a:spcBef>
                      </a:pPr>
                      <a:r>
                        <a:rPr sz="17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采集数据</a:t>
                      </a:r>
                      <a:endParaRPr sz="17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r>
              <a:tr h="588644">
                <a:tc>
                  <a:txBody>
                    <a:bodyPr/>
                    <a:lstStyle/>
                    <a:p>
                      <a:pPr algn="l" rtl="0" eaLnBrk="0">
                        <a:lnSpc>
                          <a:spcPct val="122000"/>
                        </a:lnSpc>
                      </a:pPr>
                      <a:endParaRPr sz="1000" dirty="0">
                        <a:latin typeface="Arial" panose="020B0604020202020204"/>
                        <a:ea typeface="Arial" panose="020B0604020202020204"/>
                        <a:cs typeface="Arial" panose="020B0604020202020204"/>
                      </a:endParaRPr>
                    </a:p>
                    <a:p>
                      <a:pPr marL="475615" algn="l" rtl="0" eaLnBrk="0">
                        <a:lnSpc>
                          <a:spcPct val="88000"/>
                        </a:lnSpc>
                      </a:pPr>
                      <a:r>
                        <a:rPr sz="17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传输与存储数据</a:t>
                      </a:r>
                      <a:endParaRPr sz="17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r>
              <a:tr h="588644">
                <a:tc>
                  <a:txBody>
                    <a:bodyPr/>
                    <a:lstStyle/>
                    <a:p>
                      <a:pPr algn="l" rtl="0" eaLnBrk="0">
                        <a:lnSpc>
                          <a:spcPct val="122000"/>
                        </a:lnSpc>
                      </a:pPr>
                      <a:endParaRPr sz="1000" dirty="0">
                        <a:latin typeface="Arial" panose="020B0604020202020204"/>
                        <a:ea typeface="Arial" panose="020B0604020202020204"/>
                        <a:cs typeface="Arial" panose="020B0604020202020204"/>
                      </a:endParaRPr>
                    </a:p>
                    <a:p>
                      <a:pPr marL="588010" algn="l" rtl="0" eaLnBrk="0">
                        <a:lnSpc>
                          <a:spcPct val="88000"/>
                        </a:lnSpc>
                      </a:pPr>
                      <a:r>
                        <a:rPr sz="17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分析处理数据</a:t>
                      </a:r>
                      <a:endParaRPr sz="17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r>
              <a:tr h="525779">
                <a:tc>
                  <a:txBody>
                    <a:bodyPr/>
                    <a:lstStyle/>
                    <a:p>
                      <a:pPr algn="l" rtl="0" eaLnBrk="0">
                        <a:lnSpc>
                          <a:spcPct val="110000"/>
                        </a:lnSpc>
                      </a:pPr>
                      <a:endParaRPr sz="900" dirty="0">
                        <a:latin typeface="Arial" panose="020B0604020202020204"/>
                        <a:ea typeface="Arial" panose="020B0604020202020204"/>
                        <a:cs typeface="Arial" panose="020B0604020202020204"/>
                      </a:endParaRPr>
                    </a:p>
                    <a:p>
                      <a:pPr marL="702945" algn="l" rtl="0" eaLnBrk="0">
                        <a:lnSpc>
                          <a:spcPct val="88000"/>
                        </a:lnSpc>
                        <a:spcBef>
                          <a:spcPts val="5"/>
                        </a:spcBef>
                      </a:pPr>
                      <a:r>
                        <a:rPr sz="17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反馈与控制</a:t>
                      </a:r>
                      <a:endParaRPr sz="17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r>
            </a:tbl>
          </a:graphicData>
        </a:graphic>
      </p:graphicFrame>
      <p:sp>
        <p:nvSpPr>
          <p:cNvPr id="222" name="path 222"/>
          <p:cNvSpPr/>
          <p:nvPr/>
        </p:nvSpPr>
        <p:spPr>
          <a:xfrm>
            <a:off x="339852" y="807720"/>
            <a:ext cx="585216" cy="364235"/>
          </a:xfrm>
          <a:custGeom>
            <a:avLst/>
            <a:gdLst/>
            <a:ahLst/>
            <a:cxnLst/>
            <a:rect l="0" t="0" r="0" b="0"/>
            <a:pathLst>
              <a:path w="921" h="573">
                <a:moveTo>
                  <a:pt x="0" y="0"/>
                </a:moveTo>
                <a:lnTo>
                  <a:pt x="739" y="0"/>
                </a:lnTo>
                <a:lnTo>
                  <a:pt x="921" y="287"/>
                </a:lnTo>
                <a:lnTo>
                  <a:pt x="739" y="573"/>
                </a:lnTo>
                <a:lnTo>
                  <a:pt x="0" y="573"/>
                </a:lnTo>
                <a:lnTo>
                  <a:pt x="0" y="0"/>
                </a:lnTo>
              </a:path>
            </a:pathLst>
          </a:custGeom>
          <a:solidFill>
            <a:srgbClr val="ED7D31">
              <a:alpha val="100000"/>
            </a:srgbClr>
          </a:solidFill>
          <a:ln w="0" cap="flat">
            <a:noFill/>
            <a:prstDash val="solid"/>
            <a:miter lim="0"/>
          </a:ln>
        </p:spPr>
        <p:txBody>
          <a:bodyPr rtlCol="0"/>
          <a:lstStyle/>
          <a:p>
            <a:pPr algn="ctr"/>
            <a:endParaRPr lang="zh-CN" altLang="en-US"/>
          </a:p>
        </p:txBody>
      </p:sp>
      <p:sp>
        <p:nvSpPr>
          <p:cNvPr id="224" name="textbox 224"/>
          <p:cNvSpPr/>
          <p:nvPr/>
        </p:nvSpPr>
        <p:spPr>
          <a:xfrm>
            <a:off x="497840" y="860425"/>
            <a:ext cx="9952355" cy="98234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a:ea typeface="Arial" panose="020B0604020202020204"/>
              <a:cs typeface="Arial" panose="020B0604020202020204"/>
            </a:endParaRPr>
          </a:p>
          <a:p>
            <a:pPr marL="12700" algn="l" rtl="0" eaLnBrk="0">
              <a:lnSpc>
                <a:spcPct val="87000"/>
              </a:lnSpc>
            </a:pPr>
            <a:r>
              <a:rPr sz="3600" b="1" kern="0" spc="50" baseline="12000" dirty="0">
                <a:solidFill>
                  <a:srgbClr val="FFFFFF">
                    <a:alpha val="100000"/>
                  </a:srgbClr>
                </a:solidFill>
                <a:latin typeface="Times New Roman" panose="02020603050405020304"/>
                <a:ea typeface="Times New Roman" panose="02020603050405020304"/>
                <a:cs typeface="Times New Roman" panose="02020603050405020304"/>
              </a:rPr>
              <a:t>2</a:t>
            </a:r>
            <a:r>
              <a:rPr sz="2300" b="1" kern="0" spc="50" dirty="0">
                <a:solidFill>
                  <a:srgbClr val="FFFFFF">
                    <a:alpha val="100000"/>
                  </a:srgbClr>
                </a:solidFill>
                <a:latin typeface="Times New Roman" panose="02020603050405020304"/>
                <a:ea typeface="Times New Roman" panose="02020603050405020304"/>
                <a:cs typeface="Times New Roman" panose="02020603050405020304"/>
              </a:rPr>
              <a:t>       </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rPr>
              <a:t>记忆守护：</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rPr>
              <a:t>阿尔兹海默症预防</a:t>
            </a:r>
            <a:r>
              <a:rPr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rPr>
              <a:t>系统实践</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22000"/>
              </a:lnSpc>
            </a:pPr>
            <a:endParaRPr sz="1000" dirty="0">
              <a:latin typeface="Arial" panose="020B0604020202020204"/>
              <a:ea typeface="Arial" panose="020B0604020202020204"/>
              <a:cs typeface="Arial" panose="020B0604020202020204"/>
            </a:endParaRPr>
          </a:p>
          <a:p>
            <a:pPr algn="l" rtl="0" eaLnBrk="0">
              <a:lnSpc>
                <a:spcPct val="100000"/>
              </a:lnSpc>
            </a:pPr>
            <a:endParaRPr sz="500" dirty="0">
              <a:latin typeface="Arial" panose="020B0604020202020204"/>
              <a:ea typeface="Arial" panose="020B0604020202020204"/>
              <a:cs typeface="Arial" panose="020B0604020202020204"/>
            </a:endParaRPr>
          </a:p>
          <a:p>
            <a:pPr marL="726440" algn="l" rtl="0" eaLnBrk="0">
              <a:lnSpc>
                <a:spcPts val="2645"/>
              </a:lnSpc>
              <a:spcBef>
                <a:spcPts val="0"/>
              </a:spcBef>
              <a:tabLst>
                <a:tab pos="906780" algn="l"/>
              </a:tabLst>
            </a:pP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54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具体任务2: </a:t>
            </a:r>
            <a:r>
              <a:rPr lang="en-US"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分析</a:t>
            </a:r>
            <a:r>
              <a:rPr lang="zh-CN" altLang="en-US" sz="2000" b="1" kern="0" dirty="0">
                <a:solidFill>
                  <a:srgbClr val="5B9BD5">
                    <a:alpha val="100000"/>
                  </a:srgbClr>
                </a:solidFill>
                <a:latin typeface="微软雅黑" panose="020B0503020204020204" charset="-122"/>
                <a:ea typeface="微软雅黑" panose="020B0503020204020204" charset="-122"/>
                <a:cs typeface="微软雅黑" panose="020B0503020204020204" charset="-122"/>
                <a:sym typeface="+mn-ea"/>
              </a:rPr>
              <a:t>记忆守护：</a:t>
            </a:r>
            <a:r>
              <a:rPr lang="zh-CN" altLang="en-US" sz="2000" b="1" kern="0" dirty="0">
                <a:solidFill>
                  <a:srgbClr val="5B9BD5">
                    <a:alpha val="100000"/>
                  </a:srgbClr>
                </a:solidFill>
                <a:latin typeface="微软雅黑" panose="020B0503020204020204" charset="-122"/>
                <a:ea typeface="微软雅黑" panose="020B0503020204020204" charset="-122"/>
                <a:cs typeface="微软雅黑" panose="020B0503020204020204" charset="-122"/>
                <a:sym typeface="+mn-ea"/>
              </a:rPr>
              <a:t>阿尔兹海默症预防</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系</a:t>
            </a:r>
            <a:r>
              <a:rPr sz="2000" b="1" kern="0" spc="-10" dirty="0">
                <a:solidFill>
                  <a:srgbClr val="5B9BD5">
                    <a:alpha val="100000"/>
                  </a:srgbClr>
                </a:solidFill>
                <a:latin typeface="微软雅黑" panose="020B0503020204020204" charset="-122"/>
                <a:ea typeface="微软雅黑" panose="020B0503020204020204" charset="-122"/>
                <a:cs typeface="微软雅黑" panose="020B0503020204020204" charset="-122"/>
              </a:rPr>
              <a:t>统的功能需求</a:t>
            </a:r>
            <a:endParaRPr sz="2000" dirty="0">
              <a:latin typeface="微软雅黑" panose="020B0503020204020204" charset="-122"/>
              <a:ea typeface="微软雅黑" panose="020B0503020204020204" charset="-122"/>
              <a:cs typeface="微软雅黑" panose="020B0503020204020204" charset="-122"/>
            </a:endParaRPr>
          </a:p>
        </p:txBody>
      </p:sp>
      <p:pic>
        <p:nvPicPr>
          <p:cNvPr id="226" name="picture 226"/>
          <p:cNvPicPr>
            <a:picLocks noChangeAspect="1"/>
          </p:cNvPicPr>
          <p:nvPr/>
        </p:nvPicPr>
        <p:blipFill>
          <a:blip r:embed="rId2"/>
          <a:stretch>
            <a:fillRect/>
          </a:stretch>
        </p:blipFill>
        <p:spPr>
          <a:xfrm rot="21600000">
            <a:off x="1224714" y="1534618"/>
            <a:ext cx="180790" cy="282135"/>
          </a:xfrm>
          <a:prstGeom prst="rect">
            <a:avLst/>
          </a:prstGeom>
        </p:spPr>
      </p:pic>
      <p:sp>
        <p:nvSpPr>
          <p:cNvPr id="228" name="rect 228"/>
          <p:cNvSpPr/>
          <p:nvPr/>
        </p:nvSpPr>
        <p:spPr>
          <a:xfrm>
            <a:off x="0" y="6612635"/>
            <a:ext cx="12192000" cy="245364"/>
          </a:xfrm>
          <a:prstGeom prst="rect">
            <a:avLst/>
          </a:prstGeom>
          <a:solidFill>
            <a:srgbClr val="0371AE">
              <a:alpha val="100000"/>
            </a:srgbClr>
          </a:solidFill>
          <a:ln w="0" cap="flat">
            <a:noFill/>
            <a:prstDash val="solid"/>
            <a:miter lim="0"/>
          </a:ln>
        </p:spPr>
        <p:txBody>
          <a:bodyPr rtlCol="0"/>
          <a:lstStyle/>
          <a:p>
            <a:pPr algn="ctr"/>
            <a:endParaRPr lang="zh-CN" altLang="en-US"/>
          </a:p>
        </p:txBody>
      </p:sp>
      <p:pic>
        <p:nvPicPr>
          <p:cNvPr id="230" name="picture 230"/>
          <p:cNvPicPr>
            <a:picLocks noChangeAspect="1"/>
          </p:cNvPicPr>
          <p:nvPr/>
        </p:nvPicPr>
        <p:blipFill>
          <a:blip r:embed="rId3"/>
          <a:stretch>
            <a:fillRect/>
          </a:stretch>
        </p:blipFill>
        <p:spPr>
          <a:xfrm rot="21600000">
            <a:off x="4195571" y="0"/>
            <a:ext cx="7996427" cy="365759"/>
          </a:xfrm>
          <a:prstGeom prst="rect">
            <a:avLst/>
          </a:prstGeom>
        </p:spPr>
      </p:pic>
      <p:pic>
        <p:nvPicPr>
          <p:cNvPr id="234" name="picture 234"/>
          <p:cNvPicPr>
            <a:picLocks noChangeAspect="1"/>
          </p:cNvPicPr>
          <p:nvPr/>
        </p:nvPicPr>
        <p:blipFill>
          <a:blip r:embed="rId4"/>
          <a:stretch>
            <a:fillRect/>
          </a:stretch>
        </p:blipFill>
        <p:spPr>
          <a:xfrm rot="21600000">
            <a:off x="0" y="0"/>
            <a:ext cx="598931" cy="373379"/>
          </a:xfrm>
          <a:prstGeom prst="rect">
            <a:avLst/>
          </a:prstGeom>
        </p:spPr>
      </p:pic>
      <p:pic>
        <p:nvPicPr>
          <p:cNvPr id="236" name="picture 236"/>
          <p:cNvPicPr>
            <a:picLocks noChangeAspect="1"/>
          </p:cNvPicPr>
          <p:nvPr/>
        </p:nvPicPr>
        <p:blipFill>
          <a:blip r:embed="rId5"/>
          <a:stretch>
            <a:fillRect/>
          </a:stretch>
        </p:blipFill>
        <p:spPr>
          <a:xfrm rot="21600000">
            <a:off x="0" y="6579983"/>
            <a:ext cx="12179300" cy="12700"/>
          </a:xfrm>
          <a:prstGeom prst="rect">
            <a:avLst/>
          </a:prstGeom>
        </p:spPr>
      </p:pic>
      <p:sp>
        <p:nvSpPr>
          <p:cNvPr id="3" name="textbox 8"/>
          <p:cNvSpPr/>
          <p:nvPr/>
        </p:nvSpPr>
        <p:spPr>
          <a:xfrm>
            <a:off x="618825" y="67294"/>
            <a:ext cx="11393805" cy="270509"/>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100000"/>
              </a:lnSpc>
            </a:pPr>
            <a:r>
              <a:rPr sz="1600" b="1" kern="0" spc="-20" dirty="0">
                <a:solidFill>
                  <a:srgbClr val="000000">
                    <a:alpha val="100000"/>
                  </a:srgbClr>
                </a:solidFill>
                <a:latin typeface="黑体" panose="02010609060101010101" charset="-122"/>
                <a:ea typeface="黑体" panose="02010609060101010101" charset="-122"/>
                <a:cs typeface="黑体" panose="02010609060101010101" charset="-122"/>
              </a:rPr>
              <a:t>米思齐</a:t>
            </a:r>
            <a:r>
              <a:rPr 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课程作业</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600" b="1" kern="0" spc="-20" dirty="0">
                <a:solidFill>
                  <a:srgbClr val="000000">
                    <a:alpha val="100000"/>
                  </a:srgbClr>
                </a:solidFill>
                <a:latin typeface="黑体" panose="02010609060101010101" charset="-122"/>
                <a:ea typeface="黑体" panose="02010609060101010101" charset="-122"/>
                <a:cs typeface="黑体" panose="02010609060101010101" charset="-122"/>
              </a:rPr>
              <a:t>余天润</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202522039114</a:t>
            </a:r>
            <a:r>
              <a:rPr sz="1600" kern="0" spc="-20" dirty="0">
                <a:solidFill>
                  <a:srgbClr val="000000">
                    <a:alpha val="100000"/>
                  </a:srgbClr>
                </a:solidFill>
                <a:latin typeface="黑体" panose="02010609060101010101" charset="-122"/>
                <a:ea typeface="黑体" panose="02010609060101010101" charset="-122"/>
                <a:cs typeface="黑体" panose="02010609060101010101" charset="-122"/>
              </a:rPr>
              <a:t>                                        </a:t>
            </a:r>
            <a:endParaRPr sz="1400" dirty="0">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8" name="picture 238"/>
          <p:cNvPicPr>
            <a:picLocks noChangeAspect="1"/>
          </p:cNvPicPr>
          <p:nvPr/>
        </p:nvPicPr>
        <p:blipFill>
          <a:blip r:embed="rId1"/>
          <a:stretch>
            <a:fillRect/>
          </a:stretch>
        </p:blipFill>
        <p:spPr>
          <a:xfrm rot="21600000">
            <a:off x="0" y="0"/>
            <a:ext cx="12192000" cy="6858000"/>
          </a:xfrm>
          <a:prstGeom prst="rect">
            <a:avLst/>
          </a:prstGeom>
        </p:spPr>
      </p:pic>
      <p:graphicFrame>
        <p:nvGraphicFramePr>
          <p:cNvPr id="240" name="table 240"/>
          <p:cNvGraphicFramePr>
            <a:graphicFrameLocks noGrp="1"/>
          </p:cNvGraphicFramePr>
          <p:nvPr/>
        </p:nvGraphicFramePr>
        <p:xfrm>
          <a:off x="1775460" y="2165985"/>
          <a:ext cx="8943340" cy="3829050"/>
        </p:xfrm>
        <a:graphic>
          <a:graphicData uri="http://schemas.openxmlformats.org/drawingml/2006/table">
            <a:tbl>
              <a:tblPr/>
              <a:tblGrid>
                <a:gridCol w="1992630"/>
                <a:gridCol w="6950710"/>
              </a:tblGrid>
              <a:tr h="598805">
                <a:tc>
                  <a:txBody>
                    <a:bodyPr/>
                    <a:lstStyle/>
                    <a:p>
                      <a:pPr algn="ctr" rtl="0" eaLnBrk="0">
                        <a:lnSpc>
                          <a:spcPct val="150000"/>
                        </a:lnSpc>
                      </a:pPr>
                      <a:r>
                        <a:rPr sz="2000" b="1" kern="0" spc="-20" dirty="0">
                          <a:solidFill>
                            <a:srgbClr val="FFFFFF">
                              <a:alpha val="100000"/>
                            </a:srgbClr>
                          </a:solidFill>
                          <a:latin typeface="微软雅黑" panose="020B0503020204020204" charset="-122"/>
                          <a:ea typeface="微软雅黑" panose="020B0503020204020204" charset="-122"/>
                          <a:cs typeface="微软雅黑" panose="020B0503020204020204" charset="-122"/>
                        </a:rPr>
                        <a:t>需求环节</a:t>
                      </a:r>
                      <a:endParaRPr sz="2000" dirty="0">
                        <a:latin typeface="微软雅黑" panose="020B0503020204020204" charset="-122"/>
                        <a:ea typeface="微软雅黑" panose="020B0503020204020204" charset="-122"/>
                        <a:cs typeface="微软雅黑" panose="020B0503020204020204" charset="-122"/>
                      </a:endParaRPr>
                    </a:p>
                  </a:txBody>
                  <a:tcPr marL="0" marR="0" marT="0" marB="0" vert="horz"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solidFill>
                  </a:tcPr>
                </a:tc>
                <a:tc>
                  <a:txBody>
                    <a:bodyPr/>
                    <a:lstStyle/>
                    <a:p>
                      <a:pPr algn="ctr" rtl="0" eaLnBrk="0">
                        <a:lnSpc>
                          <a:spcPct val="151000"/>
                        </a:lnSpc>
                      </a:pPr>
                      <a:r>
                        <a:rPr sz="2000" b="1" kern="0" spc="-10" dirty="0">
                          <a:solidFill>
                            <a:srgbClr val="FFFFFF">
                              <a:alpha val="100000"/>
                            </a:srgbClr>
                          </a:solidFill>
                          <a:latin typeface="微软雅黑" panose="020B0503020204020204" charset="-122"/>
                          <a:ea typeface="微软雅黑" panose="020B0503020204020204" charset="-122"/>
                          <a:cs typeface="微软雅黑" panose="020B0503020204020204" charset="-122"/>
                        </a:rPr>
                        <a:t>功能描述</a:t>
                      </a:r>
                      <a:endParaRPr sz="2000" dirty="0">
                        <a:latin typeface="微软雅黑" panose="020B0503020204020204" charset="-122"/>
                        <a:ea typeface="微软雅黑" panose="020B0503020204020204" charset="-122"/>
                        <a:cs typeface="微软雅黑" panose="020B0503020204020204" charset="-122"/>
                      </a:endParaRPr>
                    </a:p>
                  </a:txBody>
                  <a:tcPr marL="0" marR="0" marT="0" marB="0" vert="horz"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solidFill>
                  </a:tcPr>
                </a:tc>
              </a:tr>
              <a:tr h="614045">
                <a:tc>
                  <a:txBody>
                    <a:bodyPr/>
                    <a:lstStyle/>
                    <a:p>
                      <a:pPr algn="ctr" rtl="0" eaLnBrk="0">
                        <a:lnSpc>
                          <a:spcPct val="129000"/>
                        </a:lnSpc>
                      </a:pPr>
                      <a:r>
                        <a:rPr sz="17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采集数据</a:t>
                      </a:r>
                      <a:endParaRPr sz="1700" dirty="0">
                        <a:latin typeface="微软雅黑" panose="020B0503020204020204" charset="-122"/>
                        <a:ea typeface="微软雅黑" panose="020B0503020204020204" charset="-122"/>
                        <a:cs typeface="微软雅黑" panose="020B0503020204020204" charset="-122"/>
                      </a:endParaRPr>
                    </a:p>
                  </a:txBody>
                  <a:tcPr marL="0" marR="0" marT="0" marB="0" vert="horz"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ctr" rtl="0" eaLnBrk="0">
                        <a:lnSpc>
                          <a:spcPct val="133000"/>
                        </a:lnSpc>
                      </a:pPr>
                      <a:r>
                        <a:rPr lang="zh-CN" altLang="en-US" sz="1800" dirty="0">
                          <a:latin typeface="Times New Roman" panose="02020603050405020304" charset="0"/>
                          <a:ea typeface="微软雅黑" panose="020B0503020204020204" charset="-122"/>
                          <a:cs typeface="Times New Roman" panose="02020603050405020304" charset="0"/>
                          <a:sym typeface="+mn-ea"/>
                        </a:rPr>
                        <a:t>通过</a:t>
                      </a:r>
                      <a:r>
                        <a:rPr lang="en-US" altLang="zh-CN" sz="1800" dirty="0">
                          <a:latin typeface="Times New Roman" panose="02020603050405020304" charset="0"/>
                          <a:ea typeface="微软雅黑" panose="020B0503020204020204" charset="-122"/>
                          <a:cs typeface="Times New Roman" panose="02020603050405020304" charset="0"/>
                          <a:sym typeface="+mn-ea"/>
                        </a:rPr>
                        <a:t> A1-A4 </a:t>
                      </a:r>
                      <a:r>
                        <a:rPr lang="zh-CN" altLang="en-US" sz="1800" dirty="0">
                          <a:latin typeface="Times New Roman" panose="02020603050405020304" charset="0"/>
                          <a:ea typeface="微软雅黑" panose="020B0503020204020204" charset="-122"/>
                          <a:cs typeface="Times New Roman" panose="02020603050405020304" charset="0"/>
                          <a:sym typeface="+mn-ea"/>
                        </a:rPr>
                        <a:t>按键采集用户对记忆序列的反馈输入</a:t>
                      </a:r>
                      <a:r>
                        <a:rPr sz="1800" kern="0" spc="80" dirty="0">
                          <a:solidFill>
                            <a:srgbClr val="000000">
                              <a:alpha val="100000"/>
                            </a:srgbClr>
                          </a:solidFill>
                          <a:latin typeface="Times New Roman" panose="02020603050405020304" charset="0"/>
                          <a:ea typeface="微软雅黑" panose="020B0503020204020204" charset="-122"/>
                          <a:cs typeface="Times New Roman" panose="02020603050405020304" charset="0"/>
                        </a:rPr>
                        <a:t>。</a:t>
                      </a:r>
                      <a:endParaRPr sz="1800" dirty="0">
                        <a:latin typeface="Times New Roman" panose="02020603050405020304" charset="0"/>
                        <a:ea typeface="微软雅黑" panose="020B0503020204020204" charset="-122"/>
                        <a:cs typeface="Times New Roman" panose="02020603050405020304" charset="0"/>
                      </a:endParaRPr>
                    </a:p>
                  </a:txBody>
                  <a:tcPr marL="0" marR="0" marT="0" marB="0" vert="horz"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r>
              <a:tr h="767715">
                <a:tc>
                  <a:txBody>
                    <a:bodyPr/>
                    <a:lstStyle/>
                    <a:p>
                      <a:pPr algn="ctr" rtl="0" eaLnBrk="0">
                        <a:lnSpc>
                          <a:spcPct val="129000"/>
                        </a:lnSpc>
                      </a:pPr>
                      <a:r>
                        <a:rPr sz="17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传输与存储数据</a:t>
                      </a:r>
                      <a:endParaRPr sz="1700" dirty="0">
                        <a:latin typeface="微软雅黑" panose="020B0503020204020204" charset="-122"/>
                        <a:ea typeface="微软雅黑" panose="020B0503020204020204" charset="-122"/>
                        <a:cs typeface="微软雅黑" panose="020B0503020204020204" charset="-122"/>
                      </a:endParaRPr>
                    </a:p>
                  </a:txBody>
                  <a:tcPr marL="0" marR="0" marT="0" marB="0" vert="horz"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ctr" rtl="0" eaLnBrk="0">
                        <a:lnSpc>
                          <a:spcPct val="123000"/>
                        </a:lnSpc>
                      </a:pPr>
                      <a:r>
                        <a:rPr lang="zh-CN" altLang="en-US" sz="1800" dirty="0">
                          <a:latin typeface="Times New Roman" panose="02020603050405020304" charset="0"/>
                          <a:ea typeface="微软雅黑" panose="020B0503020204020204" charset="-122"/>
                          <a:cs typeface="Times New Roman" panose="02020603050405020304" charset="0"/>
                          <a:sym typeface="+mn-ea"/>
                        </a:rPr>
                        <a:t>使用</a:t>
                      </a:r>
                      <a:r>
                        <a:rPr lang="en-US" altLang="zh-CN" sz="1800" dirty="0">
                          <a:latin typeface="Times New Roman" panose="02020603050405020304" charset="0"/>
                          <a:ea typeface="微软雅黑" panose="020B0503020204020204" charset="-122"/>
                          <a:cs typeface="Times New Roman" panose="02020603050405020304" charset="0"/>
                          <a:sym typeface="+mn-ea"/>
                        </a:rPr>
                        <a:t> MQTT </a:t>
                      </a:r>
                      <a:r>
                        <a:rPr lang="zh-CN" altLang="en-US" sz="1800" dirty="0">
                          <a:latin typeface="Times New Roman" panose="02020603050405020304" charset="0"/>
                          <a:ea typeface="微软雅黑" panose="020B0503020204020204" charset="-122"/>
                          <a:cs typeface="Times New Roman" panose="02020603050405020304" charset="0"/>
                          <a:sym typeface="+mn-ea"/>
                        </a:rPr>
                        <a:t>协议将训练产生的</a:t>
                      </a:r>
                      <a:r>
                        <a:rPr lang="en-US" altLang="zh-CN" sz="1800" dirty="0">
                          <a:latin typeface="Times New Roman" panose="02020603050405020304" charset="0"/>
                          <a:ea typeface="微软雅黑" panose="020B0503020204020204" charset="-122"/>
                          <a:cs typeface="Times New Roman" panose="02020603050405020304" charset="0"/>
                          <a:sym typeface="+mn-ea"/>
                        </a:rPr>
                        <a:t> Score</a:t>
                      </a:r>
                      <a:r>
                        <a:rPr lang="zh-CN" altLang="en-US" sz="1800" dirty="0">
                          <a:latin typeface="Times New Roman" panose="02020603050405020304" charset="0"/>
                          <a:ea typeface="微软雅黑" panose="020B0503020204020204" charset="-122"/>
                          <a:cs typeface="Times New Roman" panose="02020603050405020304" charset="0"/>
                          <a:sym typeface="+mn-ea"/>
                        </a:rPr>
                        <a:t>（得分）发布到物联网服务器</a:t>
                      </a:r>
                      <a:r>
                        <a:rPr sz="1800" kern="0" spc="70" dirty="0">
                          <a:solidFill>
                            <a:srgbClr val="000000">
                              <a:alpha val="100000"/>
                            </a:srgbClr>
                          </a:solidFill>
                          <a:latin typeface="Times New Roman" panose="02020603050405020304" charset="0"/>
                          <a:ea typeface="微软雅黑" panose="020B0503020204020204" charset="-122"/>
                          <a:cs typeface="Times New Roman" panose="02020603050405020304" charset="0"/>
                        </a:rPr>
                        <a:t>。</a:t>
                      </a:r>
                      <a:endParaRPr sz="1800" dirty="0">
                        <a:latin typeface="Times New Roman" panose="02020603050405020304" charset="0"/>
                        <a:ea typeface="微软雅黑" panose="020B0503020204020204" charset="-122"/>
                        <a:cs typeface="Times New Roman" panose="02020603050405020304" charset="0"/>
                      </a:endParaRPr>
                    </a:p>
                  </a:txBody>
                  <a:tcPr marL="0" marR="0" marT="0" marB="0" vert="horz"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r>
              <a:tr h="920750">
                <a:tc>
                  <a:txBody>
                    <a:bodyPr/>
                    <a:lstStyle/>
                    <a:p>
                      <a:pPr algn="ctr" rtl="0" eaLnBrk="0">
                        <a:lnSpc>
                          <a:spcPct val="129000"/>
                        </a:lnSpc>
                      </a:pPr>
                      <a:endParaRPr sz="1000" dirty="0">
                        <a:latin typeface="Arial" panose="020B0604020202020204"/>
                        <a:ea typeface="Arial" panose="020B0604020202020204"/>
                        <a:cs typeface="Arial" panose="020B0604020202020204"/>
                      </a:endParaRPr>
                    </a:p>
                    <a:p>
                      <a:pPr algn="ctr" rtl="0" eaLnBrk="0">
                        <a:lnSpc>
                          <a:spcPct val="129000"/>
                        </a:lnSpc>
                      </a:pPr>
                      <a:r>
                        <a:rPr sz="17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分析处理数据</a:t>
                      </a:r>
                      <a:endParaRPr sz="1700" dirty="0">
                        <a:latin typeface="微软雅黑" panose="020B0503020204020204" charset="-122"/>
                        <a:ea typeface="微软雅黑" panose="020B0503020204020204" charset="-122"/>
                        <a:cs typeface="微软雅黑" panose="020B0503020204020204" charset="-122"/>
                      </a:endParaRPr>
                    </a:p>
                  </a:txBody>
                  <a:tcPr marL="0" marR="0" marT="0" marB="0" vert="horz"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ctr" rtl="0" eaLnBrk="0">
                        <a:lnSpc>
                          <a:spcPct val="100000"/>
                        </a:lnSpc>
                      </a:pPr>
                      <a:r>
                        <a:rPr lang="zh-CN" altLang="en-US" sz="1800" dirty="0">
                          <a:latin typeface="Times New Roman" panose="02020603050405020304" charset="0"/>
                          <a:ea typeface="微软雅黑" panose="020B0503020204020204" charset="-122"/>
                          <a:cs typeface="微软雅黑" panose="020B0503020204020204" charset="-122"/>
                          <a:sym typeface="+mn-ea"/>
                        </a:rPr>
                        <a:t>主控板随机生成题目序列，并实时判定用户输入是否与题目序列吻合</a:t>
                      </a:r>
                      <a:r>
                        <a:rPr sz="1800" kern="0" spc="70" dirty="0">
                          <a:solidFill>
                            <a:srgbClr val="000000">
                              <a:alpha val="100000"/>
                            </a:srgbClr>
                          </a:solidFill>
                          <a:latin typeface="Times New Roman" panose="02020603050405020304" charset="0"/>
                          <a:ea typeface="微软雅黑" panose="020B0503020204020204" charset="-122"/>
                          <a:cs typeface="微软雅黑" panose="020B0503020204020204" charset="-122"/>
                        </a:rPr>
                        <a:t>。</a:t>
                      </a:r>
                      <a:endParaRPr sz="1800" dirty="0">
                        <a:latin typeface="Times New Roman" panose="02020603050405020304" charset="0"/>
                        <a:ea typeface="微软雅黑" panose="020B0503020204020204" charset="-122"/>
                        <a:cs typeface="微软雅黑" panose="020B0503020204020204" charset="-122"/>
                      </a:endParaRPr>
                    </a:p>
                  </a:txBody>
                  <a:tcPr marL="0" marR="0" marT="0" marB="0" vert="horz"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r>
              <a:tr h="927735">
                <a:tc>
                  <a:txBody>
                    <a:bodyPr/>
                    <a:lstStyle/>
                    <a:p>
                      <a:pPr algn="ctr" rtl="0" eaLnBrk="0">
                        <a:lnSpc>
                          <a:spcPct val="129000"/>
                        </a:lnSpc>
                      </a:pPr>
                      <a:endParaRPr sz="1000" dirty="0">
                        <a:latin typeface="Arial" panose="020B0604020202020204"/>
                        <a:ea typeface="Arial" panose="020B0604020202020204"/>
                        <a:cs typeface="Arial" panose="020B0604020202020204"/>
                      </a:endParaRPr>
                    </a:p>
                    <a:p>
                      <a:pPr algn="ctr" rtl="0" eaLnBrk="0">
                        <a:lnSpc>
                          <a:spcPct val="130000"/>
                        </a:lnSpc>
                      </a:pPr>
                      <a:r>
                        <a:rPr sz="17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反馈与控制</a:t>
                      </a:r>
                      <a:endParaRPr sz="1700" dirty="0">
                        <a:latin typeface="微软雅黑" panose="020B0503020204020204" charset="-122"/>
                        <a:ea typeface="微软雅黑" panose="020B0503020204020204" charset="-122"/>
                        <a:cs typeface="微软雅黑" panose="020B0503020204020204" charset="-122"/>
                      </a:endParaRPr>
                    </a:p>
                  </a:txBody>
                  <a:tcPr marL="0" marR="0" marT="0" marB="0" vert="horz"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ctr" rtl="0" eaLnBrk="0">
                        <a:lnSpc>
                          <a:spcPct val="133000"/>
                        </a:lnSpc>
                      </a:pPr>
                      <a:r>
                        <a:rPr lang="zh-CN" altLang="en-US" sz="1800" dirty="0">
                          <a:latin typeface="Times New Roman" panose="02020603050405020304" charset="0"/>
                          <a:ea typeface="微软雅黑" panose="020B0503020204020204" charset="-122"/>
                          <a:cs typeface="Times New Roman" panose="02020603050405020304" charset="0"/>
                          <a:sym typeface="+mn-ea"/>
                        </a:rPr>
                        <a:t>点阵屏即时显示</a:t>
                      </a:r>
                      <a:r>
                        <a:rPr lang="en-US" altLang="zh-CN" sz="1800" dirty="0">
                          <a:latin typeface="Times New Roman" panose="02020603050405020304" charset="0"/>
                          <a:ea typeface="微软雅黑" panose="020B0503020204020204" charset="-122"/>
                          <a:cs typeface="Times New Roman" panose="02020603050405020304" charset="0"/>
                          <a:sym typeface="+mn-ea"/>
                        </a:rPr>
                        <a:t>“v&lt;^&gt;”</a:t>
                      </a:r>
                      <a:r>
                        <a:rPr lang="zh-CN" altLang="en-US" sz="1800" dirty="0">
                          <a:latin typeface="Times New Roman" panose="02020603050405020304" charset="0"/>
                          <a:ea typeface="微软雅黑" panose="020B0503020204020204" charset="-122"/>
                          <a:cs typeface="Times New Roman" panose="02020603050405020304" charset="0"/>
                          <a:sym typeface="+mn-ea"/>
                        </a:rPr>
                        <a:t>符号提示，并在挑战结束后显示最终得分</a:t>
                      </a:r>
                      <a:r>
                        <a:rPr sz="1800" kern="0" spc="80" dirty="0">
                          <a:solidFill>
                            <a:srgbClr val="000000">
                              <a:alpha val="100000"/>
                            </a:srgbClr>
                          </a:solidFill>
                          <a:latin typeface="Times New Roman" panose="02020603050405020304" charset="0"/>
                          <a:ea typeface="微软雅黑" panose="020B0503020204020204" charset="-122"/>
                          <a:cs typeface="Times New Roman" panose="02020603050405020304" charset="0"/>
                        </a:rPr>
                        <a:t>。</a:t>
                      </a:r>
                      <a:endParaRPr sz="1800" dirty="0">
                        <a:latin typeface="Times New Roman" panose="02020603050405020304" charset="0"/>
                        <a:ea typeface="微软雅黑" panose="020B0503020204020204" charset="-122"/>
                        <a:cs typeface="Times New Roman" panose="02020603050405020304" charset="0"/>
                      </a:endParaRPr>
                    </a:p>
                  </a:txBody>
                  <a:tcPr marL="0" marR="0" marT="0" marB="0" vert="horz"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r>
            </a:tbl>
          </a:graphicData>
        </a:graphic>
      </p:graphicFrame>
      <p:sp>
        <p:nvSpPr>
          <p:cNvPr id="242" name="path 242"/>
          <p:cNvSpPr/>
          <p:nvPr/>
        </p:nvSpPr>
        <p:spPr>
          <a:xfrm>
            <a:off x="339852" y="807720"/>
            <a:ext cx="585216" cy="364235"/>
          </a:xfrm>
          <a:custGeom>
            <a:avLst/>
            <a:gdLst/>
            <a:ahLst/>
            <a:cxnLst/>
            <a:rect l="0" t="0" r="0" b="0"/>
            <a:pathLst>
              <a:path w="921" h="573">
                <a:moveTo>
                  <a:pt x="0" y="0"/>
                </a:moveTo>
                <a:lnTo>
                  <a:pt x="739" y="0"/>
                </a:lnTo>
                <a:lnTo>
                  <a:pt x="921" y="287"/>
                </a:lnTo>
                <a:lnTo>
                  <a:pt x="739" y="573"/>
                </a:lnTo>
                <a:lnTo>
                  <a:pt x="0" y="573"/>
                </a:lnTo>
                <a:lnTo>
                  <a:pt x="0" y="0"/>
                </a:lnTo>
              </a:path>
            </a:pathLst>
          </a:custGeom>
          <a:solidFill>
            <a:srgbClr val="ED7D31">
              <a:alpha val="100000"/>
            </a:srgbClr>
          </a:solidFill>
          <a:ln w="0" cap="flat">
            <a:noFill/>
            <a:prstDash val="solid"/>
            <a:miter lim="0"/>
          </a:ln>
        </p:spPr>
        <p:txBody>
          <a:bodyPr rtlCol="0"/>
          <a:lstStyle/>
          <a:p>
            <a:pPr algn="ctr"/>
            <a:endParaRPr lang="zh-CN" altLang="en-US"/>
          </a:p>
        </p:txBody>
      </p:sp>
      <p:sp>
        <p:nvSpPr>
          <p:cNvPr id="244" name="textbox 244"/>
          <p:cNvSpPr/>
          <p:nvPr/>
        </p:nvSpPr>
        <p:spPr>
          <a:xfrm>
            <a:off x="497840" y="860425"/>
            <a:ext cx="9382760" cy="98234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a:ea typeface="Arial" panose="020B0604020202020204"/>
              <a:cs typeface="Arial" panose="020B0604020202020204"/>
            </a:endParaRPr>
          </a:p>
          <a:p>
            <a:pPr marL="12700" algn="l" rtl="0" eaLnBrk="0">
              <a:lnSpc>
                <a:spcPct val="87000"/>
              </a:lnSpc>
            </a:pPr>
            <a:r>
              <a:rPr sz="3600" b="1" kern="0" spc="50" baseline="12000" dirty="0">
                <a:solidFill>
                  <a:srgbClr val="FFFFFF">
                    <a:alpha val="100000"/>
                  </a:srgbClr>
                </a:solidFill>
                <a:latin typeface="Times New Roman" panose="02020603050405020304"/>
                <a:ea typeface="Times New Roman" panose="02020603050405020304"/>
                <a:cs typeface="Times New Roman" panose="02020603050405020304"/>
              </a:rPr>
              <a:t>2</a:t>
            </a:r>
            <a:r>
              <a:rPr sz="2300" b="1" kern="0" spc="50" dirty="0">
                <a:solidFill>
                  <a:srgbClr val="FFFFFF">
                    <a:alpha val="100000"/>
                  </a:srgbClr>
                </a:solidFill>
                <a:latin typeface="Times New Roman" panose="02020603050405020304"/>
                <a:ea typeface="Times New Roman" panose="02020603050405020304"/>
                <a:cs typeface="Times New Roman" panose="02020603050405020304"/>
              </a:rPr>
              <a:t>       </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sym typeface="+mn-ea"/>
              </a:rPr>
              <a:t>记忆守护：</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sym typeface="+mn-ea"/>
              </a:rPr>
              <a:t>阿尔兹海默症预防</a:t>
            </a:r>
            <a:r>
              <a:rPr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rPr>
              <a:t>系统实践</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22000"/>
              </a:lnSpc>
            </a:pPr>
            <a:endParaRPr sz="1000" dirty="0">
              <a:latin typeface="Arial" panose="020B0604020202020204"/>
              <a:ea typeface="Arial" panose="020B0604020202020204"/>
              <a:cs typeface="Arial" panose="020B0604020202020204"/>
            </a:endParaRPr>
          </a:p>
          <a:p>
            <a:pPr algn="l" rtl="0" eaLnBrk="0">
              <a:lnSpc>
                <a:spcPct val="100000"/>
              </a:lnSpc>
            </a:pPr>
            <a:endParaRPr sz="500" dirty="0">
              <a:latin typeface="Arial" panose="020B0604020202020204"/>
              <a:ea typeface="Arial" panose="020B0604020202020204"/>
              <a:cs typeface="Arial" panose="020B0604020202020204"/>
            </a:endParaRPr>
          </a:p>
          <a:p>
            <a:pPr marL="726440" algn="l" rtl="0" eaLnBrk="0">
              <a:lnSpc>
                <a:spcPts val="2645"/>
              </a:lnSpc>
              <a:spcBef>
                <a:spcPts val="0"/>
              </a:spcBef>
              <a:tabLst>
                <a:tab pos="906780" algn="l"/>
              </a:tabLst>
            </a:pP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54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具体任务2: </a:t>
            </a:r>
            <a:r>
              <a:rPr lang="en-US"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分析</a:t>
            </a:r>
            <a:r>
              <a:rPr lang="zh-CN" altLang="en-US"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记忆守护：</a:t>
            </a:r>
            <a:r>
              <a:rPr lang="zh-CN" altLang="en-US"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阿尔兹海默症预防</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系</a:t>
            </a:r>
            <a:r>
              <a:rPr sz="2000" b="1" kern="0" spc="-10" dirty="0">
                <a:solidFill>
                  <a:srgbClr val="5B9BD5">
                    <a:alpha val="100000"/>
                  </a:srgbClr>
                </a:solidFill>
                <a:latin typeface="微软雅黑" panose="020B0503020204020204" charset="-122"/>
                <a:ea typeface="微软雅黑" panose="020B0503020204020204" charset="-122"/>
                <a:cs typeface="微软雅黑" panose="020B0503020204020204" charset="-122"/>
              </a:rPr>
              <a:t>统的功能需求</a:t>
            </a:r>
            <a:endParaRPr sz="2000" dirty="0">
              <a:latin typeface="微软雅黑" panose="020B0503020204020204" charset="-122"/>
              <a:ea typeface="微软雅黑" panose="020B0503020204020204" charset="-122"/>
              <a:cs typeface="微软雅黑" panose="020B0503020204020204" charset="-122"/>
            </a:endParaRPr>
          </a:p>
        </p:txBody>
      </p:sp>
      <p:pic>
        <p:nvPicPr>
          <p:cNvPr id="246" name="picture 246"/>
          <p:cNvPicPr>
            <a:picLocks noChangeAspect="1"/>
          </p:cNvPicPr>
          <p:nvPr/>
        </p:nvPicPr>
        <p:blipFill>
          <a:blip r:embed="rId2"/>
          <a:stretch>
            <a:fillRect/>
          </a:stretch>
        </p:blipFill>
        <p:spPr>
          <a:xfrm rot="21600000">
            <a:off x="1224714" y="1534618"/>
            <a:ext cx="180790" cy="282135"/>
          </a:xfrm>
          <a:prstGeom prst="rect">
            <a:avLst/>
          </a:prstGeom>
        </p:spPr>
      </p:pic>
      <p:sp>
        <p:nvSpPr>
          <p:cNvPr id="248" name="rect 248"/>
          <p:cNvSpPr/>
          <p:nvPr/>
        </p:nvSpPr>
        <p:spPr>
          <a:xfrm>
            <a:off x="0" y="6612635"/>
            <a:ext cx="12192000" cy="245364"/>
          </a:xfrm>
          <a:prstGeom prst="rect">
            <a:avLst/>
          </a:prstGeom>
          <a:solidFill>
            <a:srgbClr val="0371AE">
              <a:alpha val="100000"/>
            </a:srgbClr>
          </a:solidFill>
          <a:ln w="0" cap="flat">
            <a:noFill/>
            <a:prstDash val="solid"/>
            <a:miter lim="0"/>
          </a:ln>
        </p:spPr>
        <p:txBody>
          <a:bodyPr rtlCol="0"/>
          <a:lstStyle/>
          <a:p>
            <a:pPr algn="ctr"/>
            <a:endParaRPr lang="zh-CN" altLang="en-US"/>
          </a:p>
        </p:txBody>
      </p:sp>
      <p:pic>
        <p:nvPicPr>
          <p:cNvPr id="250" name="picture 250"/>
          <p:cNvPicPr>
            <a:picLocks noChangeAspect="1"/>
          </p:cNvPicPr>
          <p:nvPr/>
        </p:nvPicPr>
        <p:blipFill>
          <a:blip r:embed="rId3"/>
          <a:stretch>
            <a:fillRect/>
          </a:stretch>
        </p:blipFill>
        <p:spPr>
          <a:xfrm rot="21600000">
            <a:off x="4195571" y="0"/>
            <a:ext cx="7996427" cy="365759"/>
          </a:xfrm>
          <a:prstGeom prst="rect">
            <a:avLst/>
          </a:prstGeom>
        </p:spPr>
      </p:pic>
      <p:pic>
        <p:nvPicPr>
          <p:cNvPr id="254" name="picture 254"/>
          <p:cNvPicPr>
            <a:picLocks noChangeAspect="1"/>
          </p:cNvPicPr>
          <p:nvPr/>
        </p:nvPicPr>
        <p:blipFill>
          <a:blip r:embed="rId4"/>
          <a:stretch>
            <a:fillRect/>
          </a:stretch>
        </p:blipFill>
        <p:spPr>
          <a:xfrm rot="21600000">
            <a:off x="0" y="0"/>
            <a:ext cx="598931" cy="373379"/>
          </a:xfrm>
          <a:prstGeom prst="rect">
            <a:avLst/>
          </a:prstGeom>
        </p:spPr>
      </p:pic>
      <p:pic>
        <p:nvPicPr>
          <p:cNvPr id="256" name="picture 256"/>
          <p:cNvPicPr>
            <a:picLocks noChangeAspect="1"/>
          </p:cNvPicPr>
          <p:nvPr/>
        </p:nvPicPr>
        <p:blipFill>
          <a:blip r:embed="rId5"/>
          <a:stretch>
            <a:fillRect/>
          </a:stretch>
        </p:blipFill>
        <p:spPr>
          <a:xfrm rot="21600000">
            <a:off x="0" y="6579983"/>
            <a:ext cx="12179300" cy="12700"/>
          </a:xfrm>
          <a:prstGeom prst="rect">
            <a:avLst/>
          </a:prstGeom>
        </p:spPr>
      </p:pic>
      <p:sp>
        <p:nvSpPr>
          <p:cNvPr id="3" name="textbox 8"/>
          <p:cNvSpPr/>
          <p:nvPr/>
        </p:nvSpPr>
        <p:spPr>
          <a:xfrm>
            <a:off x="618825" y="67294"/>
            <a:ext cx="11393805" cy="270509"/>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100000"/>
              </a:lnSpc>
            </a:pPr>
            <a:r>
              <a:rPr sz="1600" b="1" kern="0" spc="-20" dirty="0">
                <a:solidFill>
                  <a:srgbClr val="000000">
                    <a:alpha val="100000"/>
                  </a:srgbClr>
                </a:solidFill>
                <a:latin typeface="黑体" panose="02010609060101010101" charset="-122"/>
                <a:ea typeface="黑体" panose="02010609060101010101" charset="-122"/>
                <a:cs typeface="黑体" panose="02010609060101010101" charset="-122"/>
              </a:rPr>
              <a:t>米思齐</a:t>
            </a:r>
            <a:r>
              <a:rPr 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课程作业</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600" b="1" kern="0" spc="-20" dirty="0">
                <a:solidFill>
                  <a:srgbClr val="000000">
                    <a:alpha val="100000"/>
                  </a:srgbClr>
                </a:solidFill>
                <a:latin typeface="黑体" panose="02010609060101010101" charset="-122"/>
                <a:ea typeface="黑体" panose="02010609060101010101" charset="-122"/>
                <a:cs typeface="黑体" panose="02010609060101010101" charset="-122"/>
              </a:rPr>
              <a:t>余天润</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202522039114</a:t>
            </a:r>
            <a:r>
              <a:rPr sz="1600" kern="0" spc="-20" dirty="0">
                <a:solidFill>
                  <a:srgbClr val="000000">
                    <a:alpha val="100000"/>
                  </a:srgbClr>
                </a:solidFill>
                <a:latin typeface="黑体" panose="02010609060101010101" charset="-122"/>
                <a:ea typeface="黑体" panose="02010609060101010101" charset="-122"/>
                <a:cs typeface="黑体" panose="02010609060101010101" charset="-122"/>
              </a:rPr>
              <a:t>                                        </a:t>
            </a:r>
            <a:endParaRPr sz="1400" dirty="0">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8" name="picture 258"/>
          <p:cNvPicPr>
            <a:picLocks noChangeAspect="1"/>
          </p:cNvPicPr>
          <p:nvPr/>
        </p:nvPicPr>
        <p:blipFill>
          <a:blip r:embed="rId1"/>
          <a:stretch>
            <a:fillRect/>
          </a:stretch>
        </p:blipFill>
        <p:spPr>
          <a:xfrm rot="21600000">
            <a:off x="0" y="0"/>
            <a:ext cx="12192000" cy="6858000"/>
          </a:xfrm>
          <a:prstGeom prst="rect">
            <a:avLst/>
          </a:prstGeom>
        </p:spPr>
      </p:pic>
      <p:sp>
        <p:nvSpPr>
          <p:cNvPr id="260" name="path 260"/>
          <p:cNvSpPr/>
          <p:nvPr/>
        </p:nvSpPr>
        <p:spPr>
          <a:xfrm>
            <a:off x="339852" y="807720"/>
            <a:ext cx="585216" cy="364235"/>
          </a:xfrm>
          <a:custGeom>
            <a:avLst/>
            <a:gdLst/>
            <a:ahLst/>
            <a:cxnLst/>
            <a:rect l="0" t="0" r="0" b="0"/>
            <a:pathLst>
              <a:path w="921" h="573">
                <a:moveTo>
                  <a:pt x="0" y="0"/>
                </a:moveTo>
                <a:lnTo>
                  <a:pt x="739" y="0"/>
                </a:lnTo>
                <a:lnTo>
                  <a:pt x="921" y="287"/>
                </a:lnTo>
                <a:lnTo>
                  <a:pt x="739" y="573"/>
                </a:lnTo>
                <a:lnTo>
                  <a:pt x="0" y="573"/>
                </a:lnTo>
                <a:lnTo>
                  <a:pt x="0" y="0"/>
                </a:lnTo>
              </a:path>
            </a:pathLst>
          </a:custGeom>
          <a:solidFill>
            <a:srgbClr val="ED7D31">
              <a:alpha val="100000"/>
            </a:srgbClr>
          </a:solidFill>
          <a:ln w="0" cap="flat">
            <a:noFill/>
            <a:prstDash val="solid"/>
            <a:miter lim="0"/>
          </a:ln>
        </p:spPr>
        <p:txBody>
          <a:bodyPr rtlCol="0"/>
          <a:lstStyle/>
          <a:p>
            <a:pPr algn="ctr"/>
            <a:endParaRPr lang="zh-CN" altLang="en-US"/>
          </a:p>
        </p:txBody>
      </p:sp>
      <p:sp>
        <p:nvSpPr>
          <p:cNvPr id="262" name="textbox 262"/>
          <p:cNvSpPr/>
          <p:nvPr/>
        </p:nvSpPr>
        <p:spPr>
          <a:xfrm>
            <a:off x="497840" y="860425"/>
            <a:ext cx="10758170" cy="2174240"/>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a:ea typeface="Arial" panose="020B0604020202020204"/>
              <a:cs typeface="Arial" panose="020B0604020202020204"/>
            </a:endParaRPr>
          </a:p>
          <a:p>
            <a:pPr marL="12700" algn="l" rtl="0" eaLnBrk="0">
              <a:lnSpc>
                <a:spcPct val="87000"/>
              </a:lnSpc>
            </a:pPr>
            <a:r>
              <a:rPr sz="3600" b="1" kern="0" spc="50" baseline="12000" dirty="0">
                <a:solidFill>
                  <a:srgbClr val="FFFFFF">
                    <a:alpha val="100000"/>
                  </a:srgbClr>
                </a:solidFill>
                <a:latin typeface="Times New Roman" panose="02020603050405020304"/>
                <a:ea typeface="Times New Roman" panose="02020603050405020304"/>
                <a:cs typeface="Times New Roman" panose="02020603050405020304"/>
              </a:rPr>
              <a:t>2</a:t>
            </a:r>
            <a:r>
              <a:rPr sz="2300" b="1" kern="0" spc="50" dirty="0">
                <a:solidFill>
                  <a:srgbClr val="FFFFFF">
                    <a:alpha val="100000"/>
                  </a:srgbClr>
                </a:solidFill>
                <a:latin typeface="Times New Roman" panose="02020603050405020304"/>
                <a:ea typeface="Times New Roman" panose="02020603050405020304"/>
                <a:cs typeface="Times New Roman" panose="02020603050405020304"/>
              </a:rPr>
              <a:t>       </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rPr>
              <a:t>记忆守护：</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rPr>
              <a:t>阿尔兹海默症预防</a:t>
            </a:r>
            <a:r>
              <a:rPr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rPr>
              <a:t>系统实践</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22000"/>
              </a:lnSpc>
            </a:pPr>
            <a:endParaRPr sz="1000" dirty="0">
              <a:latin typeface="Arial" panose="020B0604020202020204"/>
              <a:ea typeface="Arial" panose="020B0604020202020204"/>
              <a:cs typeface="Arial" panose="020B0604020202020204"/>
            </a:endParaRPr>
          </a:p>
          <a:p>
            <a:pPr marL="726440" algn="l" rtl="0" eaLnBrk="0">
              <a:lnSpc>
                <a:spcPts val="2645"/>
              </a:lnSpc>
              <a:spcBef>
                <a:spcPts val="600"/>
              </a:spcBef>
              <a:tabLst>
                <a:tab pos="906780" algn="l"/>
              </a:tabLst>
            </a:pP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54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具体任务2: </a:t>
            </a:r>
            <a:r>
              <a:rPr lang="en-US"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分析</a:t>
            </a:r>
            <a:r>
              <a:rPr lang="zh-CN" altLang="en-US" sz="2000" b="1" kern="0" dirty="0">
                <a:solidFill>
                  <a:srgbClr val="5B9BD5">
                    <a:alpha val="100000"/>
                  </a:srgbClr>
                </a:solidFill>
                <a:latin typeface="微软雅黑" panose="020B0503020204020204" charset="-122"/>
                <a:ea typeface="微软雅黑" panose="020B0503020204020204" charset="-122"/>
                <a:cs typeface="微软雅黑" panose="020B0503020204020204" charset="-122"/>
                <a:sym typeface="+mn-ea"/>
              </a:rPr>
              <a:t>记忆守护：</a:t>
            </a:r>
            <a:r>
              <a:rPr lang="zh-CN" altLang="en-US" sz="2000" b="1" kern="0" dirty="0">
                <a:solidFill>
                  <a:srgbClr val="5B9BD5">
                    <a:alpha val="100000"/>
                  </a:srgbClr>
                </a:solidFill>
                <a:latin typeface="微软雅黑" panose="020B0503020204020204" charset="-122"/>
                <a:ea typeface="微软雅黑" panose="020B0503020204020204" charset="-122"/>
                <a:cs typeface="微软雅黑" panose="020B0503020204020204" charset="-122"/>
                <a:sym typeface="+mn-ea"/>
              </a:rPr>
              <a:t>阿尔兹海默症预防</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系</a:t>
            </a:r>
            <a:r>
              <a:rPr sz="2000" b="1" kern="0" spc="-10" dirty="0">
                <a:solidFill>
                  <a:srgbClr val="5B9BD5">
                    <a:alpha val="100000"/>
                  </a:srgbClr>
                </a:solidFill>
                <a:latin typeface="微软雅黑" panose="020B0503020204020204" charset="-122"/>
                <a:ea typeface="微软雅黑" panose="020B0503020204020204" charset="-122"/>
                <a:cs typeface="微软雅黑" panose="020B0503020204020204" charset="-122"/>
              </a:rPr>
              <a:t>统的功能需求</a:t>
            </a:r>
            <a:endParaRPr sz="2000" dirty="0">
              <a:latin typeface="微软雅黑" panose="020B0503020204020204" charset="-122"/>
              <a:ea typeface="微软雅黑" panose="020B0503020204020204" charset="-122"/>
              <a:cs typeface="微软雅黑" panose="020B0503020204020204" charset="-122"/>
            </a:endParaRPr>
          </a:p>
          <a:p>
            <a:pPr algn="l" rtl="0" eaLnBrk="0">
              <a:lnSpc>
                <a:spcPct val="118000"/>
              </a:lnSpc>
            </a:pPr>
            <a:endParaRPr sz="1000" dirty="0">
              <a:latin typeface="Arial" panose="020B0604020202020204"/>
              <a:ea typeface="Arial" panose="020B0604020202020204"/>
              <a:cs typeface="Arial" panose="020B0604020202020204"/>
            </a:endParaRPr>
          </a:p>
          <a:p>
            <a:pPr marL="457200" lvl="1" indent="457200" algn="l" rtl="0" eaLnBrk="0">
              <a:lnSpc>
                <a:spcPct val="119000"/>
              </a:lnSpc>
            </a:pPr>
            <a:endParaRPr lang="zh-CN" altLang="en-US" dirty="0">
              <a:latin typeface="微软雅黑" panose="020B0503020204020204" charset="-122"/>
              <a:ea typeface="微软雅黑" panose="020B0503020204020204" charset="-122"/>
              <a:cs typeface="微软雅黑" panose="020B0503020204020204" charset="-122"/>
            </a:endParaRPr>
          </a:p>
          <a:p>
            <a:pPr marL="457200" lvl="1" indent="457200" algn="l" rtl="0" eaLnBrk="0">
              <a:lnSpc>
                <a:spcPct val="119000"/>
              </a:lnSpc>
            </a:pPr>
            <a:r>
              <a:rPr lang="zh-CN" altLang="en-US" dirty="0">
                <a:latin typeface="微软雅黑" panose="020B0503020204020204" charset="-122"/>
                <a:ea typeface="微软雅黑" panose="020B0503020204020204" charset="-122"/>
                <a:cs typeface="微软雅黑" panose="020B0503020204020204" charset="-122"/>
              </a:rPr>
              <a:t>填一填 ：各功能的实现需要用到</a:t>
            </a:r>
            <a:r>
              <a:rPr lang="zh-CN" altLang="en-US" spc="0" dirty="0">
                <a:latin typeface="微软雅黑" panose="020B0503020204020204" charset="-122"/>
                <a:ea typeface="微软雅黑" panose="020B0503020204020204" charset="-122"/>
                <a:cs typeface="微软雅黑" panose="020B0503020204020204" charset="-122"/>
              </a:rPr>
              <a:t>哪些设备、软件及平台 </a:t>
            </a:r>
            <a:r>
              <a:rPr lang="zh-CN" altLang="en-US" dirty="0">
                <a:latin typeface="微软雅黑" panose="020B0503020204020204" charset="-122"/>
                <a:ea typeface="微软雅黑" panose="020B0503020204020204" charset="-122"/>
                <a:cs typeface="微软雅黑" panose="020B0503020204020204" charset="-122"/>
              </a:rPr>
              <a:t>？（可以采用文字、简笔画等形式）</a:t>
            </a:r>
            <a:endParaRPr lang="zh-CN" altLang="en-US" sz="1700" dirty="0">
              <a:latin typeface="微软雅黑" panose="020B0503020204020204" charset="-122"/>
              <a:ea typeface="微软雅黑" panose="020B0503020204020204" charset="-122"/>
              <a:cs typeface="微软雅黑" panose="020B0503020204020204" charset="-122"/>
            </a:endParaRPr>
          </a:p>
          <a:p>
            <a:pPr marL="457200" lvl="1" indent="457200" algn="l" rtl="0" eaLnBrk="0">
              <a:lnSpc>
                <a:spcPct val="119000"/>
              </a:lnSpc>
            </a:pPr>
            <a:endParaRPr sz="2000" dirty="0">
              <a:latin typeface="微软雅黑" panose="020B0503020204020204" charset="-122"/>
              <a:ea typeface="微软雅黑" panose="020B0503020204020204" charset="-122"/>
              <a:cs typeface="微软雅黑" panose="020B0503020204020204" charset="-122"/>
            </a:endParaRPr>
          </a:p>
        </p:txBody>
      </p:sp>
      <p:pic>
        <p:nvPicPr>
          <p:cNvPr id="264" name="picture 264"/>
          <p:cNvPicPr>
            <a:picLocks noChangeAspect="1"/>
          </p:cNvPicPr>
          <p:nvPr/>
        </p:nvPicPr>
        <p:blipFill>
          <a:blip r:embed="rId2"/>
          <a:stretch>
            <a:fillRect/>
          </a:stretch>
        </p:blipFill>
        <p:spPr>
          <a:xfrm rot="21600000">
            <a:off x="1224714" y="1534618"/>
            <a:ext cx="180790" cy="282135"/>
          </a:xfrm>
          <a:prstGeom prst="rect">
            <a:avLst/>
          </a:prstGeom>
        </p:spPr>
      </p:pic>
      <p:pic>
        <p:nvPicPr>
          <p:cNvPr id="266" name="picture 266"/>
          <p:cNvPicPr>
            <a:picLocks noChangeAspect="1"/>
          </p:cNvPicPr>
          <p:nvPr/>
        </p:nvPicPr>
        <p:blipFill>
          <a:blip r:embed="rId3"/>
          <a:stretch>
            <a:fillRect/>
          </a:stretch>
        </p:blipFill>
        <p:spPr>
          <a:xfrm rot="21600000">
            <a:off x="2247900" y="3301889"/>
            <a:ext cx="7696200" cy="2035777"/>
          </a:xfrm>
          <a:prstGeom prst="rect">
            <a:avLst/>
          </a:prstGeom>
        </p:spPr>
      </p:pic>
      <p:sp>
        <p:nvSpPr>
          <p:cNvPr id="268" name="rect 268"/>
          <p:cNvSpPr/>
          <p:nvPr/>
        </p:nvSpPr>
        <p:spPr>
          <a:xfrm>
            <a:off x="0" y="6612635"/>
            <a:ext cx="12192000" cy="245364"/>
          </a:xfrm>
          <a:prstGeom prst="rect">
            <a:avLst/>
          </a:prstGeom>
          <a:solidFill>
            <a:srgbClr val="0371AE">
              <a:alpha val="100000"/>
            </a:srgbClr>
          </a:solidFill>
          <a:ln w="0" cap="flat">
            <a:noFill/>
            <a:prstDash val="solid"/>
            <a:miter lim="0"/>
          </a:ln>
        </p:spPr>
        <p:txBody>
          <a:bodyPr rtlCol="0"/>
          <a:lstStyle/>
          <a:p>
            <a:pPr algn="ctr"/>
            <a:endParaRPr lang="zh-CN" altLang="en-US"/>
          </a:p>
        </p:txBody>
      </p:sp>
      <p:pic>
        <p:nvPicPr>
          <p:cNvPr id="270" name="picture 270"/>
          <p:cNvPicPr>
            <a:picLocks noChangeAspect="1"/>
          </p:cNvPicPr>
          <p:nvPr/>
        </p:nvPicPr>
        <p:blipFill>
          <a:blip r:embed="rId4"/>
          <a:stretch>
            <a:fillRect/>
          </a:stretch>
        </p:blipFill>
        <p:spPr>
          <a:xfrm rot="21600000">
            <a:off x="4195571" y="0"/>
            <a:ext cx="7996427" cy="365759"/>
          </a:xfrm>
          <a:prstGeom prst="rect">
            <a:avLst/>
          </a:prstGeom>
        </p:spPr>
      </p:pic>
      <p:pic>
        <p:nvPicPr>
          <p:cNvPr id="274" name="picture 274"/>
          <p:cNvPicPr>
            <a:picLocks noChangeAspect="1"/>
          </p:cNvPicPr>
          <p:nvPr/>
        </p:nvPicPr>
        <p:blipFill>
          <a:blip r:embed="rId5"/>
          <a:stretch>
            <a:fillRect/>
          </a:stretch>
        </p:blipFill>
        <p:spPr>
          <a:xfrm rot="21600000">
            <a:off x="0" y="0"/>
            <a:ext cx="598931" cy="373379"/>
          </a:xfrm>
          <a:prstGeom prst="rect">
            <a:avLst/>
          </a:prstGeom>
        </p:spPr>
      </p:pic>
      <p:pic>
        <p:nvPicPr>
          <p:cNvPr id="276" name="picture 276"/>
          <p:cNvPicPr>
            <a:picLocks noChangeAspect="1"/>
          </p:cNvPicPr>
          <p:nvPr/>
        </p:nvPicPr>
        <p:blipFill>
          <a:blip r:embed="rId6"/>
          <a:stretch>
            <a:fillRect/>
          </a:stretch>
        </p:blipFill>
        <p:spPr>
          <a:xfrm rot="21600000">
            <a:off x="0" y="6579983"/>
            <a:ext cx="12179300" cy="12700"/>
          </a:xfrm>
          <a:prstGeom prst="rect">
            <a:avLst/>
          </a:prstGeom>
        </p:spPr>
      </p:pic>
      <p:sp>
        <p:nvSpPr>
          <p:cNvPr id="3" name="textbox 8"/>
          <p:cNvSpPr/>
          <p:nvPr/>
        </p:nvSpPr>
        <p:spPr>
          <a:xfrm>
            <a:off x="618825" y="67294"/>
            <a:ext cx="11393805" cy="270509"/>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100000"/>
              </a:lnSpc>
            </a:pPr>
            <a:r>
              <a:rPr sz="1600" b="1" kern="0" spc="-20" dirty="0">
                <a:solidFill>
                  <a:srgbClr val="000000">
                    <a:alpha val="100000"/>
                  </a:srgbClr>
                </a:solidFill>
                <a:latin typeface="黑体" panose="02010609060101010101" charset="-122"/>
                <a:ea typeface="黑体" panose="02010609060101010101" charset="-122"/>
                <a:cs typeface="黑体" panose="02010609060101010101" charset="-122"/>
              </a:rPr>
              <a:t>米思齐</a:t>
            </a:r>
            <a:r>
              <a:rPr 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课程作业</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600" b="1" kern="0" spc="-20" dirty="0">
                <a:solidFill>
                  <a:srgbClr val="000000">
                    <a:alpha val="100000"/>
                  </a:srgbClr>
                </a:solidFill>
                <a:latin typeface="黑体" panose="02010609060101010101" charset="-122"/>
                <a:ea typeface="黑体" panose="02010609060101010101" charset="-122"/>
                <a:cs typeface="黑体" panose="02010609060101010101" charset="-122"/>
              </a:rPr>
              <a:t>余天润</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202522039114</a:t>
            </a:r>
            <a:r>
              <a:rPr sz="1600" kern="0" spc="-20" dirty="0">
                <a:solidFill>
                  <a:srgbClr val="000000">
                    <a:alpha val="100000"/>
                  </a:srgbClr>
                </a:solidFill>
                <a:latin typeface="黑体" panose="02010609060101010101" charset="-122"/>
                <a:ea typeface="黑体" panose="02010609060101010101" charset="-122"/>
                <a:cs typeface="黑体" panose="02010609060101010101" charset="-122"/>
              </a:rPr>
              <a:t>                                        </a:t>
            </a:r>
            <a:endParaRPr sz="1400" dirty="0">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8" name="picture 278"/>
          <p:cNvPicPr>
            <a:picLocks noChangeAspect="1"/>
          </p:cNvPicPr>
          <p:nvPr/>
        </p:nvPicPr>
        <p:blipFill>
          <a:blip r:embed="rId1"/>
          <a:stretch>
            <a:fillRect/>
          </a:stretch>
        </p:blipFill>
        <p:spPr>
          <a:xfrm rot="21600000">
            <a:off x="0" y="0"/>
            <a:ext cx="12192000" cy="6858000"/>
          </a:xfrm>
          <a:prstGeom prst="rect">
            <a:avLst/>
          </a:prstGeom>
        </p:spPr>
      </p:pic>
      <p:sp>
        <p:nvSpPr>
          <p:cNvPr id="280" name="textbox 280"/>
          <p:cNvSpPr/>
          <p:nvPr/>
        </p:nvSpPr>
        <p:spPr>
          <a:xfrm>
            <a:off x="497840" y="860425"/>
            <a:ext cx="9860915" cy="179387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a:ea typeface="Arial" panose="020B0604020202020204"/>
              <a:cs typeface="Arial" panose="020B0604020202020204"/>
            </a:endParaRPr>
          </a:p>
          <a:p>
            <a:pPr marL="12700" algn="l" rtl="0" eaLnBrk="0">
              <a:lnSpc>
                <a:spcPct val="87000"/>
              </a:lnSpc>
            </a:pPr>
            <a:r>
              <a:rPr sz="3600" b="1" kern="0" spc="50" baseline="12000" dirty="0">
                <a:solidFill>
                  <a:srgbClr val="FFFFFF">
                    <a:alpha val="100000"/>
                  </a:srgbClr>
                </a:solidFill>
                <a:latin typeface="Times New Roman" panose="02020603050405020304"/>
                <a:ea typeface="Times New Roman" panose="02020603050405020304"/>
                <a:cs typeface="Times New Roman" panose="02020603050405020304"/>
              </a:rPr>
              <a:t>2</a:t>
            </a:r>
            <a:r>
              <a:rPr sz="2300" b="1" kern="0" spc="50" dirty="0">
                <a:solidFill>
                  <a:srgbClr val="FFFFFF">
                    <a:alpha val="100000"/>
                  </a:srgbClr>
                </a:solidFill>
                <a:latin typeface="Times New Roman" panose="02020603050405020304"/>
                <a:ea typeface="Times New Roman" panose="02020603050405020304"/>
                <a:cs typeface="Times New Roman" panose="02020603050405020304"/>
              </a:rPr>
              <a:t>       </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sym typeface="+mn-ea"/>
              </a:rPr>
              <a:t>记忆守护：</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sym typeface="+mn-ea"/>
              </a:rPr>
              <a:t>阿尔兹海默症预防</a:t>
            </a:r>
            <a:r>
              <a:rPr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rPr>
              <a:t>系统实践</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22000"/>
              </a:lnSpc>
            </a:pPr>
            <a:endParaRPr sz="1000" dirty="0">
              <a:latin typeface="Arial" panose="020B0604020202020204"/>
              <a:ea typeface="Arial" panose="020B0604020202020204"/>
              <a:cs typeface="Arial" panose="020B0604020202020204"/>
            </a:endParaRPr>
          </a:p>
          <a:p>
            <a:pPr marL="726440" algn="l" rtl="0" eaLnBrk="0">
              <a:lnSpc>
                <a:spcPts val="2645"/>
              </a:lnSpc>
              <a:spcBef>
                <a:spcPts val="600"/>
              </a:spcBef>
              <a:tabLst>
                <a:tab pos="906780" algn="l"/>
              </a:tabLst>
            </a:pP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54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具体任务2: </a:t>
            </a:r>
            <a:r>
              <a:rPr lang="en-US"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分析</a:t>
            </a:r>
            <a:r>
              <a:rPr lang="zh-CN" altLang="en-US"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记忆守护：</a:t>
            </a:r>
            <a:r>
              <a:rPr lang="zh-CN" altLang="en-US"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阿尔兹海默症预防</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系</a:t>
            </a:r>
            <a:r>
              <a:rPr sz="2000" b="1" kern="0" spc="-10" dirty="0">
                <a:solidFill>
                  <a:srgbClr val="5B9BD5">
                    <a:alpha val="100000"/>
                  </a:srgbClr>
                </a:solidFill>
                <a:latin typeface="微软雅黑" panose="020B0503020204020204" charset="-122"/>
                <a:ea typeface="微软雅黑" panose="020B0503020204020204" charset="-122"/>
                <a:cs typeface="微软雅黑" panose="020B0503020204020204" charset="-122"/>
              </a:rPr>
              <a:t>统的功能需求</a:t>
            </a:r>
            <a:endParaRPr sz="2000" dirty="0">
              <a:latin typeface="微软雅黑" panose="020B0503020204020204" charset="-122"/>
              <a:ea typeface="微软雅黑" panose="020B0503020204020204" charset="-122"/>
              <a:cs typeface="微软雅黑" panose="020B0503020204020204" charset="-122"/>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1183005" algn="l" rtl="0" eaLnBrk="0">
              <a:lnSpc>
                <a:spcPct val="88000"/>
              </a:lnSpc>
              <a:spcBef>
                <a:spcPts val="0"/>
              </a:spcBef>
            </a:pP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请同学们尝试画出流程图。</a:t>
            </a:r>
            <a:endPar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282" name="picture 282"/>
          <p:cNvPicPr>
            <a:picLocks noChangeAspect="1"/>
          </p:cNvPicPr>
          <p:nvPr/>
        </p:nvPicPr>
        <p:blipFill>
          <a:blip r:embed="rId2"/>
          <a:stretch>
            <a:fillRect/>
          </a:stretch>
        </p:blipFill>
        <p:spPr>
          <a:xfrm rot="21600000">
            <a:off x="1224714" y="1534618"/>
            <a:ext cx="180790" cy="282135"/>
          </a:xfrm>
          <a:prstGeom prst="rect">
            <a:avLst/>
          </a:prstGeom>
        </p:spPr>
      </p:pic>
      <p:sp>
        <p:nvSpPr>
          <p:cNvPr id="284" name="rect 284"/>
          <p:cNvSpPr/>
          <p:nvPr/>
        </p:nvSpPr>
        <p:spPr>
          <a:xfrm>
            <a:off x="0" y="6612635"/>
            <a:ext cx="12192000" cy="245364"/>
          </a:xfrm>
          <a:prstGeom prst="rect">
            <a:avLst/>
          </a:prstGeom>
          <a:solidFill>
            <a:srgbClr val="0371AE">
              <a:alpha val="100000"/>
            </a:srgbClr>
          </a:solidFill>
          <a:ln w="0" cap="flat">
            <a:noFill/>
            <a:prstDash val="solid"/>
            <a:miter lim="0"/>
          </a:ln>
        </p:spPr>
        <p:txBody>
          <a:bodyPr rtlCol="0"/>
          <a:lstStyle/>
          <a:p>
            <a:pPr algn="ctr"/>
            <a:endParaRPr lang="zh-CN" altLang="en-US"/>
          </a:p>
        </p:txBody>
      </p:sp>
      <p:pic>
        <p:nvPicPr>
          <p:cNvPr id="286" name="picture 286"/>
          <p:cNvPicPr>
            <a:picLocks noChangeAspect="1"/>
          </p:cNvPicPr>
          <p:nvPr/>
        </p:nvPicPr>
        <p:blipFill>
          <a:blip r:embed="rId3"/>
          <a:stretch>
            <a:fillRect/>
          </a:stretch>
        </p:blipFill>
        <p:spPr>
          <a:xfrm rot="21600000">
            <a:off x="4195571" y="0"/>
            <a:ext cx="7996427" cy="365759"/>
          </a:xfrm>
          <a:prstGeom prst="rect">
            <a:avLst/>
          </a:prstGeom>
        </p:spPr>
      </p:pic>
      <p:pic>
        <p:nvPicPr>
          <p:cNvPr id="290" name="picture 290"/>
          <p:cNvPicPr>
            <a:picLocks noChangeAspect="1"/>
          </p:cNvPicPr>
          <p:nvPr/>
        </p:nvPicPr>
        <p:blipFill>
          <a:blip r:embed="rId4"/>
          <a:stretch>
            <a:fillRect/>
          </a:stretch>
        </p:blipFill>
        <p:spPr>
          <a:xfrm rot="21600000">
            <a:off x="0" y="0"/>
            <a:ext cx="598931" cy="373379"/>
          </a:xfrm>
          <a:prstGeom prst="rect">
            <a:avLst/>
          </a:prstGeom>
        </p:spPr>
      </p:pic>
      <p:pic>
        <p:nvPicPr>
          <p:cNvPr id="292" name="picture 292"/>
          <p:cNvPicPr>
            <a:picLocks noChangeAspect="1"/>
          </p:cNvPicPr>
          <p:nvPr/>
        </p:nvPicPr>
        <p:blipFill>
          <a:blip r:embed="rId5"/>
          <a:stretch>
            <a:fillRect/>
          </a:stretch>
        </p:blipFill>
        <p:spPr>
          <a:xfrm rot="21600000">
            <a:off x="0" y="6579983"/>
            <a:ext cx="12179300" cy="12700"/>
          </a:xfrm>
          <a:prstGeom prst="rect">
            <a:avLst/>
          </a:prstGeom>
        </p:spPr>
      </p:pic>
      <p:sp>
        <p:nvSpPr>
          <p:cNvPr id="3" name="textbox 8"/>
          <p:cNvSpPr/>
          <p:nvPr/>
        </p:nvSpPr>
        <p:spPr>
          <a:xfrm>
            <a:off x="618825" y="67294"/>
            <a:ext cx="11393805" cy="270509"/>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100000"/>
              </a:lnSpc>
            </a:pPr>
            <a:r>
              <a:rPr sz="1600" b="1" kern="0" spc="-20" dirty="0">
                <a:solidFill>
                  <a:srgbClr val="000000">
                    <a:alpha val="100000"/>
                  </a:srgbClr>
                </a:solidFill>
                <a:latin typeface="黑体" panose="02010609060101010101" charset="-122"/>
                <a:ea typeface="黑体" panose="02010609060101010101" charset="-122"/>
                <a:cs typeface="黑体" panose="02010609060101010101" charset="-122"/>
              </a:rPr>
              <a:t>米思齐</a:t>
            </a:r>
            <a:r>
              <a:rPr 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课程作业</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600" b="1" kern="0" spc="-20" dirty="0">
                <a:solidFill>
                  <a:srgbClr val="000000">
                    <a:alpha val="100000"/>
                  </a:srgbClr>
                </a:solidFill>
                <a:latin typeface="黑体" panose="02010609060101010101" charset="-122"/>
                <a:ea typeface="黑体" panose="02010609060101010101" charset="-122"/>
                <a:cs typeface="黑体" panose="02010609060101010101" charset="-122"/>
              </a:rPr>
              <a:t>余天润</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202522039114</a:t>
            </a:r>
            <a:r>
              <a:rPr sz="1600" kern="0" spc="-20" dirty="0">
                <a:solidFill>
                  <a:srgbClr val="000000">
                    <a:alpha val="100000"/>
                  </a:srgbClr>
                </a:solidFill>
                <a:latin typeface="黑体" panose="02010609060101010101" charset="-122"/>
                <a:ea typeface="黑体" panose="02010609060101010101" charset="-122"/>
                <a:cs typeface="黑体" panose="02010609060101010101" charset="-122"/>
              </a:rPr>
              <a:t>                                        </a:t>
            </a:r>
            <a:endParaRPr sz="1400" dirty="0">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4" name="picture 294"/>
          <p:cNvPicPr>
            <a:picLocks noChangeAspect="1"/>
          </p:cNvPicPr>
          <p:nvPr/>
        </p:nvPicPr>
        <p:blipFill>
          <a:blip r:embed="rId1"/>
          <a:stretch>
            <a:fillRect/>
          </a:stretch>
        </p:blipFill>
        <p:spPr>
          <a:xfrm rot="21600000">
            <a:off x="0" y="0"/>
            <a:ext cx="12192000" cy="6858000"/>
          </a:xfrm>
          <a:prstGeom prst="rect">
            <a:avLst/>
          </a:prstGeom>
        </p:spPr>
      </p:pic>
      <p:pic>
        <p:nvPicPr>
          <p:cNvPr id="300" name="picture 300"/>
          <p:cNvPicPr>
            <a:picLocks noChangeAspect="1"/>
          </p:cNvPicPr>
          <p:nvPr/>
        </p:nvPicPr>
        <p:blipFill>
          <a:blip r:embed="rId2"/>
          <a:stretch>
            <a:fillRect/>
          </a:stretch>
        </p:blipFill>
        <p:spPr>
          <a:xfrm rot="21600000">
            <a:off x="1224714" y="1534618"/>
            <a:ext cx="180790" cy="282135"/>
          </a:xfrm>
          <a:prstGeom prst="rect">
            <a:avLst/>
          </a:prstGeom>
        </p:spPr>
      </p:pic>
      <p:sp>
        <p:nvSpPr>
          <p:cNvPr id="302" name="rect 302"/>
          <p:cNvSpPr/>
          <p:nvPr/>
        </p:nvSpPr>
        <p:spPr>
          <a:xfrm>
            <a:off x="0" y="6612635"/>
            <a:ext cx="12192000" cy="245364"/>
          </a:xfrm>
          <a:prstGeom prst="rect">
            <a:avLst/>
          </a:prstGeom>
          <a:solidFill>
            <a:srgbClr val="0371AE">
              <a:alpha val="100000"/>
            </a:srgbClr>
          </a:solidFill>
          <a:ln w="0" cap="flat">
            <a:noFill/>
            <a:prstDash val="solid"/>
            <a:miter lim="0"/>
          </a:ln>
        </p:spPr>
        <p:txBody>
          <a:bodyPr rtlCol="0"/>
          <a:lstStyle/>
          <a:p>
            <a:pPr algn="ctr"/>
            <a:endParaRPr lang="zh-CN" altLang="en-US"/>
          </a:p>
        </p:txBody>
      </p:sp>
      <p:pic>
        <p:nvPicPr>
          <p:cNvPr id="304" name="picture 304"/>
          <p:cNvPicPr>
            <a:picLocks noChangeAspect="1"/>
          </p:cNvPicPr>
          <p:nvPr/>
        </p:nvPicPr>
        <p:blipFill>
          <a:blip r:embed="rId3"/>
          <a:stretch>
            <a:fillRect/>
          </a:stretch>
        </p:blipFill>
        <p:spPr>
          <a:xfrm rot="21600000">
            <a:off x="4195571" y="0"/>
            <a:ext cx="7996427" cy="365759"/>
          </a:xfrm>
          <a:prstGeom prst="rect">
            <a:avLst/>
          </a:prstGeom>
        </p:spPr>
      </p:pic>
      <p:pic>
        <p:nvPicPr>
          <p:cNvPr id="308" name="picture 308"/>
          <p:cNvPicPr>
            <a:picLocks noChangeAspect="1"/>
          </p:cNvPicPr>
          <p:nvPr/>
        </p:nvPicPr>
        <p:blipFill>
          <a:blip r:embed="rId4"/>
          <a:stretch>
            <a:fillRect/>
          </a:stretch>
        </p:blipFill>
        <p:spPr>
          <a:xfrm rot="21600000">
            <a:off x="0" y="0"/>
            <a:ext cx="598931" cy="373379"/>
          </a:xfrm>
          <a:prstGeom prst="rect">
            <a:avLst/>
          </a:prstGeom>
        </p:spPr>
      </p:pic>
      <p:pic>
        <p:nvPicPr>
          <p:cNvPr id="310" name="picture 310"/>
          <p:cNvPicPr>
            <a:picLocks noChangeAspect="1"/>
          </p:cNvPicPr>
          <p:nvPr/>
        </p:nvPicPr>
        <p:blipFill>
          <a:blip r:embed="rId5"/>
          <a:stretch>
            <a:fillRect/>
          </a:stretch>
        </p:blipFill>
        <p:spPr>
          <a:xfrm rot="21600000">
            <a:off x="0" y="6579983"/>
            <a:ext cx="12179300" cy="12700"/>
          </a:xfrm>
          <a:prstGeom prst="rect">
            <a:avLst/>
          </a:prstGeom>
        </p:spPr>
      </p:pic>
      <p:sp>
        <p:nvSpPr>
          <p:cNvPr id="3" name="textbox 8"/>
          <p:cNvSpPr/>
          <p:nvPr/>
        </p:nvSpPr>
        <p:spPr>
          <a:xfrm>
            <a:off x="618825" y="67294"/>
            <a:ext cx="11393805" cy="270509"/>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100000"/>
              </a:lnSpc>
            </a:pPr>
            <a:r>
              <a:rPr sz="1600" b="1" kern="0" spc="-20" dirty="0">
                <a:solidFill>
                  <a:srgbClr val="000000">
                    <a:alpha val="100000"/>
                  </a:srgbClr>
                </a:solidFill>
                <a:latin typeface="黑体" panose="02010609060101010101" charset="-122"/>
                <a:ea typeface="黑体" panose="02010609060101010101" charset="-122"/>
                <a:cs typeface="黑体" panose="02010609060101010101" charset="-122"/>
              </a:rPr>
              <a:t>米思齐</a:t>
            </a:r>
            <a:r>
              <a:rPr 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课程作业</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600" b="1" kern="0" spc="-20" dirty="0">
                <a:solidFill>
                  <a:srgbClr val="000000">
                    <a:alpha val="100000"/>
                  </a:srgbClr>
                </a:solidFill>
                <a:latin typeface="黑体" panose="02010609060101010101" charset="-122"/>
                <a:ea typeface="黑体" panose="02010609060101010101" charset="-122"/>
                <a:cs typeface="黑体" panose="02010609060101010101" charset="-122"/>
              </a:rPr>
              <a:t>余天润</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202522039114</a:t>
            </a:r>
            <a:r>
              <a:rPr sz="1600" kern="0" spc="-20" dirty="0">
                <a:solidFill>
                  <a:srgbClr val="000000">
                    <a:alpha val="100000"/>
                  </a:srgbClr>
                </a:solidFill>
                <a:latin typeface="黑体" panose="02010609060101010101" charset="-122"/>
                <a:ea typeface="黑体" panose="02010609060101010101" charset="-122"/>
                <a:cs typeface="黑体" panose="02010609060101010101" charset="-122"/>
              </a:rPr>
              <a:t>                                        </a:t>
            </a:r>
            <a:endParaRPr sz="1400" dirty="0">
              <a:latin typeface="黑体" panose="02010609060101010101" charset="-122"/>
              <a:ea typeface="黑体" panose="02010609060101010101" charset="-122"/>
              <a:cs typeface="黑体" panose="02010609060101010101" charset="-122"/>
            </a:endParaRPr>
          </a:p>
        </p:txBody>
      </p:sp>
      <p:sp>
        <p:nvSpPr>
          <p:cNvPr id="298" name="textbox 298"/>
          <p:cNvSpPr/>
          <p:nvPr/>
        </p:nvSpPr>
        <p:spPr>
          <a:xfrm>
            <a:off x="497840" y="860425"/>
            <a:ext cx="10114915" cy="179387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a:ea typeface="Arial" panose="020B0604020202020204"/>
              <a:cs typeface="Arial" panose="020B0604020202020204"/>
            </a:endParaRPr>
          </a:p>
          <a:p>
            <a:pPr marL="12700" algn="l" rtl="0" eaLnBrk="0">
              <a:lnSpc>
                <a:spcPct val="87000"/>
              </a:lnSpc>
            </a:pPr>
            <a:r>
              <a:rPr sz="3600" b="1" kern="0" spc="50" baseline="12000" dirty="0">
                <a:solidFill>
                  <a:srgbClr val="FFFFFF">
                    <a:alpha val="100000"/>
                  </a:srgbClr>
                </a:solidFill>
                <a:latin typeface="Times New Roman" panose="02020603050405020304"/>
                <a:ea typeface="Times New Roman" panose="02020603050405020304"/>
                <a:cs typeface="Times New Roman" panose="02020603050405020304"/>
              </a:rPr>
              <a:t>2</a:t>
            </a:r>
            <a:r>
              <a:rPr sz="2300" b="1" kern="0" spc="50" dirty="0">
                <a:solidFill>
                  <a:srgbClr val="FFFFFF">
                    <a:alpha val="100000"/>
                  </a:srgbClr>
                </a:solidFill>
                <a:latin typeface="Times New Roman" panose="02020603050405020304"/>
                <a:ea typeface="Times New Roman" panose="02020603050405020304"/>
                <a:cs typeface="Times New Roman" panose="02020603050405020304"/>
              </a:rPr>
              <a:t>       </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sym typeface="+mn-ea"/>
              </a:rPr>
              <a:t>记忆守护：</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sym typeface="+mn-ea"/>
              </a:rPr>
              <a:t>阿尔兹海默症预防</a:t>
            </a:r>
            <a:r>
              <a:rPr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rPr>
              <a:t>系统实践</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22000"/>
              </a:lnSpc>
            </a:pPr>
            <a:endParaRPr sz="1000" dirty="0">
              <a:latin typeface="Arial" panose="020B0604020202020204"/>
              <a:ea typeface="Arial" panose="020B0604020202020204"/>
              <a:cs typeface="Arial" panose="020B0604020202020204"/>
            </a:endParaRPr>
          </a:p>
          <a:p>
            <a:pPr marL="726440" algn="l" rtl="0" eaLnBrk="0">
              <a:lnSpc>
                <a:spcPts val="2645"/>
              </a:lnSpc>
              <a:spcBef>
                <a:spcPts val="600"/>
              </a:spcBef>
              <a:tabLst>
                <a:tab pos="906780" algn="l"/>
              </a:tabLst>
            </a:pP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54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具体任务2: </a:t>
            </a:r>
            <a:r>
              <a:rPr lang="en-US"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分析</a:t>
            </a:r>
            <a:r>
              <a:rPr lang="zh-CN" altLang="en-US"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记忆守护：</a:t>
            </a:r>
            <a:r>
              <a:rPr lang="zh-CN" altLang="en-US"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阿尔兹海默症预防</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系</a:t>
            </a:r>
            <a:r>
              <a:rPr sz="2000" b="1" kern="0" spc="-10" dirty="0">
                <a:solidFill>
                  <a:srgbClr val="5B9BD5">
                    <a:alpha val="100000"/>
                  </a:srgbClr>
                </a:solidFill>
                <a:latin typeface="微软雅黑" panose="020B0503020204020204" charset="-122"/>
                <a:ea typeface="微软雅黑" panose="020B0503020204020204" charset="-122"/>
                <a:cs typeface="微软雅黑" panose="020B0503020204020204" charset="-122"/>
              </a:rPr>
              <a:t>统的功能需求</a:t>
            </a: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1183005" algn="l" rtl="0" eaLnBrk="0">
              <a:lnSpc>
                <a:spcPct val="88000"/>
              </a:lnSpc>
              <a:spcBef>
                <a:spcPts val="0"/>
              </a:spcBef>
            </a:pP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请同学们尝试画出流程图。</a:t>
            </a:r>
            <a:endPar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7" name="图片 6"/>
          <p:cNvPicPr>
            <a:picLocks noChangeAspect="1"/>
          </p:cNvPicPr>
          <p:nvPr/>
        </p:nvPicPr>
        <p:blipFill>
          <a:blip r:embed="rId6"/>
          <a:stretch>
            <a:fillRect/>
          </a:stretch>
        </p:blipFill>
        <p:spPr>
          <a:xfrm>
            <a:off x="3267075" y="2654300"/>
            <a:ext cx="4752340" cy="36683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4" name="picture 294"/>
          <p:cNvPicPr>
            <a:picLocks noChangeAspect="1"/>
          </p:cNvPicPr>
          <p:nvPr/>
        </p:nvPicPr>
        <p:blipFill>
          <a:blip r:embed="rId1"/>
          <a:stretch>
            <a:fillRect/>
          </a:stretch>
        </p:blipFill>
        <p:spPr>
          <a:xfrm rot="21600000">
            <a:off x="0" y="0"/>
            <a:ext cx="12192000" cy="6858000"/>
          </a:xfrm>
          <a:prstGeom prst="rect">
            <a:avLst/>
          </a:prstGeom>
        </p:spPr>
      </p:pic>
      <p:pic>
        <p:nvPicPr>
          <p:cNvPr id="300" name="picture 300"/>
          <p:cNvPicPr>
            <a:picLocks noChangeAspect="1"/>
          </p:cNvPicPr>
          <p:nvPr/>
        </p:nvPicPr>
        <p:blipFill>
          <a:blip r:embed="rId2"/>
          <a:stretch>
            <a:fillRect/>
          </a:stretch>
        </p:blipFill>
        <p:spPr>
          <a:xfrm rot="21600000">
            <a:off x="1224714" y="1534618"/>
            <a:ext cx="180790" cy="282135"/>
          </a:xfrm>
          <a:prstGeom prst="rect">
            <a:avLst/>
          </a:prstGeom>
        </p:spPr>
      </p:pic>
      <p:sp>
        <p:nvSpPr>
          <p:cNvPr id="302" name="rect 302"/>
          <p:cNvSpPr/>
          <p:nvPr/>
        </p:nvSpPr>
        <p:spPr>
          <a:xfrm>
            <a:off x="0" y="6612635"/>
            <a:ext cx="12192000" cy="245364"/>
          </a:xfrm>
          <a:prstGeom prst="rect">
            <a:avLst/>
          </a:prstGeom>
          <a:solidFill>
            <a:srgbClr val="0371AE">
              <a:alpha val="100000"/>
            </a:srgbClr>
          </a:solidFill>
          <a:ln w="0" cap="flat">
            <a:noFill/>
            <a:prstDash val="solid"/>
            <a:miter lim="0"/>
          </a:ln>
        </p:spPr>
        <p:txBody>
          <a:bodyPr rtlCol="0"/>
          <a:lstStyle/>
          <a:p>
            <a:pPr algn="ctr"/>
            <a:endParaRPr lang="zh-CN" altLang="en-US"/>
          </a:p>
        </p:txBody>
      </p:sp>
      <p:pic>
        <p:nvPicPr>
          <p:cNvPr id="304" name="picture 304"/>
          <p:cNvPicPr>
            <a:picLocks noChangeAspect="1"/>
          </p:cNvPicPr>
          <p:nvPr/>
        </p:nvPicPr>
        <p:blipFill>
          <a:blip r:embed="rId3"/>
          <a:stretch>
            <a:fillRect/>
          </a:stretch>
        </p:blipFill>
        <p:spPr>
          <a:xfrm rot="21600000">
            <a:off x="4195571" y="0"/>
            <a:ext cx="7996427" cy="365759"/>
          </a:xfrm>
          <a:prstGeom prst="rect">
            <a:avLst/>
          </a:prstGeom>
        </p:spPr>
      </p:pic>
      <p:pic>
        <p:nvPicPr>
          <p:cNvPr id="308" name="picture 308"/>
          <p:cNvPicPr>
            <a:picLocks noChangeAspect="1"/>
          </p:cNvPicPr>
          <p:nvPr/>
        </p:nvPicPr>
        <p:blipFill>
          <a:blip r:embed="rId4"/>
          <a:stretch>
            <a:fillRect/>
          </a:stretch>
        </p:blipFill>
        <p:spPr>
          <a:xfrm rot="21600000">
            <a:off x="0" y="0"/>
            <a:ext cx="598931" cy="373379"/>
          </a:xfrm>
          <a:prstGeom prst="rect">
            <a:avLst/>
          </a:prstGeom>
        </p:spPr>
      </p:pic>
      <p:pic>
        <p:nvPicPr>
          <p:cNvPr id="310" name="picture 310"/>
          <p:cNvPicPr>
            <a:picLocks noChangeAspect="1"/>
          </p:cNvPicPr>
          <p:nvPr/>
        </p:nvPicPr>
        <p:blipFill>
          <a:blip r:embed="rId5"/>
          <a:stretch>
            <a:fillRect/>
          </a:stretch>
        </p:blipFill>
        <p:spPr>
          <a:xfrm rot="21600000">
            <a:off x="0" y="6579983"/>
            <a:ext cx="12179300" cy="12700"/>
          </a:xfrm>
          <a:prstGeom prst="rect">
            <a:avLst/>
          </a:prstGeom>
        </p:spPr>
      </p:pic>
      <p:sp>
        <p:nvSpPr>
          <p:cNvPr id="3" name="textbox 8"/>
          <p:cNvSpPr/>
          <p:nvPr/>
        </p:nvSpPr>
        <p:spPr>
          <a:xfrm>
            <a:off x="618825" y="67294"/>
            <a:ext cx="11393805" cy="270509"/>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100000"/>
              </a:lnSpc>
            </a:pPr>
            <a:r>
              <a:rPr sz="1600" b="1" kern="0" spc="-20" dirty="0">
                <a:solidFill>
                  <a:srgbClr val="000000">
                    <a:alpha val="100000"/>
                  </a:srgbClr>
                </a:solidFill>
                <a:latin typeface="黑体" panose="02010609060101010101" charset="-122"/>
                <a:ea typeface="黑体" panose="02010609060101010101" charset="-122"/>
                <a:cs typeface="黑体" panose="02010609060101010101" charset="-122"/>
              </a:rPr>
              <a:t>米思齐</a:t>
            </a:r>
            <a:r>
              <a:rPr 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课程作业</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600" b="1" kern="0" spc="-20" dirty="0">
                <a:solidFill>
                  <a:srgbClr val="000000">
                    <a:alpha val="100000"/>
                  </a:srgbClr>
                </a:solidFill>
                <a:latin typeface="黑体" panose="02010609060101010101" charset="-122"/>
                <a:ea typeface="黑体" panose="02010609060101010101" charset="-122"/>
                <a:cs typeface="黑体" panose="02010609060101010101" charset="-122"/>
              </a:rPr>
              <a:t>余天润</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202522039114</a:t>
            </a:r>
            <a:r>
              <a:rPr sz="1600" kern="0" spc="-20" dirty="0">
                <a:solidFill>
                  <a:srgbClr val="000000">
                    <a:alpha val="100000"/>
                  </a:srgbClr>
                </a:solidFill>
                <a:latin typeface="黑体" panose="02010609060101010101" charset="-122"/>
                <a:ea typeface="黑体" panose="02010609060101010101" charset="-122"/>
                <a:cs typeface="黑体" panose="02010609060101010101" charset="-122"/>
              </a:rPr>
              <a:t>                                        </a:t>
            </a:r>
            <a:endParaRPr sz="1400" dirty="0">
              <a:latin typeface="黑体" panose="02010609060101010101" charset="-122"/>
              <a:ea typeface="黑体" panose="02010609060101010101" charset="-122"/>
              <a:cs typeface="黑体" panose="02010609060101010101" charset="-122"/>
            </a:endParaRPr>
          </a:p>
        </p:txBody>
      </p:sp>
      <p:pic>
        <p:nvPicPr>
          <p:cNvPr id="2" name="图片 1"/>
          <p:cNvPicPr>
            <a:picLocks noChangeAspect="1"/>
          </p:cNvPicPr>
          <p:nvPr/>
        </p:nvPicPr>
        <p:blipFill>
          <a:blip r:embed="rId6"/>
          <a:stretch>
            <a:fillRect/>
          </a:stretch>
        </p:blipFill>
        <p:spPr>
          <a:xfrm>
            <a:off x="598805" y="2797810"/>
            <a:ext cx="3393440" cy="3522345"/>
          </a:xfrm>
          <a:prstGeom prst="rect">
            <a:avLst/>
          </a:prstGeom>
        </p:spPr>
      </p:pic>
      <p:pic>
        <p:nvPicPr>
          <p:cNvPr id="4" name="图片 3"/>
          <p:cNvPicPr>
            <a:picLocks noChangeAspect="1"/>
          </p:cNvPicPr>
          <p:nvPr/>
        </p:nvPicPr>
        <p:blipFill>
          <a:blip r:embed="rId7"/>
          <a:stretch>
            <a:fillRect/>
          </a:stretch>
        </p:blipFill>
        <p:spPr>
          <a:xfrm>
            <a:off x="4058920" y="2797810"/>
            <a:ext cx="3578225" cy="3552825"/>
          </a:xfrm>
          <a:prstGeom prst="rect">
            <a:avLst/>
          </a:prstGeom>
        </p:spPr>
      </p:pic>
      <p:pic>
        <p:nvPicPr>
          <p:cNvPr id="5" name="图片 4"/>
          <p:cNvPicPr>
            <a:picLocks noChangeAspect="1"/>
          </p:cNvPicPr>
          <p:nvPr/>
        </p:nvPicPr>
        <p:blipFill>
          <a:blip r:embed="rId8"/>
          <a:stretch>
            <a:fillRect/>
          </a:stretch>
        </p:blipFill>
        <p:spPr>
          <a:xfrm>
            <a:off x="9869170" y="1534795"/>
            <a:ext cx="2310130" cy="4815840"/>
          </a:xfrm>
          <a:prstGeom prst="rect">
            <a:avLst/>
          </a:prstGeom>
        </p:spPr>
      </p:pic>
      <p:pic>
        <p:nvPicPr>
          <p:cNvPr id="6" name="图片 5"/>
          <p:cNvPicPr>
            <a:picLocks noChangeAspect="1"/>
          </p:cNvPicPr>
          <p:nvPr/>
        </p:nvPicPr>
        <p:blipFill>
          <a:blip r:embed="rId9"/>
          <a:stretch>
            <a:fillRect/>
          </a:stretch>
        </p:blipFill>
        <p:spPr>
          <a:xfrm>
            <a:off x="7937500" y="1450340"/>
            <a:ext cx="1998345" cy="4900295"/>
          </a:xfrm>
          <a:prstGeom prst="rect">
            <a:avLst/>
          </a:prstGeom>
        </p:spPr>
      </p:pic>
      <p:sp>
        <p:nvSpPr>
          <p:cNvPr id="298" name="textbox 298"/>
          <p:cNvSpPr/>
          <p:nvPr/>
        </p:nvSpPr>
        <p:spPr>
          <a:xfrm>
            <a:off x="497840" y="860425"/>
            <a:ext cx="10114915" cy="179387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a:ea typeface="Arial" panose="020B0604020202020204"/>
              <a:cs typeface="Arial" panose="020B0604020202020204"/>
            </a:endParaRPr>
          </a:p>
          <a:p>
            <a:pPr marL="12700" algn="l" rtl="0" eaLnBrk="0">
              <a:lnSpc>
                <a:spcPct val="87000"/>
              </a:lnSpc>
            </a:pPr>
            <a:r>
              <a:rPr sz="3600" b="1" kern="0" spc="50" baseline="12000" dirty="0">
                <a:solidFill>
                  <a:srgbClr val="FFFFFF">
                    <a:alpha val="100000"/>
                  </a:srgbClr>
                </a:solidFill>
                <a:latin typeface="Times New Roman" panose="02020603050405020304"/>
                <a:ea typeface="Times New Roman" panose="02020603050405020304"/>
                <a:cs typeface="Times New Roman" panose="02020603050405020304"/>
              </a:rPr>
              <a:t>2</a:t>
            </a:r>
            <a:r>
              <a:rPr sz="2300" b="1" kern="0" spc="50" dirty="0">
                <a:solidFill>
                  <a:srgbClr val="FFFFFF">
                    <a:alpha val="100000"/>
                  </a:srgbClr>
                </a:solidFill>
                <a:latin typeface="Times New Roman" panose="02020603050405020304"/>
                <a:ea typeface="Times New Roman" panose="02020603050405020304"/>
                <a:cs typeface="Times New Roman" panose="02020603050405020304"/>
              </a:rPr>
              <a:t>       </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sym typeface="+mn-ea"/>
              </a:rPr>
              <a:t>记忆守护：</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sym typeface="+mn-ea"/>
              </a:rPr>
              <a:t>阿尔兹海默症预防</a:t>
            </a:r>
            <a:r>
              <a:rPr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rPr>
              <a:t>系统实践</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22000"/>
              </a:lnSpc>
            </a:pPr>
            <a:endParaRPr sz="1000" dirty="0">
              <a:latin typeface="Arial" panose="020B0604020202020204"/>
              <a:ea typeface="Arial" panose="020B0604020202020204"/>
              <a:cs typeface="Arial" panose="020B0604020202020204"/>
            </a:endParaRPr>
          </a:p>
          <a:p>
            <a:pPr marL="726440" algn="l" rtl="0" eaLnBrk="0">
              <a:lnSpc>
                <a:spcPts val="2645"/>
              </a:lnSpc>
              <a:spcBef>
                <a:spcPts val="600"/>
              </a:spcBef>
              <a:tabLst>
                <a:tab pos="906780" algn="l"/>
              </a:tabLst>
            </a:pP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54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具体任务2: </a:t>
            </a:r>
            <a:r>
              <a:rPr lang="en-US"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分析</a:t>
            </a:r>
            <a:r>
              <a:rPr lang="zh-CN" altLang="en-US"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记忆守护：</a:t>
            </a:r>
            <a:r>
              <a:rPr lang="zh-CN" altLang="en-US"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阿尔兹海默症预防</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系</a:t>
            </a:r>
            <a:r>
              <a:rPr sz="2000" b="1" kern="0" spc="-10" dirty="0">
                <a:solidFill>
                  <a:srgbClr val="5B9BD5">
                    <a:alpha val="100000"/>
                  </a:srgbClr>
                </a:solidFill>
                <a:latin typeface="微软雅黑" panose="020B0503020204020204" charset="-122"/>
                <a:ea typeface="微软雅黑" panose="020B0503020204020204" charset="-122"/>
                <a:cs typeface="微软雅黑" panose="020B0503020204020204" charset="-122"/>
              </a:rPr>
              <a:t>统的功能需求</a:t>
            </a: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1183005" algn="l" rtl="0" eaLnBrk="0">
              <a:lnSpc>
                <a:spcPct val="88000"/>
              </a:lnSpc>
              <a:spcBef>
                <a:spcPts val="0"/>
              </a:spcBef>
            </a:pP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请同学们尝试画出流程图。</a:t>
            </a:r>
            <a:endPar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2" name="picture 312"/>
          <p:cNvPicPr>
            <a:picLocks noChangeAspect="1"/>
          </p:cNvPicPr>
          <p:nvPr/>
        </p:nvPicPr>
        <p:blipFill>
          <a:blip r:embed="rId1"/>
          <a:stretch>
            <a:fillRect/>
          </a:stretch>
        </p:blipFill>
        <p:spPr>
          <a:xfrm rot="21600000">
            <a:off x="0" y="0"/>
            <a:ext cx="12192000" cy="6858000"/>
          </a:xfrm>
          <a:prstGeom prst="rect">
            <a:avLst/>
          </a:prstGeom>
        </p:spPr>
      </p:pic>
      <p:sp>
        <p:nvSpPr>
          <p:cNvPr id="314" name="path 314"/>
          <p:cNvSpPr/>
          <p:nvPr/>
        </p:nvSpPr>
        <p:spPr>
          <a:xfrm>
            <a:off x="339852" y="807720"/>
            <a:ext cx="585216" cy="364235"/>
          </a:xfrm>
          <a:custGeom>
            <a:avLst/>
            <a:gdLst/>
            <a:ahLst/>
            <a:cxnLst/>
            <a:rect l="0" t="0" r="0" b="0"/>
            <a:pathLst>
              <a:path w="921" h="573">
                <a:moveTo>
                  <a:pt x="0" y="0"/>
                </a:moveTo>
                <a:lnTo>
                  <a:pt x="739" y="0"/>
                </a:lnTo>
                <a:lnTo>
                  <a:pt x="921" y="287"/>
                </a:lnTo>
                <a:lnTo>
                  <a:pt x="739" y="573"/>
                </a:lnTo>
                <a:lnTo>
                  <a:pt x="0" y="573"/>
                </a:lnTo>
                <a:lnTo>
                  <a:pt x="0" y="0"/>
                </a:lnTo>
              </a:path>
            </a:pathLst>
          </a:custGeom>
          <a:solidFill>
            <a:srgbClr val="ED7D31">
              <a:alpha val="100000"/>
            </a:srgbClr>
          </a:solidFill>
          <a:ln w="0" cap="flat">
            <a:noFill/>
            <a:prstDash val="solid"/>
            <a:miter lim="0"/>
          </a:ln>
        </p:spPr>
        <p:txBody>
          <a:bodyPr rtlCol="0"/>
          <a:lstStyle/>
          <a:p>
            <a:pPr algn="ctr"/>
            <a:endParaRPr lang="zh-CN" altLang="en-US"/>
          </a:p>
        </p:txBody>
      </p:sp>
      <p:sp>
        <p:nvSpPr>
          <p:cNvPr id="316" name="textbox 316"/>
          <p:cNvSpPr/>
          <p:nvPr/>
        </p:nvSpPr>
        <p:spPr>
          <a:xfrm>
            <a:off x="497840" y="860425"/>
            <a:ext cx="10629900" cy="4072890"/>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a:ea typeface="Arial" panose="020B0604020202020204"/>
              <a:cs typeface="Arial" panose="020B0604020202020204"/>
            </a:endParaRPr>
          </a:p>
          <a:p>
            <a:pPr marL="12700" algn="l" rtl="0" eaLnBrk="0">
              <a:lnSpc>
                <a:spcPct val="87000"/>
              </a:lnSpc>
            </a:pPr>
            <a:r>
              <a:rPr sz="3600" b="1" kern="0" spc="50" baseline="12000" dirty="0">
                <a:solidFill>
                  <a:srgbClr val="FFFFFF">
                    <a:alpha val="100000"/>
                  </a:srgbClr>
                </a:solidFill>
                <a:latin typeface="Times New Roman" panose="02020603050405020304"/>
                <a:ea typeface="Times New Roman" panose="02020603050405020304"/>
                <a:cs typeface="Times New Roman" panose="02020603050405020304"/>
              </a:rPr>
              <a:t>2</a:t>
            </a:r>
            <a:r>
              <a:rPr sz="2300" b="1" kern="0" spc="50" dirty="0">
                <a:solidFill>
                  <a:srgbClr val="FFFFFF">
                    <a:alpha val="100000"/>
                  </a:srgbClr>
                </a:solidFill>
                <a:latin typeface="Times New Roman" panose="02020603050405020304"/>
                <a:ea typeface="Times New Roman" panose="02020603050405020304"/>
                <a:cs typeface="Times New Roman" panose="02020603050405020304"/>
              </a:rPr>
              <a:t>       </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sym typeface="+mn-ea"/>
              </a:rPr>
              <a:t>记忆守护：</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sym typeface="+mn-ea"/>
              </a:rPr>
              <a:t>阿尔兹海默症预防</a:t>
            </a:r>
            <a:r>
              <a:rPr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rPr>
              <a:t>系统实践</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22000"/>
              </a:lnSpc>
            </a:pPr>
            <a:endParaRPr sz="1000" dirty="0">
              <a:latin typeface="Arial" panose="020B0604020202020204"/>
              <a:ea typeface="Arial" panose="020B0604020202020204"/>
              <a:cs typeface="Arial" panose="020B0604020202020204"/>
            </a:endParaRPr>
          </a:p>
          <a:p>
            <a:pPr marL="758190" algn="l" rtl="0" eaLnBrk="0">
              <a:lnSpc>
                <a:spcPts val="2645"/>
              </a:lnSpc>
              <a:spcBef>
                <a:spcPts val="600"/>
              </a:spcBef>
              <a:tabLst>
                <a:tab pos="938530" algn="l"/>
              </a:tabLst>
            </a:pP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54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具体任务3: </a:t>
            </a:r>
            <a:r>
              <a:rPr lang="en-US"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模拟实现</a:t>
            </a:r>
            <a:r>
              <a:rPr lang="zh-CN" altLang="en-US" sz="2000" b="1" kern="0" spc="-10" dirty="0">
                <a:solidFill>
                  <a:srgbClr val="5B9BD5">
                    <a:alpha val="100000"/>
                  </a:srgbClr>
                </a:solidFill>
                <a:latin typeface="微软雅黑" panose="020B0503020204020204" charset="-122"/>
                <a:ea typeface="微软雅黑" panose="020B0503020204020204" charset="-122"/>
                <a:cs typeface="微软雅黑" panose="020B0503020204020204" charset="-122"/>
              </a:rPr>
              <a:t>记忆守护：</a:t>
            </a:r>
            <a:r>
              <a:rPr lang="zh-CN" altLang="en-US" sz="2000" b="1" kern="0" spc="-10" dirty="0">
                <a:solidFill>
                  <a:srgbClr val="5B9BD5">
                    <a:alpha val="100000"/>
                  </a:srgbClr>
                </a:solidFill>
                <a:latin typeface="微软雅黑" panose="020B0503020204020204" charset="-122"/>
                <a:ea typeface="微软雅黑" panose="020B0503020204020204" charset="-122"/>
                <a:cs typeface="微软雅黑" panose="020B0503020204020204" charset="-122"/>
              </a:rPr>
              <a:t>阿尔兹海默症预防</a:t>
            </a:r>
            <a:r>
              <a:rPr sz="2000" b="1" kern="0" spc="-10" dirty="0">
                <a:solidFill>
                  <a:srgbClr val="5B9BD5">
                    <a:alpha val="100000"/>
                  </a:srgbClr>
                </a:solidFill>
                <a:latin typeface="微软雅黑" panose="020B0503020204020204" charset="-122"/>
                <a:ea typeface="微软雅黑" panose="020B0503020204020204" charset="-122"/>
                <a:cs typeface="微软雅黑" panose="020B0503020204020204" charset="-122"/>
              </a:rPr>
              <a:t>系统功能</a:t>
            </a:r>
            <a:endParaRPr sz="1000" dirty="0">
              <a:latin typeface="Arial" panose="020B0604020202020204"/>
              <a:ea typeface="Arial" panose="020B0604020202020204"/>
              <a:cs typeface="Arial" panose="020B0604020202020204"/>
            </a:endParaRPr>
          </a:p>
          <a:p>
            <a:pPr algn="l" rtl="0" eaLnBrk="0">
              <a:lnSpc>
                <a:spcPct val="134000"/>
              </a:lnSpc>
            </a:pPr>
            <a:endParaRPr sz="1000" dirty="0">
              <a:latin typeface="Arial" panose="020B0604020202020204"/>
              <a:ea typeface="Arial" panose="020B0604020202020204"/>
              <a:cs typeface="Arial" panose="020B0604020202020204"/>
            </a:endParaRPr>
          </a:p>
          <a:p>
            <a:pPr marL="1007110" algn="l" rtl="0" eaLnBrk="0">
              <a:lnSpc>
                <a:spcPct val="87000"/>
              </a:lnSpc>
              <a:spcBef>
                <a:spcPts val="600"/>
              </a:spcBef>
            </a:pPr>
            <a:r>
              <a:rPr sz="19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实现要求</a:t>
            </a:r>
            <a:r>
              <a:rPr sz="1900" b="1"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sz="2000" dirty="0">
              <a:latin typeface="微软雅黑" panose="020B0503020204020204" charset="-122"/>
              <a:ea typeface="微软雅黑" panose="020B0503020204020204" charset="-122"/>
              <a:cs typeface="微软雅黑" panose="020B0503020204020204" charset="-122"/>
            </a:endParaRPr>
          </a:p>
          <a:p>
            <a:pPr marL="1102995" indent="0" algn="l" rtl="0" eaLnBrk="0">
              <a:lnSpc>
                <a:spcPts val="2690"/>
              </a:lnSpc>
              <a:spcBef>
                <a:spcPts val="1140"/>
              </a:spcBef>
              <a:buFont typeface="+mj-lt"/>
              <a:buNone/>
            </a:pPr>
            <a:r>
              <a:rPr lang="zh-CN" dirty="0">
                <a:latin typeface="Times New Roman" panose="02020603050405020304" charset="0"/>
                <a:ea typeface="黑体" panose="02010609060101010101" charset="-122"/>
                <a:cs typeface="Times New Roman" panose="02020603050405020304" charset="0"/>
                <a:sym typeface="+mn-ea"/>
              </a:rPr>
              <a:t>（</a:t>
            </a:r>
            <a:r>
              <a:rPr lang="en-US" altLang="zh-CN" dirty="0">
                <a:latin typeface="Times New Roman" panose="02020603050405020304" charset="0"/>
                <a:ea typeface="黑体" panose="02010609060101010101" charset="-122"/>
                <a:cs typeface="Times New Roman" panose="02020603050405020304" charset="0"/>
                <a:sym typeface="+mn-ea"/>
              </a:rPr>
              <a:t>1</a:t>
            </a:r>
            <a:r>
              <a:rPr lang="zh-CN" dirty="0">
                <a:latin typeface="Times New Roman" panose="02020603050405020304" charset="0"/>
                <a:ea typeface="黑体" panose="02010609060101010101" charset="-122"/>
                <a:cs typeface="Times New Roman" panose="02020603050405020304" charset="0"/>
                <a:sym typeface="+mn-ea"/>
              </a:rPr>
              <a:t>）</a:t>
            </a:r>
            <a:r>
              <a:rPr lang="zh-CN" altLang="en-US" b="1" dirty="0">
                <a:solidFill>
                  <a:schemeClr val="accent1"/>
                </a:solidFill>
                <a:effectLst>
                  <a:outerShdw blurRad="38100" dist="25400" dir="5400000" algn="ctr" rotWithShape="0">
                    <a:srgbClr val="6E747A">
                      <a:alpha val="43000"/>
                    </a:srgbClr>
                  </a:outerShdw>
                </a:effectLst>
                <a:latin typeface="Times New Roman" panose="02020603050405020304" charset="0"/>
                <a:ea typeface="黑体" panose="02010609060101010101" charset="-122"/>
                <a:cs typeface="Times New Roman" panose="02020603050405020304" charset="0"/>
                <a:sym typeface="+mn-ea"/>
              </a:rPr>
              <a:t>难度自定义选择</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charset="0"/>
                <a:ea typeface="黑体" panose="02010609060101010101" charset="-122"/>
                <a:cs typeface="Times New Roman" panose="02020603050405020304" charset="0"/>
                <a:sym typeface="+mn-ea"/>
              </a:rPr>
              <a:t>：</a:t>
            </a:r>
            <a:r>
              <a:rPr lang="zh-CN" altLang="en-US" dirty="0">
                <a:latin typeface="Times New Roman" panose="02020603050405020304" charset="0"/>
                <a:ea typeface="黑体" panose="02010609060101010101" charset="-122"/>
                <a:cs typeface="Times New Roman" panose="02020603050405020304" charset="0"/>
                <a:sym typeface="+mn-ea"/>
              </a:rPr>
              <a:t>用户通过</a:t>
            </a:r>
            <a:r>
              <a:rPr lang="en-US" altLang="zh-CN" dirty="0">
                <a:latin typeface="Times New Roman" panose="02020603050405020304" charset="0"/>
                <a:ea typeface="黑体" panose="02010609060101010101" charset="-122"/>
                <a:cs typeface="Times New Roman" panose="02020603050405020304" charset="0"/>
                <a:sym typeface="+mn-ea"/>
              </a:rPr>
              <a:t> A1-A4 </a:t>
            </a:r>
            <a:r>
              <a:rPr lang="zh-CN" altLang="en-US" dirty="0">
                <a:latin typeface="Times New Roman" panose="02020603050405020304" charset="0"/>
                <a:ea typeface="黑体" panose="02010609060101010101" charset="-122"/>
                <a:cs typeface="Times New Roman" panose="02020603050405020304" charset="0"/>
                <a:sym typeface="+mn-ea"/>
              </a:rPr>
              <a:t>按键选择不同的训练难度（</a:t>
            </a:r>
            <a:r>
              <a:rPr lang="en-US" altLang="zh-CN" dirty="0">
                <a:latin typeface="Times New Roman" panose="02020603050405020304" charset="0"/>
                <a:ea typeface="黑体" panose="02010609060101010101" charset="-122"/>
                <a:cs typeface="Times New Roman" panose="02020603050405020304" charset="0"/>
                <a:sym typeface="+mn-ea"/>
              </a:rPr>
              <a:t>S1-S4</a:t>
            </a:r>
            <a:r>
              <a:rPr lang="zh-CN" altLang="en-US" dirty="0">
                <a:latin typeface="Times New Roman" panose="02020603050405020304" charset="0"/>
                <a:ea typeface="黑体" panose="02010609060101010101" charset="-122"/>
                <a:cs typeface="Times New Roman" panose="02020603050405020304" charset="0"/>
                <a:sym typeface="+mn-ea"/>
              </a:rPr>
              <a:t>）。</a:t>
            </a:r>
            <a:endParaRPr lang="zh-CN" altLang="en-US" dirty="0">
              <a:latin typeface="Times New Roman" panose="02020603050405020304" charset="0"/>
              <a:ea typeface="黑体" panose="02010609060101010101" charset="-122"/>
              <a:cs typeface="Times New Roman" panose="02020603050405020304" charset="0"/>
            </a:endParaRPr>
          </a:p>
          <a:p>
            <a:pPr marL="1102995" indent="0" algn="l" rtl="0" eaLnBrk="0">
              <a:lnSpc>
                <a:spcPts val="2690"/>
              </a:lnSpc>
              <a:spcBef>
                <a:spcPts val="1140"/>
              </a:spcBef>
              <a:buFont typeface="+mj-lt"/>
              <a:buNone/>
            </a:pPr>
            <a:r>
              <a:rPr lang="zh-CN" altLang="en-US" dirty="0">
                <a:latin typeface="Times New Roman" panose="02020603050405020304" charset="0"/>
                <a:ea typeface="黑体" panose="02010609060101010101" charset="-122"/>
                <a:cs typeface="Times New Roman" panose="02020603050405020304" charset="0"/>
                <a:sym typeface="+mn-ea"/>
              </a:rPr>
              <a:t>（</a:t>
            </a:r>
            <a:r>
              <a:rPr lang="en-US" altLang="zh-CN" dirty="0">
                <a:latin typeface="Times New Roman" panose="02020603050405020304" charset="0"/>
                <a:ea typeface="黑体" panose="02010609060101010101" charset="-122"/>
                <a:cs typeface="Times New Roman" panose="02020603050405020304" charset="0"/>
                <a:sym typeface="+mn-ea"/>
              </a:rPr>
              <a:t>2</a:t>
            </a:r>
            <a:r>
              <a:rPr lang="zh-CN" altLang="en-US" dirty="0">
                <a:latin typeface="Times New Roman" panose="02020603050405020304" charset="0"/>
                <a:ea typeface="黑体" panose="02010609060101010101" charset="-122"/>
                <a:cs typeface="Times New Roman" panose="02020603050405020304" charset="0"/>
                <a:sym typeface="+mn-ea"/>
              </a:rPr>
              <a:t>）</a:t>
            </a:r>
            <a:r>
              <a:rPr lang="zh-CN" altLang="en-US" b="1" dirty="0">
                <a:solidFill>
                  <a:schemeClr val="accent1"/>
                </a:solidFill>
                <a:effectLst>
                  <a:outerShdw blurRad="38100" dist="25400" dir="5400000" algn="ctr" rotWithShape="0">
                    <a:srgbClr val="6E747A">
                      <a:alpha val="43000"/>
                    </a:srgbClr>
                  </a:outerShdw>
                </a:effectLst>
                <a:latin typeface="Times New Roman" panose="02020603050405020304" charset="0"/>
                <a:ea typeface="黑体" panose="02010609060101010101" charset="-122"/>
                <a:cs typeface="Times New Roman" panose="02020603050405020304" charset="0"/>
                <a:sym typeface="+mn-ea"/>
              </a:rPr>
              <a:t>随机序列生成</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charset="0"/>
                <a:ea typeface="黑体" panose="02010609060101010101" charset="-122"/>
                <a:cs typeface="Times New Roman" panose="02020603050405020304" charset="0"/>
                <a:sym typeface="+mn-ea"/>
              </a:rPr>
              <a:t>：</a:t>
            </a:r>
            <a:r>
              <a:rPr lang="zh-CN" altLang="en-US" dirty="0">
                <a:latin typeface="Times New Roman" panose="02020603050405020304" charset="0"/>
                <a:ea typeface="黑体" panose="02010609060101010101" charset="-122"/>
                <a:cs typeface="Times New Roman" panose="02020603050405020304" charset="0"/>
                <a:sym typeface="+mn-ea"/>
              </a:rPr>
              <a:t>根据当前关卡等级，随机生成一组由</a:t>
            </a:r>
            <a:r>
              <a:rPr lang="en-US" altLang="zh-CN" dirty="0">
                <a:latin typeface="Times New Roman" panose="02020603050405020304" charset="0"/>
                <a:ea typeface="黑体" panose="02010609060101010101" charset="-122"/>
                <a:cs typeface="Times New Roman" panose="02020603050405020304" charset="0"/>
                <a:sym typeface="+mn-ea"/>
              </a:rPr>
              <a:t>“v</a:t>
            </a:r>
            <a:r>
              <a:rPr lang="zh-CN" altLang="en-US" dirty="0">
                <a:latin typeface="Times New Roman" panose="02020603050405020304" charset="0"/>
                <a:ea typeface="黑体" panose="02010609060101010101" charset="-122"/>
                <a:cs typeface="Times New Roman" panose="02020603050405020304" charset="0"/>
                <a:sym typeface="+mn-ea"/>
              </a:rPr>
              <a:t>、</a:t>
            </a:r>
            <a:r>
              <a:rPr lang="en-US" altLang="zh-CN" dirty="0">
                <a:latin typeface="Times New Roman" panose="02020603050405020304" charset="0"/>
                <a:ea typeface="黑体" panose="02010609060101010101" charset="-122"/>
                <a:cs typeface="Times New Roman" panose="02020603050405020304" charset="0"/>
                <a:sym typeface="+mn-ea"/>
              </a:rPr>
              <a:t>&lt;</a:t>
            </a:r>
            <a:r>
              <a:rPr lang="zh-CN" altLang="en-US" dirty="0">
                <a:latin typeface="Times New Roman" panose="02020603050405020304" charset="0"/>
                <a:ea typeface="黑体" panose="02010609060101010101" charset="-122"/>
                <a:cs typeface="Times New Roman" panose="02020603050405020304" charset="0"/>
                <a:sym typeface="+mn-ea"/>
              </a:rPr>
              <a:t>、</a:t>
            </a:r>
            <a:r>
              <a:rPr lang="en-US" altLang="zh-CN" dirty="0">
                <a:latin typeface="Times New Roman" panose="02020603050405020304" charset="0"/>
                <a:ea typeface="黑体" panose="02010609060101010101" charset="-122"/>
                <a:cs typeface="Times New Roman" panose="02020603050405020304" charset="0"/>
                <a:sym typeface="+mn-ea"/>
              </a:rPr>
              <a:t>^</a:t>
            </a:r>
            <a:r>
              <a:rPr lang="zh-CN" altLang="en-US" dirty="0">
                <a:latin typeface="Times New Roman" panose="02020603050405020304" charset="0"/>
                <a:ea typeface="黑体" panose="02010609060101010101" charset="-122"/>
                <a:cs typeface="Times New Roman" panose="02020603050405020304" charset="0"/>
                <a:sym typeface="+mn-ea"/>
              </a:rPr>
              <a:t>、</a:t>
            </a:r>
            <a:r>
              <a:rPr lang="en-US" altLang="zh-CN" dirty="0">
                <a:latin typeface="Times New Roman" panose="02020603050405020304" charset="0"/>
                <a:ea typeface="黑体" panose="02010609060101010101" charset="-122"/>
                <a:cs typeface="Times New Roman" panose="02020603050405020304" charset="0"/>
                <a:sym typeface="+mn-ea"/>
              </a:rPr>
              <a:t>&gt;”</a:t>
            </a:r>
            <a:r>
              <a:rPr lang="zh-CN" altLang="en-US" dirty="0">
                <a:latin typeface="Times New Roman" panose="02020603050405020304" charset="0"/>
                <a:ea typeface="黑体" panose="02010609060101010101" charset="-122"/>
                <a:cs typeface="Times New Roman" panose="02020603050405020304" charset="0"/>
                <a:sym typeface="+mn-ea"/>
              </a:rPr>
              <a:t>组成的题目序列，并在点阵屏上依次展示。</a:t>
            </a:r>
            <a:endParaRPr lang="zh-CN" altLang="en-US" dirty="0">
              <a:latin typeface="Times New Roman" panose="02020603050405020304" charset="0"/>
              <a:ea typeface="黑体" panose="02010609060101010101" charset="-122"/>
              <a:cs typeface="Times New Roman" panose="02020603050405020304" charset="0"/>
            </a:endParaRPr>
          </a:p>
          <a:p>
            <a:pPr marL="1102995" indent="0" algn="l" rtl="0" eaLnBrk="0">
              <a:lnSpc>
                <a:spcPts val="2690"/>
              </a:lnSpc>
              <a:spcBef>
                <a:spcPts val="1140"/>
              </a:spcBef>
              <a:buFont typeface="+mj-lt"/>
              <a:buNone/>
            </a:pPr>
            <a:r>
              <a:rPr lang="zh-CN" altLang="en-US" dirty="0">
                <a:latin typeface="Times New Roman" panose="02020603050405020304" charset="0"/>
                <a:ea typeface="黑体" panose="02010609060101010101" charset="-122"/>
                <a:cs typeface="Times New Roman" panose="02020603050405020304" charset="0"/>
                <a:sym typeface="+mn-ea"/>
              </a:rPr>
              <a:t>（</a:t>
            </a:r>
            <a:r>
              <a:rPr lang="en-US" altLang="zh-CN" dirty="0">
                <a:latin typeface="Times New Roman" panose="02020603050405020304" charset="0"/>
                <a:ea typeface="黑体" panose="02010609060101010101" charset="-122"/>
                <a:cs typeface="Times New Roman" panose="02020603050405020304" charset="0"/>
                <a:sym typeface="+mn-ea"/>
              </a:rPr>
              <a:t>3</a:t>
            </a:r>
            <a:r>
              <a:rPr lang="zh-CN" altLang="en-US" dirty="0">
                <a:latin typeface="Times New Roman" panose="02020603050405020304" charset="0"/>
                <a:ea typeface="黑体" panose="02010609060101010101" charset="-122"/>
                <a:cs typeface="Times New Roman" panose="02020603050405020304" charset="0"/>
                <a:sym typeface="+mn-ea"/>
              </a:rPr>
              <a:t>）</a:t>
            </a:r>
            <a:r>
              <a:rPr lang="zh-CN" altLang="en-US" b="1" dirty="0">
                <a:solidFill>
                  <a:schemeClr val="accent1"/>
                </a:solidFill>
                <a:effectLst>
                  <a:outerShdw blurRad="38100" dist="25400" dir="5400000" algn="ctr" rotWithShape="0">
                    <a:srgbClr val="6E747A">
                      <a:alpha val="43000"/>
                    </a:srgbClr>
                  </a:outerShdw>
                </a:effectLst>
                <a:latin typeface="Times New Roman" panose="02020603050405020304" charset="0"/>
                <a:ea typeface="黑体" panose="02010609060101010101" charset="-122"/>
                <a:cs typeface="Times New Roman" panose="02020603050405020304" charset="0"/>
                <a:sym typeface="+mn-ea"/>
              </a:rPr>
              <a:t>实时交互反馈</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charset="0"/>
                <a:ea typeface="黑体" panose="02010609060101010101" charset="-122"/>
                <a:cs typeface="Times New Roman" panose="02020603050405020304" charset="0"/>
                <a:sym typeface="+mn-ea"/>
              </a:rPr>
              <a:t>：</a:t>
            </a:r>
            <a:r>
              <a:rPr lang="zh-CN" altLang="en-US" dirty="0">
                <a:latin typeface="Times New Roman" panose="02020603050405020304" charset="0"/>
                <a:ea typeface="黑体" panose="02010609060101010101" charset="-122"/>
                <a:cs typeface="Times New Roman" panose="02020603050405020304" charset="0"/>
                <a:sym typeface="+mn-ea"/>
              </a:rPr>
              <a:t>用户需按照记忆顺序按下对应按键（</a:t>
            </a:r>
            <a:r>
              <a:rPr lang="en-US" altLang="zh-CN" dirty="0">
                <a:latin typeface="Times New Roman" panose="02020603050405020304" charset="0"/>
                <a:ea typeface="黑体" panose="02010609060101010101" charset="-122"/>
                <a:cs typeface="Times New Roman" panose="02020603050405020304" charset="0"/>
                <a:sym typeface="+mn-ea"/>
              </a:rPr>
              <a:t>A1-A4</a:t>
            </a:r>
            <a:r>
              <a:rPr lang="zh-CN" altLang="en-US" dirty="0">
                <a:latin typeface="Times New Roman" panose="02020603050405020304" charset="0"/>
                <a:ea typeface="黑体" panose="02010609060101010101" charset="-122"/>
                <a:cs typeface="Times New Roman" panose="02020603050405020304" charset="0"/>
                <a:sym typeface="+mn-ea"/>
              </a:rPr>
              <a:t>）。系统实时判断用户的每次输入是否正确。若用户全部输入正确，点阵屏显示</a:t>
            </a:r>
            <a:r>
              <a:rPr lang="en-US" altLang="zh-CN" dirty="0">
                <a:latin typeface="Times New Roman" panose="02020603050405020304" charset="0"/>
                <a:ea typeface="黑体" panose="02010609060101010101" charset="-122"/>
                <a:cs typeface="Times New Roman" panose="02020603050405020304" charset="0"/>
                <a:sym typeface="+mn-ea"/>
              </a:rPr>
              <a:t>“√”</a:t>
            </a:r>
            <a:r>
              <a:rPr lang="zh-CN" altLang="en-US" dirty="0">
                <a:latin typeface="Times New Roman" panose="02020603050405020304" charset="0"/>
                <a:ea typeface="黑体" panose="02010609060101010101" charset="-122"/>
                <a:cs typeface="Times New Roman" panose="02020603050405020304" charset="0"/>
                <a:sym typeface="+mn-ea"/>
              </a:rPr>
              <a:t>反馈，并自动进入下一关（增加题目长度）。若输入错误或时间耗尽，则结束当前训练。</a:t>
            </a:r>
            <a:endParaRPr lang="zh-CN" altLang="en-US" dirty="0">
              <a:latin typeface="Times New Roman" panose="02020603050405020304" charset="0"/>
              <a:ea typeface="黑体" panose="02010609060101010101" charset="-122"/>
              <a:cs typeface="Times New Roman" panose="02020603050405020304" charset="0"/>
            </a:endParaRPr>
          </a:p>
          <a:p>
            <a:pPr marL="1102995" indent="0" algn="l" rtl="0" eaLnBrk="0">
              <a:lnSpc>
                <a:spcPts val="2690"/>
              </a:lnSpc>
              <a:spcBef>
                <a:spcPts val="1140"/>
              </a:spcBef>
              <a:buFont typeface="+mj-lt"/>
              <a:buNone/>
            </a:pPr>
            <a:r>
              <a:rPr lang="zh-CN" altLang="en-US" dirty="0">
                <a:latin typeface="Times New Roman" panose="02020603050405020304" charset="0"/>
                <a:ea typeface="黑体" panose="02010609060101010101" charset="-122"/>
                <a:cs typeface="Times New Roman" panose="02020603050405020304" charset="0"/>
                <a:sym typeface="+mn-ea"/>
              </a:rPr>
              <a:t>（</a:t>
            </a:r>
            <a:r>
              <a:rPr lang="en-US" altLang="zh-CN" dirty="0">
                <a:latin typeface="Times New Roman" panose="02020603050405020304" charset="0"/>
                <a:ea typeface="黑体" panose="02010609060101010101" charset="-122"/>
                <a:cs typeface="Times New Roman" panose="02020603050405020304" charset="0"/>
                <a:sym typeface="+mn-ea"/>
              </a:rPr>
              <a:t>4</a:t>
            </a:r>
            <a:r>
              <a:rPr lang="zh-CN" altLang="en-US" dirty="0">
                <a:latin typeface="Times New Roman" panose="02020603050405020304" charset="0"/>
                <a:ea typeface="黑体" panose="02010609060101010101" charset="-122"/>
                <a:cs typeface="Times New Roman" panose="02020603050405020304" charset="0"/>
                <a:sym typeface="+mn-ea"/>
              </a:rPr>
              <a:t>）</a:t>
            </a:r>
            <a:r>
              <a:rPr lang="zh-CN" altLang="en-US" b="1" dirty="0">
                <a:solidFill>
                  <a:schemeClr val="accent1"/>
                </a:solidFill>
                <a:effectLst>
                  <a:outerShdw blurRad="38100" dist="25400" dir="5400000" algn="ctr" rotWithShape="0">
                    <a:srgbClr val="6E747A">
                      <a:alpha val="43000"/>
                    </a:srgbClr>
                  </a:outerShdw>
                </a:effectLst>
                <a:latin typeface="Times New Roman" panose="02020603050405020304" charset="0"/>
                <a:ea typeface="黑体" panose="02010609060101010101" charset="-122"/>
                <a:cs typeface="Times New Roman" panose="02020603050405020304" charset="0"/>
                <a:sym typeface="+mn-ea"/>
              </a:rPr>
              <a:t>训练得分云同步</a:t>
            </a: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charset="0"/>
                <a:ea typeface="黑体" panose="02010609060101010101" charset="-122"/>
                <a:cs typeface="Times New Roman" panose="02020603050405020304" charset="0"/>
                <a:sym typeface="+mn-ea"/>
              </a:rPr>
              <a:t>：</a:t>
            </a:r>
            <a:r>
              <a:rPr lang="zh-CN" altLang="en-US" dirty="0">
                <a:latin typeface="Times New Roman" panose="02020603050405020304" charset="0"/>
                <a:ea typeface="黑体" panose="02010609060101010101" charset="-122"/>
                <a:cs typeface="Times New Roman" panose="02020603050405020304" charset="0"/>
                <a:sym typeface="+mn-ea"/>
              </a:rPr>
              <a:t>在训练结束时，将本次训练的最终得分（</a:t>
            </a:r>
            <a:r>
              <a:rPr lang="en-US" altLang="zh-CN" dirty="0">
                <a:latin typeface="Times New Roman" panose="02020603050405020304" charset="0"/>
                <a:ea typeface="黑体" panose="02010609060101010101" charset="-122"/>
                <a:cs typeface="Times New Roman" panose="02020603050405020304" charset="0"/>
                <a:sym typeface="+mn-ea"/>
              </a:rPr>
              <a:t>Score</a:t>
            </a:r>
            <a:r>
              <a:rPr lang="zh-CN" altLang="en-US" dirty="0">
                <a:latin typeface="Times New Roman" panose="02020603050405020304" charset="0"/>
                <a:ea typeface="黑体" panose="02010609060101010101" charset="-122"/>
                <a:cs typeface="Times New Roman" panose="02020603050405020304" charset="0"/>
                <a:sym typeface="+mn-ea"/>
              </a:rPr>
              <a:t>）通过</a:t>
            </a:r>
            <a:r>
              <a:rPr lang="en-US" altLang="zh-CN" dirty="0">
                <a:latin typeface="Times New Roman" panose="02020603050405020304" charset="0"/>
                <a:ea typeface="黑体" panose="02010609060101010101" charset="-122"/>
                <a:cs typeface="Times New Roman" panose="02020603050405020304" charset="0"/>
                <a:sym typeface="+mn-ea"/>
              </a:rPr>
              <a:t> MQTT </a:t>
            </a:r>
            <a:r>
              <a:rPr lang="zh-CN" altLang="en-US" dirty="0">
                <a:latin typeface="Times New Roman" panose="02020603050405020304" charset="0"/>
                <a:ea typeface="黑体" panose="02010609060101010101" charset="-122"/>
                <a:cs typeface="Times New Roman" panose="02020603050405020304" charset="0"/>
                <a:sym typeface="+mn-ea"/>
              </a:rPr>
              <a:t>协议上传至物联网服务平台。</a:t>
            </a:r>
            <a:endParaRPr lang="zh-CN" altLang="en-US" dirty="0">
              <a:latin typeface="Times New Roman" panose="02020603050405020304" charset="0"/>
              <a:ea typeface="黑体" panose="02010609060101010101" charset="-122"/>
              <a:cs typeface="Times New Roman" panose="02020603050405020304" charset="0"/>
              <a:sym typeface="+mn-ea"/>
            </a:endParaRPr>
          </a:p>
          <a:p>
            <a:pPr marL="1102995" indent="0" algn="l" rtl="0" eaLnBrk="0">
              <a:lnSpc>
                <a:spcPts val="2690"/>
              </a:lnSpc>
              <a:spcBef>
                <a:spcPts val="1140"/>
              </a:spcBef>
              <a:buFont typeface="+mj-lt"/>
              <a:buNone/>
            </a:pPr>
            <a:r>
              <a:rPr b="1" kern="0" spc="-60" dirty="0">
                <a:solidFill>
                  <a:srgbClr val="000000">
                    <a:alpha val="100000"/>
                  </a:srgbClr>
                </a:solidFill>
                <a:latin typeface="Times New Roman" panose="02020603050405020304" charset="0"/>
                <a:ea typeface="微软雅黑" panose="020B0503020204020204" charset="-122"/>
                <a:cs typeface="Times New Roman" panose="02020603050405020304" charset="0"/>
              </a:rPr>
              <a:t>实验设备 ：</a:t>
            </a:r>
            <a:r>
              <a:rPr kern="0" spc="-60" dirty="0">
                <a:solidFill>
                  <a:srgbClr val="000000">
                    <a:alpha val="100000"/>
                  </a:srgbClr>
                </a:solidFill>
                <a:latin typeface="Times New Roman" panose="02020603050405020304" charset="0"/>
                <a:ea typeface="微软雅黑" panose="020B0503020204020204" charset="-122"/>
                <a:cs typeface="Times New Roman" panose="02020603050405020304" charset="0"/>
              </a:rPr>
              <a:t>主控板</a:t>
            </a:r>
            <a:r>
              <a:rPr kern="0" spc="-60" dirty="0">
                <a:solidFill>
                  <a:srgbClr val="000000">
                    <a:alpha val="100000"/>
                  </a:srgbClr>
                </a:solidFill>
                <a:latin typeface="Times New Roman" panose="02020603050405020304" charset="0"/>
                <a:ea typeface="Times New Roman" panose="02020603050405020304"/>
                <a:cs typeface="Times New Roman" panose="02020603050405020304" charset="0"/>
              </a:rPr>
              <a:t>*1 </a:t>
            </a:r>
            <a:r>
              <a:rPr kern="0" spc="-60" dirty="0">
                <a:solidFill>
                  <a:srgbClr val="000000">
                    <a:alpha val="100000"/>
                  </a:srgbClr>
                </a:solidFill>
                <a:latin typeface="Times New Roman" panose="02020603050405020304" charset="0"/>
                <a:ea typeface="微软雅黑" panose="020B0503020204020204" charset="-122"/>
                <a:cs typeface="Times New Roman" panose="02020603050405020304" charset="0"/>
              </a:rPr>
              <a:t>；连接线</a:t>
            </a:r>
            <a:r>
              <a:rPr kern="0" spc="-60" dirty="0">
                <a:solidFill>
                  <a:srgbClr val="000000">
                    <a:alpha val="100000"/>
                  </a:srgbClr>
                </a:solidFill>
                <a:latin typeface="Times New Roman" panose="02020603050405020304" charset="0"/>
                <a:ea typeface="Times New Roman" panose="02020603050405020304"/>
                <a:cs typeface="Times New Roman" panose="02020603050405020304" charset="0"/>
              </a:rPr>
              <a:t>*1 </a:t>
            </a:r>
            <a:r>
              <a:rPr kern="0" spc="-60" dirty="0">
                <a:solidFill>
                  <a:srgbClr val="000000">
                    <a:alpha val="100000"/>
                  </a:srgbClr>
                </a:solidFill>
                <a:latin typeface="Times New Roman" panose="02020603050405020304" charset="0"/>
                <a:ea typeface="微软雅黑" panose="020B0503020204020204" charset="-122"/>
                <a:cs typeface="Times New Roman" panose="02020603050405020304" charset="0"/>
              </a:rPr>
              <a:t>；</a:t>
            </a:r>
            <a:endParaRPr kern="0" spc="-60" dirty="0">
              <a:solidFill>
                <a:srgbClr val="000000">
                  <a:alpha val="100000"/>
                </a:srgbClr>
              </a:solidFill>
              <a:latin typeface="Times New Roman" panose="02020603050405020304" charset="0"/>
              <a:ea typeface="微软雅黑" panose="020B0503020204020204" charset="-122"/>
              <a:cs typeface="Times New Roman" panose="02020603050405020304" charset="0"/>
            </a:endParaRPr>
          </a:p>
        </p:txBody>
      </p:sp>
      <p:pic>
        <p:nvPicPr>
          <p:cNvPr id="318" name="picture 318"/>
          <p:cNvPicPr>
            <a:picLocks noChangeAspect="1"/>
          </p:cNvPicPr>
          <p:nvPr/>
        </p:nvPicPr>
        <p:blipFill>
          <a:blip r:embed="rId2"/>
          <a:stretch>
            <a:fillRect/>
          </a:stretch>
        </p:blipFill>
        <p:spPr>
          <a:xfrm rot="21600000">
            <a:off x="1256464" y="1534618"/>
            <a:ext cx="180790" cy="282135"/>
          </a:xfrm>
          <a:prstGeom prst="rect">
            <a:avLst/>
          </a:prstGeom>
        </p:spPr>
      </p:pic>
      <p:sp>
        <p:nvSpPr>
          <p:cNvPr id="320" name="rect 320"/>
          <p:cNvSpPr/>
          <p:nvPr/>
        </p:nvSpPr>
        <p:spPr>
          <a:xfrm>
            <a:off x="0" y="6612635"/>
            <a:ext cx="12192000" cy="245364"/>
          </a:xfrm>
          <a:prstGeom prst="rect">
            <a:avLst/>
          </a:prstGeom>
          <a:solidFill>
            <a:srgbClr val="0371AE">
              <a:alpha val="100000"/>
            </a:srgbClr>
          </a:solidFill>
          <a:ln w="0" cap="flat">
            <a:noFill/>
            <a:prstDash val="solid"/>
            <a:miter lim="0"/>
          </a:ln>
        </p:spPr>
        <p:txBody>
          <a:bodyPr rtlCol="0"/>
          <a:lstStyle/>
          <a:p>
            <a:pPr algn="ctr"/>
            <a:endParaRPr lang="zh-CN" altLang="en-US"/>
          </a:p>
        </p:txBody>
      </p:sp>
      <p:pic>
        <p:nvPicPr>
          <p:cNvPr id="322" name="picture 322"/>
          <p:cNvPicPr>
            <a:picLocks noChangeAspect="1"/>
          </p:cNvPicPr>
          <p:nvPr/>
        </p:nvPicPr>
        <p:blipFill>
          <a:blip r:embed="rId3"/>
          <a:stretch>
            <a:fillRect/>
          </a:stretch>
        </p:blipFill>
        <p:spPr>
          <a:xfrm rot="21600000">
            <a:off x="4195571" y="0"/>
            <a:ext cx="7996427" cy="365759"/>
          </a:xfrm>
          <a:prstGeom prst="rect">
            <a:avLst/>
          </a:prstGeom>
        </p:spPr>
      </p:pic>
      <p:pic>
        <p:nvPicPr>
          <p:cNvPr id="326" name="picture 326"/>
          <p:cNvPicPr>
            <a:picLocks noChangeAspect="1"/>
          </p:cNvPicPr>
          <p:nvPr/>
        </p:nvPicPr>
        <p:blipFill>
          <a:blip r:embed="rId4"/>
          <a:stretch>
            <a:fillRect/>
          </a:stretch>
        </p:blipFill>
        <p:spPr>
          <a:xfrm rot="21600000">
            <a:off x="0" y="0"/>
            <a:ext cx="598931" cy="373379"/>
          </a:xfrm>
          <a:prstGeom prst="rect">
            <a:avLst/>
          </a:prstGeom>
        </p:spPr>
      </p:pic>
      <p:pic>
        <p:nvPicPr>
          <p:cNvPr id="328" name="picture 328"/>
          <p:cNvPicPr>
            <a:picLocks noChangeAspect="1"/>
          </p:cNvPicPr>
          <p:nvPr/>
        </p:nvPicPr>
        <p:blipFill>
          <a:blip r:embed="rId5"/>
          <a:stretch>
            <a:fillRect/>
          </a:stretch>
        </p:blipFill>
        <p:spPr>
          <a:xfrm rot="21600000">
            <a:off x="0" y="6579983"/>
            <a:ext cx="12179300" cy="12700"/>
          </a:xfrm>
          <a:prstGeom prst="rect">
            <a:avLst/>
          </a:prstGeom>
        </p:spPr>
      </p:pic>
      <p:sp>
        <p:nvSpPr>
          <p:cNvPr id="3" name="textbox 8"/>
          <p:cNvSpPr/>
          <p:nvPr/>
        </p:nvSpPr>
        <p:spPr>
          <a:xfrm>
            <a:off x="618825" y="67294"/>
            <a:ext cx="11393805" cy="270509"/>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100000"/>
              </a:lnSpc>
            </a:pPr>
            <a:r>
              <a:rPr sz="1600" b="1" kern="0" spc="-20" dirty="0">
                <a:solidFill>
                  <a:srgbClr val="000000">
                    <a:alpha val="100000"/>
                  </a:srgbClr>
                </a:solidFill>
                <a:latin typeface="黑体" panose="02010609060101010101" charset="-122"/>
                <a:ea typeface="黑体" panose="02010609060101010101" charset="-122"/>
                <a:cs typeface="黑体" panose="02010609060101010101" charset="-122"/>
              </a:rPr>
              <a:t>米思齐</a:t>
            </a:r>
            <a:r>
              <a:rPr 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课程作业</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600" b="1" kern="0" spc="-20" dirty="0">
                <a:solidFill>
                  <a:srgbClr val="000000">
                    <a:alpha val="100000"/>
                  </a:srgbClr>
                </a:solidFill>
                <a:latin typeface="黑体" panose="02010609060101010101" charset="-122"/>
                <a:ea typeface="黑体" panose="02010609060101010101" charset="-122"/>
                <a:cs typeface="黑体" panose="02010609060101010101" charset="-122"/>
              </a:rPr>
              <a:t>余天润</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202522039114</a:t>
            </a:r>
            <a:r>
              <a:rPr sz="1600" kern="0" spc="-20" dirty="0">
                <a:solidFill>
                  <a:srgbClr val="000000">
                    <a:alpha val="100000"/>
                  </a:srgbClr>
                </a:solidFill>
                <a:latin typeface="黑体" panose="02010609060101010101" charset="-122"/>
                <a:ea typeface="黑体" panose="02010609060101010101" charset="-122"/>
                <a:cs typeface="黑体" panose="02010609060101010101" charset="-122"/>
              </a:rPr>
              <a:t>                                        </a:t>
            </a:r>
            <a:endParaRPr sz="1400" dirty="0">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2" name="picture 312"/>
          <p:cNvPicPr>
            <a:picLocks noChangeAspect="1"/>
          </p:cNvPicPr>
          <p:nvPr/>
        </p:nvPicPr>
        <p:blipFill>
          <a:blip r:embed="rId1"/>
          <a:stretch>
            <a:fillRect/>
          </a:stretch>
        </p:blipFill>
        <p:spPr>
          <a:xfrm rot="21600000">
            <a:off x="0" y="0"/>
            <a:ext cx="12192000" cy="6858000"/>
          </a:xfrm>
          <a:prstGeom prst="rect">
            <a:avLst/>
          </a:prstGeom>
        </p:spPr>
      </p:pic>
      <p:sp>
        <p:nvSpPr>
          <p:cNvPr id="314" name="path 314"/>
          <p:cNvSpPr/>
          <p:nvPr/>
        </p:nvSpPr>
        <p:spPr>
          <a:xfrm>
            <a:off x="339852" y="807720"/>
            <a:ext cx="585216" cy="364235"/>
          </a:xfrm>
          <a:custGeom>
            <a:avLst/>
            <a:gdLst/>
            <a:ahLst/>
            <a:cxnLst/>
            <a:rect l="0" t="0" r="0" b="0"/>
            <a:pathLst>
              <a:path w="921" h="573">
                <a:moveTo>
                  <a:pt x="0" y="0"/>
                </a:moveTo>
                <a:lnTo>
                  <a:pt x="739" y="0"/>
                </a:lnTo>
                <a:lnTo>
                  <a:pt x="921" y="287"/>
                </a:lnTo>
                <a:lnTo>
                  <a:pt x="739" y="573"/>
                </a:lnTo>
                <a:lnTo>
                  <a:pt x="0" y="573"/>
                </a:lnTo>
                <a:lnTo>
                  <a:pt x="0" y="0"/>
                </a:lnTo>
              </a:path>
            </a:pathLst>
          </a:custGeom>
          <a:solidFill>
            <a:srgbClr val="ED7D31">
              <a:alpha val="100000"/>
            </a:srgbClr>
          </a:solidFill>
          <a:ln w="0" cap="flat">
            <a:noFill/>
            <a:prstDash val="solid"/>
            <a:miter lim="0"/>
          </a:ln>
        </p:spPr>
        <p:txBody>
          <a:bodyPr rtlCol="0"/>
          <a:lstStyle/>
          <a:p>
            <a:pPr algn="ctr"/>
            <a:endParaRPr lang="zh-CN" altLang="en-US"/>
          </a:p>
        </p:txBody>
      </p:sp>
      <p:sp>
        <p:nvSpPr>
          <p:cNvPr id="316" name="textbox 316"/>
          <p:cNvSpPr/>
          <p:nvPr/>
        </p:nvSpPr>
        <p:spPr>
          <a:xfrm>
            <a:off x="497840" y="860425"/>
            <a:ext cx="8966835" cy="103695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a:ea typeface="Arial" panose="020B0604020202020204"/>
              <a:cs typeface="Arial" panose="020B0604020202020204"/>
            </a:endParaRPr>
          </a:p>
          <a:p>
            <a:pPr marL="12700" algn="l" rtl="0" eaLnBrk="0">
              <a:lnSpc>
                <a:spcPct val="87000"/>
              </a:lnSpc>
            </a:pPr>
            <a:r>
              <a:rPr sz="3600" b="1" kern="0" spc="50" baseline="12000" dirty="0">
                <a:solidFill>
                  <a:srgbClr val="FFFFFF">
                    <a:alpha val="100000"/>
                  </a:srgbClr>
                </a:solidFill>
                <a:latin typeface="Times New Roman" panose="02020603050405020304"/>
                <a:ea typeface="Times New Roman" panose="02020603050405020304"/>
                <a:cs typeface="Times New Roman" panose="02020603050405020304"/>
              </a:rPr>
              <a:t>2</a:t>
            </a:r>
            <a:r>
              <a:rPr sz="2300" b="1" kern="0" spc="50" dirty="0">
                <a:solidFill>
                  <a:srgbClr val="FFFFFF">
                    <a:alpha val="100000"/>
                  </a:srgbClr>
                </a:solidFill>
                <a:latin typeface="Times New Roman" panose="02020603050405020304"/>
                <a:ea typeface="Times New Roman" panose="02020603050405020304"/>
                <a:cs typeface="Times New Roman" panose="02020603050405020304"/>
              </a:rPr>
              <a:t>       </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sym typeface="+mn-ea"/>
              </a:rPr>
              <a:t>记忆守护：</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sym typeface="+mn-ea"/>
              </a:rPr>
              <a:t>阿尔兹海默症预防</a:t>
            </a:r>
            <a:r>
              <a:rPr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rPr>
              <a:t>系统实践</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22000"/>
              </a:lnSpc>
            </a:pPr>
            <a:endParaRPr sz="1000" dirty="0">
              <a:latin typeface="Arial" panose="020B0604020202020204"/>
              <a:ea typeface="Arial" panose="020B0604020202020204"/>
              <a:cs typeface="Arial" panose="020B0604020202020204"/>
            </a:endParaRPr>
          </a:p>
          <a:p>
            <a:pPr marL="758190" algn="l" rtl="0" eaLnBrk="0">
              <a:lnSpc>
                <a:spcPts val="2645"/>
              </a:lnSpc>
              <a:spcBef>
                <a:spcPts val="600"/>
              </a:spcBef>
              <a:tabLst>
                <a:tab pos="938530" algn="l"/>
              </a:tabLst>
            </a:pP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54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具体任务3: </a:t>
            </a:r>
            <a:r>
              <a:rPr lang="en-US"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模拟实现</a:t>
            </a:r>
            <a:r>
              <a:rPr sz="2000" b="1" kern="0" spc="-10" dirty="0">
                <a:solidFill>
                  <a:srgbClr val="5B9BD5">
                    <a:alpha val="100000"/>
                  </a:srgbClr>
                </a:solidFill>
                <a:latin typeface="微软雅黑" panose="020B0503020204020204" charset="-122"/>
                <a:ea typeface="微软雅黑" panose="020B0503020204020204" charset="-122"/>
                <a:cs typeface="微软雅黑" panose="020B0503020204020204" charset="-122"/>
              </a:rPr>
              <a:t>系统功能</a:t>
            </a:r>
            <a:endParaRPr sz="2000" dirty="0">
              <a:latin typeface="微软雅黑" panose="020B0503020204020204" charset="-122"/>
              <a:ea typeface="微软雅黑" panose="020B0503020204020204" charset="-122"/>
              <a:cs typeface="微软雅黑" panose="020B0503020204020204" charset="-122"/>
            </a:endParaRPr>
          </a:p>
          <a:p>
            <a:pPr algn="l" rtl="0" eaLnBrk="0">
              <a:lnSpc>
                <a:spcPct val="134000"/>
              </a:lnSpc>
            </a:pPr>
            <a:endParaRPr sz="1000" dirty="0">
              <a:latin typeface="Arial" panose="020B0604020202020204"/>
              <a:ea typeface="Arial" panose="020B0604020202020204"/>
              <a:cs typeface="Arial" panose="020B0604020202020204"/>
            </a:endParaRPr>
          </a:p>
          <a:p>
            <a:pPr algn="l" rtl="0" eaLnBrk="0">
              <a:lnSpc>
                <a:spcPct val="134000"/>
              </a:lnSpc>
            </a:pPr>
            <a:endParaRPr sz="2000" dirty="0">
              <a:latin typeface="微软雅黑" panose="020B0503020204020204" charset="-122"/>
              <a:ea typeface="微软雅黑" panose="020B0503020204020204" charset="-122"/>
              <a:cs typeface="微软雅黑" panose="020B0503020204020204" charset="-122"/>
            </a:endParaRPr>
          </a:p>
          <a:p>
            <a:pPr marL="1102995" algn="l" rtl="0" eaLnBrk="0">
              <a:lnSpc>
                <a:spcPts val="2690"/>
              </a:lnSpc>
              <a:spcBef>
                <a:spcPts val="1145"/>
              </a:spcBef>
            </a:pPr>
            <a:endParaRPr sz="2000" dirty="0">
              <a:latin typeface="微软雅黑" panose="020B0503020204020204" charset="-122"/>
              <a:ea typeface="微软雅黑" panose="020B0503020204020204" charset="-122"/>
              <a:cs typeface="微软雅黑" panose="020B0503020204020204" charset="-122"/>
            </a:endParaRPr>
          </a:p>
        </p:txBody>
      </p:sp>
      <p:pic>
        <p:nvPicPr>
          <p:cNvPr id="318" name="picture 318"/>
          <p:cNvPicPr>
            <a:picLocks noChangeAspect="1"/>
          </p:cNvPicPr>
          <p:nvPr/>
        </p:nvPicPr>
        <p:blipFill>
          <a:blip r:embed="rId2"/>
          <a:stretch>
            <a:fillRect/>
          </a:stretch>
        </p:blipFill>
        <p:spPr>
          <a:xfrm rot="21600000">
            <a:off x="1256464" y="1534618"/>
            <a:ext cx="180790" cy="282135"/>
          </a:xfrm>
          <a:prstGeom prst="rect">
            <a:avLst/>
          </a:prstGeom>
        </p:spPr>
      </p:pic>
      <p:sp>
        <p:nvSpPr>
          <p:cNvPr id="320" name="rect 320"/>
          <p:cNvSpPr/>
          <p:nvPr/>
        </p:nvSpPr>
        <p:spPr>
          <a:xfrm>
            <a:off x="0" y="6612635"/>
            <a:ext cx="12192000" cy="245364"/>
          </a:xfrm>
          <a:prstGeom prst="rect">
            <a:avLst/>
          </a:prstGeom>
          <a:solidFill>
            <a:srgbClr val="0371AE">
              <a:alpha val="100000"/>
            </a:srgbClr>
          </a:solidFill>
          <a:ln w="0" cap="flat">
            <a:noFill/>
            <a:prstDash val="solid"/>
            <a:miter lim="0"/>
          </a:ln>
        </p:spPr>
        <p:txBody>
          <a:bodyPr rtlCol="0"/>
          <a:lstStyle/>
          <a:p>
            <a:pPr algn="ctr"/>
            <a:endParaRPr lang="zh-CN" altLang="en-US"/>
          </a:p>
        </p:txBody>
      </p:sp>
      <p:pic>
        <p:nvPicPr>
          <p:cNvPr id="322" name="picture 322"/>
          <p:cNvPicPr>
            <a:picLocks noChangeAspect="1"/>
          </p:cNvPicPr>
          <p:nvPr/>
        </p:nvPicPr>
        <p:blipFill>
          <a:blip r:embed="rId3"/>
          <a:stretch>
            <a:fillRect/>
          </a:stretch>
        </p:blipFill>
        <p:spPr>
          <a:xfrm rot="21600000">
            <a:off x="4195571" y="0"/>
            <a:ext cx="7996427" cy="365759"/>
          </a:xfrm>
          <a:prstGeom prst="rect">
            <a:avLst/>
          </a:prstGeom>
        </p:spPr>
      </p:pic>
      <p:pic>
        <p:nvPicPr>
          <p:cNvPr id="326" name="picture 326"/>
          <p:cNvPicPr>
            <a:picLocks noChangeAspect="1"/>
          </p:cNvPicPr>
          <p:nvPr/>
        </p:nvPicPr>
        <p:blipFill>
          <a:blip r:embed="rId4"/>
          <a:stretch>
            <a:fillRect/>
          </a:stretch>
        </p:blipFill>
        <p:spPr>
          <a:xfrm rot="21600000">
            <a:off x="0" y="0"/>
            <a:ext cx="598931" cy="373379"/>
          </a:xfrm>
          <a:prstGeom prst="rect">
            <a:avLst/>
          </a:prstGeom>
        </p:spPr>
      </p:pic>
      <p:pic>
        <p:nvPicPr>
          <p:cNvPr id="328" name="picture 328"/>
          <p:cNvPicPr>
            <a:picLocks noChangeAspect="1"/>
          </p:cNvPicPr>
          <p:nvPr/>
        </p:nvPicPr>
        <p:blipFill>
          <a:blip r:embed="rId5"/>
          <a:stretch>
            <a:fillRect/>
          </a:stretch>
        </p:blipFill>
        <p:spPr>
          <a:xfrm rot="21600000">
            <a:off x="0" y="6579983"/>
            <a:ext cx="12179300" cy="12700"/>
          </a:xfrm>
          <a:prstGeom prst="rect">
            <a:avLst/>
          </a:prstGeom>
        </p:spPr>
      </p:pic>
      <p:sp>
        <p:nvSpPr>
          <p:cNvPr id="6" name="textbox 8"/>
          <p:cNvSpPr/>
          <p:nvPr/>
        </p:nvSpPr>
        <p:spPr>
          <a:xfrm>
            <a:off x="618825" y="67294"/>
            <a:ext cx="11393805" cy="270509"/>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100000"/>
              </a:lnSpc>
            </a:pPr>
            <a:r>
              <a:rPr sz="1600" b="1" kern="0" spc="-20" dirty="0">
                <a:solidFill>
                  <a:srgbClr val="000000">
                    <a:alpha val="100000"/>
                  </a:srgbClr>
                </a:solidFill>
                <a:latin typeface="黑体" panose="02010609060101010101" charset="-122"/>
                <a:ea typeface="黑体" panose="02010609060101010101" charset="-122"/>
                <a:cs typeface="黑体" panose="02010609060101010101" charset="-122"/>
              </a:rPr>
              <a:t>米思齐</a:t>
            </a:r>
            <a:r>
              <a:rPr 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课程作业</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600" b="1" kern="0" spc="-20" dirty="0">
                <a:solidFill>
                  <a:srgbClr val="000000">
                    <a:alpha val="100000"/>
                  </a:srgbClr>
                </a:solidFill>
                <a:latin typeface="黑体" panose="02010609060101010101" charset="-122"/>
                <a:ea typeface="黑体" panose="02010609060101010101" charset="-122"/>
                <a:cs typeface="黑体" panose="02010609060101010101" charset="-122"/>
              </a:rPr>
              <a:t>余天润</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202522039114</a:t>
            </a:r>
            <a:r>
              <a:rPr sz="1600" kern="0" spc="-20" dirty="0">
                <a:solidFill>
                  <a:srgbClr val="000000">
                    <a:alpha val="100000"/>
                  </a:srgbClr>
                </a:solidFill>
                <a:latin typeface="黑体" panose="02010609060101010101" charset="-122"/>
                <a:ea typeface="黑体" panose="02010609060101010101" charset="-122"/>
                <a:cs typeface="黑体" panose="02010609060101010101" charset="-122"/>
              </a:rPr>
              <a:t>                                        </a:t>
            </a:r>
            <a:endParaRPr sz="1400" dirty="0">
              <a:latin typeface="黑体" panose="02010609060101010101" charset="-122"/>
              <a:ea typeface="黑体" panose="02010609060101010101" charset="-122"/>
              <a:cs typeface="黑体" panose="02010609060101010101" charset="-122"/>
            </a:endParaRPr>
          </a:p>
        </p:txBody>
      </p:sp>
      <p:sp>
        <p:nvSpPr>
          <p:cNvPr id="5" name="textbox 404"/>
          <p:cNvSpPr/>
          <p:nvPr/>
        </p:nvSpPr>
        <p:spPr>
          <a:xfrm>
            <a:off x="1519555" y="1948180"/>
            <a:ext cx="4997450" cy="118491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ts val="2375"/>
              </a:lnSpc>
            </a:pPr>
            <a:r>
              <a:rPr lang="zh-CN" sz="1700" b="1" kern="0" spc="22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模块一</a:t>
            </a:r>
            <a:r>
              <a:rPr sz="1700" b="1" kern="0" spc="22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 </a:t>
            </a:r>
            <a:r>
              <a:rPr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a:t>
            </a:r>
            <a:r>
              <a:rPr lang="zh-CN"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物联网连接，并创建需要的变量</a:t>
            </a:r>
            <a:endParaRPr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endParaRPr>
          </a:p>
          <a:p>
            <a:pPr algn="l" rtl="0" eaLnBrk="0">
              <a:lnSpc>
                <a:spcPts val="2375"/>
              </a:lnSpc>
            </a:pPr>
            <a:endParaRPr lang="zh-CN" sz="1700" b="1" kern="0" spc="6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endParaRPr>
          </a:p>
        </p:txBody>
      </p:sp>
      <p:pic>
        <p:nvPicPr>
          <p:cNvPr id="7" name="图片 6"/>
          <p:cNvPicPr>
            <a:picLocks noChangeAspect="1"/>
          </p:cNvPicPr>
          <p:nvPr/>
        </p:nvPicPr>
        <p:blipFill>
          <a:blip r:embed="rId6"/>
          <a:stretch>
            <a:fillRect/>
          </a:stretch>
        </p:blipFill>
        <p:spPr>
          <a:xfrm>
            <a:off x="1437005" y="2736850"/>
            <a:ext cx="5379720" cy="2842260"/>
          </a:xfrm>
          <a:prstGeom prst="rect">
            <a:avLst/>
          </a:prstGeom>
        </p:spPr>
      </p:pic>
      <p:sp>
        <p:nvSpPr>
          <p:cNvPr id="404" name="textbox 404"/>
          <p:cNvSpPr/>
          <p:nvPr/>
        </p:nvSpPr>
        <p:spPr>
          <a:xfrm>
            <a:off x="7313421" y="1947976"/>
            <a:ext cx="4098290" cy="320738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ts val="2375"/>
              </a:lnSpc>
            </a:pPr>
            <a:r>
              <a:rPr lang="zh-CN" altLang="en-US" sz="1700" b="1" kern="0" spc="22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想一想</a:t>
            </a:r>
            <a:r>
              <a:rPr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a:t>
            </a:r>
            <a:endParaRPr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endParaRPr>
          </a:p>
          <a:p>
            <a:pPr algn="l" rtl="0" eaLnBrk="0">
              <a:lnSpc>
                <a:spcPts val="2375"/>
              </a:lnSpc>
            </a:pPr>
            <a:endParaRPr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endParaRPr>
          </a:p>
          <a:p>
            <a:pPr algn="l" rtl="0" eaLnBrk="0">
              <a:lnSpc>
                <a:spcPts val="2375"/>
              </a:lnSpc>
            </a:pPr>
            <a:r>
              <a:rPr sz="1700" b="1" kern="0" spc="-330" dirty="0">
                <a:solidFill>
                  <a:srgbClr val="2F5597">
                    <a:alpha val="100000"/>
                  </a:srgbClr>
                </a:solidFill>
                <a:latin typeface="微软雅黑" panose="020B0503020204020204" charset="-122"/>
                <a:ea typeface="微软雅黑" panose="020B0503020204020204" charset="-122"/>
                <a:cs typeface="微软雅黑" panose="020B0503020204020204" charset="-122"/>
              </a:rPr>
              <a:t> </a:t>
            </a:r>
            <a:r>
              <a:rPr sz="1700" b="1" kern="0" spc="-40" dirty="0">
                <a:solidFill>
                  <a:srgbClr val="2F5597">
                    <a:alpha val="100000"/>
                  </a:srgbClr>
                </a:solidFill>
                <a:latin typeface="Times New Roman" panose="02020603050405020304"/>
                <a:ea typeface="Times New Roman" panose="02020603050405020304"/>
                <a:cs typeface="Times New Roman" panose="02020603050405020304"/>
              </a:rPr>
              <a:t>1 </a:t>
            </a:r>
            <a:r>
              <a:rPr sz="1700" b="1" kern="0" spc="-40" dirty="0">
                <a:solidFill>
                  <a:srgbClr val="2F5597">
                    <a:alpha val="100000"/>
                  </a:srgbClr>
                </a:solidFill>
                <a:latin typeface="微软雅黑" panose="020B0503020204020204" charset="-122"/>
                <a:ea typeface="微软雅黑" panose="020B0503020204020204" charset="-122"/>
                <a:cs typeface="微软雅黑" panose="020B0503020204020204" charset="-122"/>
              </a:rPr>
              <a:t>）</a:t>
            </a:r>
            <a:r>
              <a:rPr lang="zh-CN" sz="1700" b="1" kern="0" spc="60" dirty="0">
                <a:solidFill>
                  <a:srgbClr val="2F5597">
                    <a:alpha val="100000"/>
                  </a:srgbClr>
                </a:solidFill>
                <a:latin typeface="微软雅黑" panose="020B0503020204020204" charset="-122"/>
                <a:ea typeface="微软雅黑" panose="020B0503020204020204" charset="-122"/>
                <a:cs typeface="微软雅黑" panose="020B0503020204020204" charset="-122"/>
              </a:rPr>
              <a:t>你们的设计中都需要哪些变量？</a:t>
            </a:r>
            <a:endParaRPr sz="1700" dirty="0">
              <a:latin typeface="微软雅黑" panose="020B0503020204020204" charset="-122"/>
              <a:ea typeface="微软雅黑" panose="020B0503020204020204" charset="-122"/>
              <a:cs typeface="微软雅黑" panose="020B0503020204020204" charset="-122"/>
            </a:endParaRPr>
          </a:p>
          <a:p>
            <a:pPr marL="12700" indent="9525" algn="l" rtl="0" eaLnBrk="0">
              <a:lnSpc>
                <a:spcPct val="136000"/>
              </a:lnSpc>
              <a:spcBef>
                <a:spcPts val="1090"/>
              </a:spcBef>
            </a:pPr>
            <a:r>
              <a:rPr sz="1700" b="1" kern="0" spc="60" dirty="0">
                <a:solidFill>
                  <a:srgbClr val="2F5597">
                    <a:alpha val="100000"/>
                  </a:srgbClr>
                </a:solidFill>
                <a:latin typeface="微软雅黑" panose="020B0503020204020204" charset="-122"/>
                <a:ea typeface="微软雅黑" panose="020B0503020204020204" charset="-122"/>
                <a:cs typeface="微软雅黑" panose="020B0503020204020204" charset="-122"/>
              </a:rPr>
              <a:t>2 ）</a:t>
            </a:r>
            <a:r>
              <a:rPr lang="zh-CN" sz="1700" b="1" kern="0" spc="60" dirty="0">
                <a:solidFill>
                  <a:srgbClr val="2F5597">
                    <a:alpha val="100000"/>
                  </a:srgbClr>
                </a:solidFill>
                <a:latin typeface="微软雅黑" panose="020B0503020204020204" charset="-122"/>
                <a:ea typeface="微软雅黑" panose="020B0503020204020204" charset="-122"/>
                <a:cs typeface="微软雅黑" panose="020B0503020204020204" charset="-122"/>
              </a:rPr>
              <a:t>你猜想我们目前的变量都是用来做什么的？请你和同伴交流一下吧！</a:t>
            </a:r>
            <a:endParaRPr lang="zh-CN" sz="1700" b="1" kern="0" spc="60" dirty="0">
              <a:solidFill>
                <a:srgbClr val="2F5597">
                  <a:alpha val="100000"/>
                </a:srgbClr>
              </a:solidFill>
              <a:latin typeface="微软雅黑" panose="020B0503020204020204" charset="-122"/>
              <a:ea typeface="微软雅黑" panose="020B0503020204020204" charset="-122"/>
              <a:cs typeface="微软雅黑" panose="020B0503020204020204" charset="-122"/>
            </a:endParaRPr>
          </a:p>
          <a:p>
            <a:pPr marL="12700" indent="9525" algn="l" rtl="0" eaLnBrk="0">
              <a:lnSpc>
                <a:spcPct val="136000"/>
              </a:lnSpc>
              <a:spcBef>
                <a:spcPts val="1090"/>
              </a:spcBef>
            </a:pPr>
            <a:endParaRPr lang="zh-CN" sz="1700" b="1" kern="0" spc="90" dirty="0">
              <a:solidFill>
                <a:srgbClr val="2F5597">
                  <a:alpha val="100000"/>
                </a:srgbClr>
              </a:solidFill>
              <a:latin typeface="微软雅黑" panose="020B0503020204020204" charset="-122"/>
              <a:ea typeface="微软雅黑" panose="020B0503020204020204" charset="-122"/>
              <a:cs typeface="微软雅黑" panose="020B0503020204020204" charset="-122"/>
            </a:endParaRPr>
          </a:p>
          <a:p>
            <a:pPr marL="12700" indent="9525" algn="l" rtl="0" eaLnBrk="0">
              <a:lnSpc>
                <a:spcPct val="136000"/>
              </a:lnSpc>
              <a:spcBef>
                <a:spcPts val="1090"/>
              </a:spcBef>
            </a:pPr>
            <a:r>
              <a:rPr lang="zh-CN" altLang="en-US" sz="1700" b="1" kern="0" spc="22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sym typeface="+mn-ea"/>
              </a:rPr>
              <a:t>注意</a:t>
            </a:r>
            <a:r>
              <a:rPr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sym typeface="+mn-ea"/>
              </a:rPr>
              <a:t>：</a:t>
            </a:r>
            <a:endParaRPr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endParaRPr>
          </a:p>
          <a:p>
            <a:pPr marL="12700" indent="9525" algn="l" rtl="0" eaLnBrk="0">
              <a:lnSpc>
                <a:spcPct val="136000"/>
              </a:lnSpc>
              <a:spcBef>
                <a:spcPts val="1090"/>
              </a:spcBef>
            </a:pPr>
            <a:r>
              <a:rPr lang="en-US" sz="1700" b="1" kern="0" spc="60" dirty="0">
                <a:solidFill>
                  <a:srgbClr val="2F5597">
                    <a:alpha val="100000"/>
                  </a:srgbClr>
                </a:solidFill>
                <a:latin typeface="微软雅黑" panose="020B0503020204020204" charset="-122"/>
                <a:ea typeface="微软雅黑" panose="020B0503020204020204" charset="-122"/>
                <a:cs typeface="微软雅黑" panose="020B0503020204020204" charset="-122"/>
                <a:sym typeface="+mn-ea"/>
              </a:rPr>
              <a:t>1</a:t>
            </a:r>
            <a:r>
              <a:rPr sz="1700" b="1" kern="0" spc="60" dirty="0">
                <a:solidFill>
                  <a:srgbClr val="2F5597">
                    <a:alpha val="100000"/>
                  </a:srgbClr>
                </a:solidFill>
                <a:latin typeface="微软雅黑" panose="020B0503020204020204" charset="-122"/>
                <a:ea typeface="微软雅黑" panose="020B0503020204020204" charset="-122"/>
                <a:cs typeface="微软雅黑" panose="020B0503020204020204" charset="-122"/>
                <a:sym typeface="+mn-ea"/>
              </a:rPr>
              <a:t> ）</a:t>
            </a:r>
            <a:r>
              <a:rPr lang="zh-CN" sz="1700" b="1" kern="0" spc="60" dirty="0">
                <a:solidFill>
                  <a:srgbClr val="2F5597">
                    <a:alpha val="100000"/>
                  </a:srgbClr>
                </a:solidFill>
                <a:latin typeface="微软雅黑" panose="020B0503020204020204" charset="-122"/>
                <a:ea typeface="微软雅黑" panose="020B0503020204020204" charset="-122"/>
                <a:cs typeface="微软雅黑" panose="020B0503020204020204" charset="-122"/>
                <a:sym typeface="+mn-ea"/>
              </a:rPr>
              <a:t>项目授权码要换成自己的项目哦！</a:t>
            </a:r>
            <a:endParaRPr lang="zh-CN" sz="1700" b="1" kern="0" spc="90" dirty="0">
              <a:solidFill>
                <a:srgbClr val="2F5597">
                  <a:alpha val="100000"/>
                </a:srgb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2" name="picture 312"/>
          <p:cNvPicPr>
            <a:picLocks noChangeAspect="1"/>
          </p:cNvPicPr>
          <p:nvPr/>
        </p:nvPicPr>
        <p:blipFill>
          <a:blip r:embed="rId1"/>
          <a:stretch>
            <a:fillRect/>
          </a:stretch>
        </p:blipFill>
        <p:spPr>
          <a:xfrm rot="21600000">
            <a:off x="0" y="0"/>
            <a:ext cx="12192000" cy="6858000"/>
          </a:xfrm>
          <a:prstGeom prst="rect">
            <a:avLst/>
          </a:prstGeom>
        </p:spPr>
      </p:pic>
      <p:sp>
        <p:nvSpPr>
          <p:cNvPr id="314" name="path 314"/>
          <p:cNvSpPr/>
          <p:nvPr/>
        </p:nvSpPr>
        <p:spPr>
          <a:xfrm>
            <a:off x="339852" y="807720"/>
            <a:ext cx="585216" cy="364235"/>
          </a:xfrm>
          <a:custGeom>
            <a:avLst/>
            <a:gdLst/>
            <a:ahLst/>
            <a:cxnLst/>
            <a:rect l="0" t="0" r="0" b="0"/>
            <a:pathLst>
              <a:path w="921" h="573">
                <a:moveTo>
                  <a:pt x="0" y="0"/>
                </a:moveTo>
                <a:lnTo>
                  <a:pt x="739" y="0"/>
                </a:lnTo>
                <a:lnTo>
                  <a:pt x="921" y="287"/>
                </a:lnTo>
                <a:lnTo>
                  <a:pt x="739" y="573"/>
                </a:lnTo>
                <a:lnTo>
                  <a:pt x="0" y="573"/>
                </a:lnTo>
                <a:lnTo>
                  <a:pt x="0" y="0"/>
                </a:lnTo>
              </a:path>
            </a:pathLst>
          </a:custGeom>
          <a:solidFill>
            <a:srgbClr val="ED7D31">
              <a:alpha val="100000"/>
            </a:srgbClr>
          </a:solidFill>
          <a:ln w="0" cap="flat">
            <a:noFill/>
            <a:prstDash val="solid"/>
            <a:miter lim="0"/>
          </a:ln>
        </p:spPr>
        <p:txBody>
          <a:bodyPr rtlCol="0"/>
          <a:lstStyle/>
          <a:p>
            <a:pPr algn="ctr"/>
            <a:endParaRPr lang="zh-CN" altLang="en-US"/>
          </a:p>
        </p:txBody>
      </p:sp>
      <p:sp>
        <p:nvSpPr>
          <p:cNvPr id="316" name="textbox 316"/>
          <p:cNvSpPr/>
          <p:nvPr/>
        </p:nvSpPr>
        <p:spPr>
          <a:xfrm>
            <a:off x="497840" y="860425"/>
            <a:ext cx="8966835" cy="103695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a:ea typeface="Arial" panose="020B0604020202020204"/>
              <a:cs typeface="Arial" panose="020B0604020202020204"/>
            </a:endParaRPr>
          </a:p>
          <a:p>
            <a:pPr marL="12700" algn="l" rtl="0" eaLnBrk="0">
              <a:lnSpc>
                <a:spcPct val="87000"/>
              </a:lnSpc>
            </a:pPr>
            <a:r>
              <a:rPr sz="3600" b="1" kern="0" spc="50" baseline="12000" dirty="0">
                <a:solidFill>
                  <a:srgbClr val="FFFFFF">
                    <a:alpha val="100000"/>
                  </a:srgbClr>
                </a:solidFill>
                <a:latin typeface="Times New Roman" panose="02020603050405020304"/>
                <a:ea typeface="Times New Roman" panose="02020603050405020304"/>
                <a:cs typeface="Times New Roman" panose="02020603050405020304"/>
              </a:rPr>
              <a:t>2</a:t>
            </a:r>
            <a:r>
              <a:rPr sz="2300" b="1" kern="0" spc="50" dirty="0">
                <a:solidFill>
                  <a:srgbClr val="FFFFFF">
                    <a:alpha val="100000"/>
                  </a:srgbClr>
                </a:solidFill>
                <a:latin typeface="Times New Roman" panose="02020603050405020304"/>
                <a:ea typeface="Times New Roman" panose="02020603050405020304"/>
                <a:cs typeface="Times New Roman" panose="02020603050405020304"/>
              </a:rPr>
              <a:t>       </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sym typeface="+mn-ea"/>
              </a:rPr>
              <a:t>记忆守护：</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sym typeface="+mn-ea"/>
              </a:rPr>
              <a:t>阿尔兹海默症预防</a:t>
            </a:r>
            <a:r>
              <a:rPr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rPr>
              <a:t>系统实践</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22000"/>
              </a:lnSpc>
            </a:pPr>
            <a:endParaRPr sz="1000" dirty="0">
              <a:latin typeface="Arial" panose="020B0604020202020204"/>
              <a:ea typeface="Arial" panose="020B0604020202020204"/>
              <a:cs typeface="Arial" panose="020B0604020202020204"/>
            </a:endParaRPr>
          </a:p>
          <a:p>
            <a:pPr marL="758190" algn="l" rtl="0" eaLnBrk="0">
              <a:lnSpc>
                <a:spcPts val="2645"/>
              </a:lnSpc>
              <a:spcBef>
                <a:spcPts val="600"/>
              </a:spcBef>
              <a:tabLst>
                <a:tab pos="938530" algn="l"/>
              </a:tabLst>
            </a:pP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54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具体任务3: </a:t>
            </a:r>
            <a:r>
              <a:rPr lang="en-US"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模拟实现</a:t>
            </a:r>
            <a:r>
              <a:rPr sz="2000" b="1" kern="0" spc="-10" dirty="0">
                <a:solidFill>
                  <a:srgbClr val="5B9BD5">
                    <a:alpha val="100000"/>
                  </a:srgbClr>
                </a:solidFill>
                <a:latin typeface="微软雅黑" panose="020B0503020204020204" charset="-122"/>
                <a:ea typeface="微软雅黑" panose="020B0503020204020204" charset="-122"/>
                <a:cs typeface="微软雅黑" panose="020B0503020204020204" charset="-122"/>
              </a:rPr>
              <a:t>系统功能</a:t>
            </a:r>
            <a:endParaRPr sz="2000" dirty="0">
              <a:latin typeface="微软雅黑" panose="020B0503020204020204" charset="-122"/>
              <a:ea typeface="微软雅黑" panose="020B0503020204020204" charset="-122"/>
              <a:cs typeface="微软雅黑" panose="020B0503020204020204" charset="-122"/>
            </a:endParaRPr>
          </a:p>
          <a:p>
            <a:pPr algn="l" rtl="0" eaLnBrk="0">
              <a:lnSpc>
                <a:spcPct val="134000"/>
              </a:lnSpc>
            </a:pPr>
            <a:endParaRPr sz="1000" dirty="0">
              <a:latin typeface="Arial" panose="020B0604020202020204"/>
              <a:ea typeface="Arial" panose="020B0604020202020204"/>
              <a:cs typeface="Arial" panose="020B0604020202020204"/>
            </a:endParaRPr>
          </a:p>
          <a:p>
            <a:pPr algn="l" rtl="0" eaLnBrk="0">
              <a:lnSpc>
                <a:spcPct val="134000"/>
              </a:lnSpc>
            </a:pPr>
            <a:endParaRPr sz="2000" dirty="0">
              <a:latin typeface="微软雅黑" panose="020B0503020204020204" charset="-122"/>
              <a:ea typeface="微软雅黑" panose="020B0503020204020204" charset="-122"/>
              <a:cs typeface="微软雅黑" panose="020B0503020204020204" charset="-122"/>
            </a:endParaRPr>
          </a:p>
          <a:p>
            <a:pPr marL="1102995" algn="l" rtl="0" eaLnBrk="0">
              <a:lnSpc>
                <a:spcPts val="2690"/>
              </a:lnSpc>
              <a:spcBef>
                <a:spcPts val="1145"/>
              </a:spcBef>
            </a:pPr>
            <a:endParaRPr sz="2000" dirty="0">
              <a:latin typeface="微软雅黑" panose="020B0503020204020204" charset="-122"/>
              <a:ea typeface="微软雅黑" panose="020B0503020204020204" charset="-122"/>
              <a:cs typeface="微软雅黑" panose="020B0503020204020204" charset="-122"/>
            </a:endParaRPr>
          </a:p>
        </p:txBody>
      </p:sp>
      <p:pic>
        <p:nvPicPr>
          <p:cNvPr id="318" name="picture 318"/>
          <p:cNvPicPr>
            <a:picLocks noChangeAspect="1"/>
          </p:cNvPicPr>
          <p:nvPr/>
        </p:nvPicPr>
        <p:blipFill>
          <a:blip r:embed="rId2"/>
          <a:stretch>
            <a:fillRect/>
          </a:stretch>
        </p:blipFill>
        <p:spPr>
          <a:xfrm rot="21600000">
            <a:off x="1256464" y="1534618"/>
            <a:ext cx="180790" cy="282135"/>
          </a:xfrm>
          <a:prstGeom prst="rect">
            <a:avLst/>
          </a:prstGeom>
        </p:spPr>
      </p:pic>
      <p:sp>
        <p:nvSpPr>
          <p:cNvPr id="320" name="rect 320"/>
          <p:cNvSpPr/>
          <p:nvPr/>
        </p:nvSpPr>
        <p:spPr>
          <a:xfrm>
            <a:off x="0" y="6612635"/>
            <a:ext cx="12192000" cy="245364"/>
          </a:xfrm>
          <a:prstGeom prst="rect">
            <a:avLst/>
          </a:prstGeom>
          <a:solidFill>
            <a:srgbClr val="0371AE">
              <a:alpha val="100000"/>
            </a:srgbClr>
          </a:solidFill>
          <a:ln w="0" cap="flat">
            <a:noFill/>
            <a:prstDash val="solid"/>
            <a:miter lim="0"/>
          </a:ln>
        </p:spPr>
        <p:txBody>
          <a:bodyPr rtlCol="0"/>
          <a:lstStyle/>
          <a:p>
            <a:pPr algn="ctr"/>
            <a:endParaRPr lang="zh-CN" altLang="en-US"/>
          </a:p>
        </p:txBody>
      </p:sp>
      <p:pic>
        <p:nvPicPr>
          <p:cNvPr id="322" name="picture 322"/>
          <p:cNvPicPr>
            <a:picLocks noChangeAspect="1"/>
          </p:cNvPicPr>
          <p:nvPr/>
        </p:nvPicPr>
        <p:blipFill>
          <a:blip r:embed="rId3"/>
          <a:stretch>
            <a:fillRect/>
          </a:stretch>
        </p:blipFill>
        <p:spPr>
          <a:xfrm rot="21600000">
            <a:off x="4195571" y="0"/>
            <a:ext cx="7996427" cy="365759"/>
          </a:xfrm>
          <a:prstGeom prst="rect">
            <a:avLst/>
          </a:prstGeom>
        </p:spPr>
      </p:pic>
      <p:pic>
        <p:nvPicPr>
          <p:cNvPr id="326" name="picture 326"/>
          <p:cNvPicPr>
            <a:picLocks noChangeAspect="1"/>
          </p:cNvPicPr>
          <p:nvPr/>
        </p:nvPicPr>
        <p:blipFill>
          <a:blip r:embed="rId4"/>
          <a:stretch>
            <a:fillRect/>
          </a:stretch>
        </p:blipFill>
        <p:spPr>
          <a:xfrm rot="21600000">
            <a:off x="0" y="0"/>
            <a:ext cx="598931" cy="373379"/>
          </a:xfrm>
          <a:prstGeom prst="rect">
            <a:avLst/>
          </a:prstGeom>
        </p:spPr>
      </p:pic>
      <p:pic>
        <p:nvPicPr>
          <p:cNvPr id="328" name="picture 328"/>
          <p:cNvPicPr>
            <a:picLocks noChangeAspect="1"/>
          </p:cNvPicPr>
          <p:nvPr/>
        </p:nvPicPr>
        <p:blipFill>
          <a:blip r:embed="rId5"/>
          <a:stretch>
            <a:fillRect/>
          </a:stretch>
        </p:blipFill>
        <p:spPr>
          <a:xfrm rot="21600000">
            <a:off x="0" y="6579983"/>
            <a:ext cx="12179300" cy="12700"/>
          </a:xfrm>
          <a:prstGeom prst="rect">
            <a:avLst/>
          </a:prstGeom>
        </p:spPr>
      </p:pic>
      <p:sp>
        <p:nvSpPr>
          <p:cNvPr id="6" name="textbox 8"/>
          <p:cNvSpPr/>
          <p:nvPr/>
        </p:nvSpPr>
        <p:spPr>
          <a:xfrm>
            <a:off x="618825" y="67294"/>
            <a:ext cx="11393805" cy="270509"/>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100000"/>
              </a:lnSpc>
            </a:pPr>
            <a:r>
              <a:rPr sz="1600" b="1" kern="0" spc="-20" dirty="0">
                <a:solidFill>
                  <a:srgbClr val="000000">
                    <a:alpha val="100000"/>
                  </a:srgbClr>
                </a:solidFill>
                <a:latin typeface="黑体" panose="02010609060101010101" charset="-122"/>
                <a:ea typeface="黑体" panose="02010609060101010101" charset="-122"/>
                <a:cs typeface="黑体" panose="02010609060101010101" charset="-122"/>
              </a:rPr>
              <a:t>米思齐</a:t>
            </a:r>
            <a:r>
              <a:rPr 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课程作业</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600" b="1" kern="0" spc="-20" dirty="0">
                <a:solidFill>
                  <a:srgbClr val="000000">
                    <a:alpha val="100000"/>
                  </a:srgbClr>
                </a:solidFill>
                <a:latin typeface="黑体" panose="02010609060101010101" charset="-122"/>
                <a:ea typeface="黑体" panose="02010609060101010101" charset="-122"/>
                <a:cs typeface="黑体" panose="02010609060101010101" charset="-122"/>
              </a:rPr>
              <a:t>余天润</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202522039114</a:t>
            </a:r>
            <a:r>
              <a:rPr sz="1600" kern="0" spc="-20" dirty="0">
                <a:solidFill>
                  <a:srgbClr val="000000">
                    <a:alpha val="100000"/>
                  </a:srgbClr>
                </a:solidFill>
                <a:latin typeface="黑体" panose="02010609060101010101" charset="-122"/>
                <a:ea typeface="黑体" panose="02010609060101010101" charset="-122"/>
                <a:cs typeface="黑体" panose="02010609060101010101" charset="-122"/>
              </a:rPr>
              <a:t>                                        </a:t>
            </a:r>
            <a:endParaRPr sz="1400" dirty="0">
              <a:latin typeface="黑体" panose="02010609060101010101" charset="-122"/>
              <a:ea typeface="黑体" panose="02010609060101010101" charset="-122"/>
              <a:cs typeface="黑体" panose="02010609060101010101" charset="-122"/>
            </a:endParaRPr>
          </a:p>
        </p:txBody>
      </p:sp>
      <p:sp>
        <p:nvSpPr>
          <p:cNvPr id="5" name="textbox 404"/>
          <p:cNvSpPr/>
          <p:nvPr/>
        </p:nvSpPr>
        <p:spPr>
          <a:xfrm>
            <a:off x="1519555" y="1948180"/>
            <a:ext cx="4997450" cy="118491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ts val="2375"/>
              </a:lnSpc>
            </a:pPr>
            <a:r>
              <a:rPr lang="zh-CN" sz="1700" b="1" kern="0" spc="22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模块二</a:t>
            </a:r>
            <a:r>
              <a:rPr sz="1700" b="1" kern="0" spc="22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 </a:t>
            </a:r>
            <a:r>
              <a:rPr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a:t>
            </a:r>
            <a:r>
              <a:rPr lang="zh-CN"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根据游戏状态规划整体运行逻辑</a:t>
            </a:r>
            <a:endParaRPr lang="zh-CN"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endParaRPr>
          </a:p>
        </p:txBody>
      </p:sp>
      <p:sp>
        <p:nvSpPr>
          <p:cNvPr id="404" name="textbox 404"/>
          <p:cNvSpPr/>
          <p:nvPr/>
        </p:nvSpPr>
        <p:spPr>
          <a:xfrm>
            <a:off x="7313421" y="1947976"/>
            <a:ext cx="4098290" cy="320738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ts val="2375"/>
              </a:lnSpc>
            </a:pPr>
            <a:r>
              <a:rPr lang="en-US" altLang="zh-CN" sz="1700" b="1" kern="0" spc="22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Tips</a:t>
            </a:r>
            <a:r>
              <a:rPr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a:t>
            </a:r>
            <a:endParaRPr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endParaRPr>
          </a:p>
          <a:p>
            <a:pPr algn="l" rtl="0" eaLnBrk="0">
              <a:lnSpc>
                <a:spcPts val="2375"/>
              </a:lnSpc>
            </a:pPr>
            <a:endParaRPr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endParaRPr>
          </a:p>
          <a:p>
            <a:pPr indent="0" algn="l" rtl="0" eaLnBrk="0" fontAlgn="auto">
              <a:lnSpc>
                <a:spcPct val="150000"/>
              </a:lnSpc>
            </a:pPr>
            <a:r>
              <a:rPr sz="1700" b="1" kern="0" spc="-330" dirty="0">
                <a:solidFill>
                  <a:srgbClr val="2F5597">
                    <a:alpha val="100000"/>
                  </a:srgbClr>
                </a:solidFill>
                <a:latin typeface="微软雅黑" panose="020B0503020204020204" charset="-122"/>
                <a:ea typeface="微软雅黑" panose="020B0503020204020204" charset="-122"/>
                <a:cs typeface="微软雅黑" panose="020B0503020204020204" charset="-122"/>
              </a:rPr>
              <a:t> </a:t>
            </a:r>
            <a:r>
              <a:rPr sz="1700" b="1" kern="0" spc="-40" dirty="0">
                <a:solidFill>
                  <a:srgbClr val="2F5597">
                    <a:alpha val="100000"/>
                  </a:srgbClr>
                </a:solidFill>
                <a:latin typeface="Times New Roman" panose="02020603050405020304"/>
                <a:ea typeface="Times New Roman" panose="02020603050405020304"/>
                <a:cs typeface="Times New Roman" panose="02020603050405020304"/>
              </a:rPr>
              <a:t>1 </a:t>
            </a:r>
            <a:r>
              <a:rPr sz="1700" b="1" kern="0" spc="-40" dirty="0">
                <a:solidFill>
                  <a:srgbClr val="2F5597">
                    <a:alpha val="100000"/>
                  </a:srgbClr>
                </a:solidFill>
                <a:latin typeface="微软雅黑" panose="020B0503020204020204" charset="-122"/>
                <a:ea typeface="微软雅黑" panose="020B0503020204020204" charset="-122"/>
                <a:cs typeface="微软雅黑" panose="020B0503020204020204" charset="-122"/>
              </a:rPr>
              <a:t>）</a:t>
            </a:r>
            <a:r>
              <a:rPr lang="zh-CN" sz="1700" b="1" kern="0" spc="60" dirty="0">
                <a:solidFill>
                  <a:srgbClr val="2F5597">
                    <a:alpha val="100000"/>
                  </a:srgbClr>
                </a:solidFill>
                <a:latin typeface="微软雅黑" panose="020B0503020204020204" charset="-122"/>
                <a:ea typeface="微软雅黑" panose="020B0503020204020204" charset="-122"/>
                <a:cs typeface="微软雅黑" panose="020B0503020204020204" charset="-122"/>
              </a:rPr>
              <a:t>设计建议采用</a:t>
            </a:r>
            <a:r>
              <a:rPr lang="en-US" altLang="zh-CN" sz="1700" b="1" kern="0" spc="60" dirty="0">
                <a:solidFill>
                  <a:srgbClr val="2F5597">
                    <a:alpha val="100000"/>
                  </a:srgbClr>
                </a:solidFill>
                <a:latin typeface="微软雅黑" panose="020B0503020204020204" charset="-122"/>
                <a:ea typeface="微软雅黑" panose="020B0503020204020204" charset="-122"/>
                <a:cs typeface="微软雅黑" panose="020B0503020204020204" charset="-122"/>
              </a:rPr>
              <a:t>“</a:t>
            </a:r>
            <a:r>
              <a:rPr lang="zh-CN" altLang="en-US" sz="1700" b="1" kern="0" spc="60" dirty="0">
                <a:solidFill>
                  <a:srgbClr val="2F5597">
                    <a:alpha val="100000"/>
                  </a:srgbClr>
                </a:solidFill>
                <a:latin typeface="微软雅黑" panose="020B0503020204020204" charset="-122"/>
                <a:ea typeface="微软雅黑" panose="020B0503020204020204" charset="-122"/>
                <a:cs typeface="微软雅黑" panose="020B0503020204020204" charset="-122"/>
              </a:rPr>
              <a:t>自顶向下</a:t>
            </a:r>
            <a:r>
              <a:rPr lang="en-US" altLang="zh-CN" sz="1700" b="1" kern="0" spc="60" dirty="0">
                <a:solidFill>
                  <a:srgbClr val="2F5597">
                    <a:alpha val="100000"/>
                  </a:srgbClr>
                </a:solidFill>
                <a:latin typeface="微软雅黑" panose="020B0503020204020204" charset="-122"/>
                <a:ea typeface="微软雅黑" panose="020B0503020204020204" charset="-122"/>
                <a:cs typeface="微软雅黑" panose="020B0503020204020204" charset="-122"/>
              </a:rPr>
              <a:t>”</a:t>
            </a:r>
            <a:r>
              <a:rPr lang="zh-CN" altLang="en-US" sz="1700" b="1" kern="0" spc="60" dirty="0">
                <a:solidFill>
                  <a:srgbClr val="2F5597">
                    <a:alpha val="100000"/>
                  </a:srgbClr>
                </a:solidFill>
                <a:latin typeface="微软雅黑" panose="020B0503020204020204" charset="-122"/>
                <a:ea typeface="微软雅黑" panose="020B0503020204020204" charset="-122"/>
                <a:cs typeface="微软雅黑" panose="020B0503020204020204" charset="-122"/>
              </a:rPr>
              <a:t>的逻辑，根据玩游戏的经验和任务要求，找出游戏的所有状态并设计分支！</a:t>
            </a:r>
            <a:endParaRPr lang="zh-CN" sz="1700" b="1" kern="0" spc="60" dirty="0">
              <a:solidFill>
                <a:srgbClr val="2F5597">
                  <a:alpha val="100000"/>
                </a:srgbClr>
              </a:solidFill>
              <a:latin typeface="微软雅黑" panose="020B0503020204020204" charset="-122"/>
              <a:ea typeface="微软雅黑" panose="020B0503020204020204" charset="-122"/>
              <a:cs typeface="微软雅黑" panose="020B0503020204020204" charset="-122"/>
            </a:endParaRPr>
          </a:p>
          <a:p>
            <a:pPr indent="0" algn="l" rtl="0" eaLnBrk="0" fontAlgn="auto">
              <a:lnSpc>
                <a:spcPct val="150000"/>
              </a:lnSpc>
            </a:pPr>
            <a:r>
              <a:rPr sz="1700" b="1" kern="0" spc="60" dirty="0">
                <a:solidFill>
                  <a:srgbClr val="2F5597">
                    <a:alpha val="100000"/>
                  </a:srgbClr>
                </a:solidFill>
                <a:latin typeface="微软雅黑" panose="020B0503020204020204" charset="-122"/>
                <a:ea typeface="微软雅黑" panose="020B0503020204020204" charset="-122"/>
                <a:cs typeface="微软雅黑" panose="020B0503020204020204" charset="-122"/>
              </a:rPr>
              <a:t>2 ）</a:t>
            </a:r>
            <a:r>
              <a:rPr lang="zh-CN" sz="1700" b="1" kern="0" spc="60" dirty="0">
                <a:solidFill>
                  <a:srgbClr val="2F5597">
                    <a:alpha val="100000"/>
                  </a:srgbClr>
                </a:solidFill>
                <a:latin typeface="微软雅黑" panose="020B0503020204020204" charset="-122"/>
                <a:ea typeface="微软雅黑" panose="020B0503020204020204" charset="-122"/>
                <a:cs typeface="微软雅黑" panose="020B0503020204020204" charset="-122"/>
              </a:rPr>
              <a:t>想一想结束的分数显示和上传有必要单独抽离为函数吗？请说明你的理由。</a:t>
            </a:r>
            <a:endParaRPr lang="zh-CN" sz="1700" b="1" kern="0" spc="90" dirty="0">
              <a:solidFill>
                <a:srgbClr val="2F5597">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6"/>
          <a:stretch>
            <a:fillRect/>
          </a:stretch>
        </p:blipFill>
        <p:spPr>
          <a:xfrm>
            <a:off x="1437005" y="2353310"/>
            <a:ext cx="4198620" cy="42291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2" name="picture 312"/>
          <p:cNvPicPr>
            <a:picLocks noChangeAspect="1"/>
          </p:cNvPicPr>
          <p:nvPr/>
        </p:nvPicPr>
        <p:blipFill>
          <a:blip r:embed="rId1"/>
          <a:stretch>
            <a:fillRect/>
          </a:stretch>
        </p:blipFill>
        <p:spPr>
          <a:xfrm rot="21600000">
            <a:off x="0" y="0"/>
            <a:ext cx="12192000" cy="6858000"/>
          </a:xfrm>
          <a:prstGeom prst="rect">
            <a:avLst/>
          </a:prstGeom>
        </p:spPr>
      </p:pic>
      <p:sp>
        <p:nvSpPr>
          <p:cNvPr id="314" name="path 314"/>
          <p:cNvSpPr/>
          <p:nvPr/>
        </p:nvSpPr>
        <p:spPr>
          <a:xfrm>
            <a:off x="339852" y="807720"/>
            <a:ext cx="585216" cy="364235"/>
          </a:xfrm>
          <a:custGeom>
            <a:avLst/>
            <a:gdLst/>
            <a:ahLst/>
            <a:cxnLst/>
            <a:rect l="0" t="0" r="0" b="0"/>
            <a:pathLst>
              <a:path w="921" h="573">
                <a:moveTo>
                  <a:pt x="0" y="0"/>
                </a:moveTo>
                <a:lnTo>
                  <a:pt x="739" y="0"/>
                </a:lnTo>
                <a:lnTo>
                  <a:pt x="921" y="287"/>
                </a:lnTo>
                <a:lnTo>
                  <a:pt x="739" y="573"/>
                </a:lnTo>
                <a:lnTo>
                  <a:pt x="0" y="573"/>
                </a:lnTo>
                <a:lnTo>
                  <a:pt x="0" y="0"/>
                </a:lnTo>
              </a:path>
            </a:pathLst>
          </a:custGeom>
          <a:solidFill>
            <a:srgbClr val="ED7D31">
              <a:alpha val="100000"/>
            </a:srgbClr>
          </a:solidFill>
          <a:ln w="0" cap="flat">
            <a:noFill/>
            <a:prstDash val="solid"/>
            <a:miter lim="0"/>
          </a:ln>
        </p:spPr>
        <p:txBody>
          <a:bodyPr rtlCol="0"/>
          <a:lstStyle/>
          <a:p>
            <a:pPr algn="ctr"/>
            <a:endParaRPr lang="zh-CN" altLang="en-US"/>
          </a:p>
        </p:txBody>
      </p:sp>
      <p:sp>
        <p:nvSpPr>
          <p:cNvPr id="316" name="textbox 316"/>
          <p:cNvSpPr/>
          <p:nvPr/>
        </p:nvSpPr>
        <p:spPr>
          <a:xfrm>
            <a:off x="497840" y="860425"/>
            <a:ext cx="8966835" cy="103695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a:ea typeface="Arial" panose="020B0604020202020204"/>
              <a:cs typeface="Arial" panose="020B0604020202020204"/>
            </a:endParaRPr>
          </a:p>
          <a:p>
            <a:pPr marL="12700" algn="l" rtl="0" eaLnBrk="0">
              <a:lnSpc>
                <a:spcPct val="87000"/>
              </a:lnSpc>
            </a:pPr>
            <a:r>
              <a:rPr sz="3600" b="1" kern="0" spc="50" baseline="12000" dirty="0">
                <a:solidFill>
                  <a:srgbClr val="FFFFFF">
                    <a:alpha val="100000"/>
                  </a:srgbClr>
                </a:solidFill>
                <a:latin typeface="Times New Roman" panose="02020603050405020304"/>
                <a:ea typeface="Times New Roman" panose="02020603050405020304"/>
                <a:cs typeface="Times New Roman" panose="02020603050405020304"/>
              </a:rPr>
              <a:t>2</a:t>
            </a:r>
            <a:r>
              <a:rPr sz="2300" b="1" kern="0" spc="50" dirty="0">
                <a:solidFill>
                  <a:srgbClr val="FFFFFF">
                    <a:alpha val="100000"/>
                  </a:srgbClr>
                </a:solidFill>
                <a:latin typeface="Times New Roman" panose="02020603050405020304"/>
                <a:ea typeface="Times New Roman" panose="02020603050405020304"/>
                <a:cs typeface="Times New Roman" panose="02020603050405020304"/>
              </a:rPr>
              <a:t>       </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sym typeface="+mn-ea"/>
              </a:rPr>
              <a:t>记忆守护：</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sym typeface="+mn-ea"/>
              </a:rPr>
              <a:t>阿尔兹海默症预防</a:t>
            </a:r>
            <a:r>
              <a:rPr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rPr>
              <a:t>系统实践</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22000"/>
              </a:lnSpc>
            </a:pPr>
            <a:endParaRPr sz="1000" dirty="0">
              <a:latin typeface="Arial" panose="020B0604020202020204"/>
              <a:ea typeface="Arial" panose="020B0604020202020204"/>
              <a:cs typeface="Arial" panose="020B0604020202020204"/>
            </a:endParaRPr>
          </a:p>
          <a:p>
            <a:pPr marL="758190" algn="l" rtl="0" eaLnBrk="0">
              <a:lnSpc>
                <a:spcPts val="2645"/>
              </a:lnSpc>
              <a:spcBef>
                <a:spcPts val="600"/>
              </a:spcBef>
              <a:tabLst>
                <a:tab pos="938530" algn="l"/>
              </a:tabLst>
            </a:pP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54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具体任务3: </a:t>
            </a:r>
            <a:r>
              <a:rPr lang="en-US"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模拟实现</a:t>
            </a:r>
            <a:r>
              <a:rPr sz="2000" b="1" kern="0" spc="-10" dirty="0">
                <a:solidFill>
                  <a:srgbClr val="5B9BD5">
                    <a:alpha val="100000"/>
                  </a:srgbClr>
                </a:solidFill>
                <a:latin typeface="微软雅黑" panose="020B0503020204020204" charset="-122"/>
                <a:ea typeface="微软雅黑" panose="020B0503020204020204" charset="-122"/>
                <a:cs typeface="微软雅黑" panose="020B0503020204020204" charset="-122"/>
              </a:rPr>
              <a:t>系统功能</a:t>
            </a:r>
            <a:endParaRPr sz="2000" dirty="0">
              <a:latin typeface="微软雅黑" panose="020B0503020204020204" charset="-122"/>
              <a:ea typeface="微软雅黑" panose="020B0503020204020204" charset="-122"/>
              <a:cs typeface="微软雅黑" panose="020B0503020204020204" charset="-122"/>
            </a:endParaRPr>
          </a:p>
          <a:p>
            <a:pPr algn="l" rtl="0" eaLnBrk="0">
              <a:lnSpc>
                <a:spcPct val="134000"/>
              </a:lnSpc>
            </a:pPr>
            <a:endParaRPr sz="1000" dirty="0">
              <a:latin typeface="Arial" panose="020B0604020202020204"/>
              <a:ea typeface="Arial" panose="020B0604020202020204"/>
              <a:cs typeface="Arial" panose="020B0604020202020204"/>
            </a:endParaRPr>
          </a:p>
          <a:p>
            <a:pPr algn="l" rtl="0" eaLnBrk="0">
              <a:lnSpc>
                <a:spcPct val="134000"/>
              </a:lnSpc>
            </a:pPr>
            <a:endParaRPr sz="2000" dirty="0">
              <a:latin typeface="微软雅黑" panose="020B0503020204020204" charset="-122"/>
              <a:ea typeface="微软雅黑" panose="020B0503020204020204" charset="-122"/>
              <a:cs typeface="微软雅黑" panose="020B0503020204020204" charset="-122"/>
            </a:endParaRPr>
          </a:p>
          <a:p>
            <a:pPr marL="1102995" algn="l" rtl="0" eaLnBrk="0">
              <a:lnSpc>
                <a:spcPts val="2690"/>
              </a:lnSpc>
              <a:spcBef>
                <a:spcPts val="1145"/>
              </a:spcBef>
            </a:pPr>
            <a:endParaRPr sz="2000" dirty="0">
              <a:latin typeface="微软雅黑" panose="020B0503020204020204" charset="-122"/>
              <a:ea typeface="微软雅黑" panose="020B0503020204020204" charset="-122"/>
              <a:cs typeface="微软雅黑" panose="020B0503020204020204" charset="-122"/>
            </a:endParaRPr>
          </a:p>
        </p:txBody>
      </p:sp>
      <p:pic>
        <p:nvPicPr>
          <p:cNvPr id="318" name="picture 318"/>
          <p:cNvPicPr>
            <a:picLocks noChangeAspect="1"/>
          </p:cNvPicPr>
          <p:nvPr/>
        </p:nvPicPr>
        <p:blipFill>
          <a:blip r:embed="rId2"/>
          <a:stretch>
            <a:fillRect/>
          </a:stretch>
        </p:blipFill>
        <p:spPr>
          <a:xfrm rot="21600000">
            <a:off x="1256464" y="1534618"/>
            <a:ext cx="180790" cy="282135"/>
          </a:xfrm>
          <a:prstGeom prst="rect">
            <a:avLst/>
          </a:prstGeom>
        </p:spPr>
      </p:pic>
      <p:sp>
        <p:nvSpPr>
          <p:cNvPr id="320" name="rect 320"/>
          <p:cNvSpPr/>
          <p:nvPr/>
        </p:nvSpPr>
        <p:spPr>
          <a:xfrm>
            <a:off x="0" y="6612635"/>
            <a:ext cx="12192000" cy="245364"/>
          </a:xfrm>
          <a:prstGeom prst="rect">
            <a:avLst/>
          </a:prstGeom>
          <a:solidFill>
            <a:srgbClr val="0371AE">
              <a:alpha val="100000"/>
            </a:srgbClr>
          </a:solidFill>
          <a:ln w="0" cap="flat">
            <a:noFill/>
            <a:prstDash val="solid"/>
            <a:miter lim="0"/>
          </a:ln>
        </p:spPr>
        <p:txBody>
          <a:bodyPr rtlCol="0"/>
          <a:lstStyle/>
          <a:p>
            <a:pPr algn="ctr"/>
            <a:endParaRPr lang="zh-CN" altLang="en-US"/>
          </a:p>
        </p:txBody>
      </p:sp>
      <p:pic>
        <p:nvPicPr>
          <p:cNvPr id="322" name="picture 322"/>
          <p:cNvPicPr>
            <a:picLocks noChangeAspect="1"/>
          </p:cNvPicPr>
          <p:nvPr/>
        </p:nvPicPr>
        <p:blipFill>
          <a:blip r:embed="rId3"/>
          <a:stretch>
            <a:fillRect/>
          </a:stretch>
        </p:blipFill>
        <p:spPr>
          <a:xfrm rot="21600000">
            <a:off x="4195571" y="0"/>
            <a:ext cx="7996427" cy="365759"/>
          </a:xfrm>
          <a:prstGeom prst="rect">
            <a:avLst/>
          </a:prstGeom>
        </p:spPr>
      </p:pic>
      <p:pic>
        <p:nvPicPr>
          <p:cNvPr id="326" name="picture 326"/>
          <p:cNvPicPr>
            <a:picLocks noChangeAspect="1"/>
          </p:cNvPicPr>
          <p:nvPr/>
        </p:nvPicPr>
        <p:blipFill>
          <a:blip r:embed="rId4"/>
          <a:stretch>
            <a:fillRect/>
          </a:stretch>
        </p:blipFill>
        <p:spPr>
          <a:xfrm rot="21600000">
            <a:off x="0" y="0"/>
            <a:ext cx="598931" cy="373379"/>
          </a:xfrm>
          <a:prstGeom prst="rect">
            <a:avLst/>
          </a:prstGeom>
        </p:spPr>
      </p:pic>
      <p:pic>
        <p:nvPicPr>
          <p:cNvPr id="328" name="picture 328"/>
          <p:cNvPicPr>
            <a:picLocks noChangeAspect="1"/>
          </p:cNvPicPr>
          <p:nvPr/>
        </p:nvPicPr>
        <p:blipFill>
          <a:blip r:embed="rId5"/>
          <a:stretch>
            <a:fillRect/>
          </a:stretch>
        </p:blipFill>
        <p:spPr>
          <a:xfrm rot="21600000">
            <a:off x="0" y="6579983"/>
            <a:ext cx="12179300" cy="12700"/>
          </a:xfrm>
          <a:prstGeom prst="rect">
            <a:avLst/>
          </a:prstGeom>
        </p:spPr>
      </p:pic>
      <p:sp>
        <p:nvSpPr>
          <p:cNvPr id="6" name="textbox 8"/>
          <p:cNvSpPr/>
          <p:nvPr/>
        </p:nvSpPr>
        <p:spPr>
          <a:xfrm>
            <a:off x="618825" y="67294"/>
            <a:ext cx="11393805" cy="270509"/>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100000"/>
              </a:lnSpc>
            </a:pPr>
            <a:r>
              <a:rPr sz="1600" b="1" kern="0" spc="-20" dirty="0">
                <a:solidFill>
                  <a:srgbClr val="000000">
                    <a:alpha val="100000"/>
                  </a:srgbClr>
                </a:solidFill>
                <a:latin typeface="黑体" panose="02010609060101010101" charset="-122"/>
                <a:ea typeface="黑体" panose="02010609060101010101" charset="-122"/>
                <a:cs typeface="黑体" panose="02010609060101010101" charset="-122"/>
              </a:rPr>
              <a:t>米思齐</a:t>
            </a:r>
            <a:r>
              <a:rPr 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课程作业</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600" b="1" kern="0" spc="-20" dirty="0">
                <a:solidFill>
                  <a:srgbClr val="000000">
                    <a:alpha val="100000"/>
                  </a:srgbClr>
                </a:solidFill>
                <a:latin typeface="黑体" panose="02010609060101010101" charset="-122"/>
                <a:ea typeface="黑体" panose="02010609060101010101" charset="-122"/>
                <a:cs typeface="黑体" panose="02010609060101010101" charset="-122"/>
              </a:rPr>
              <a:t>余天润</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202522039114</a:t>
            </a:r>
            <a:r>
              <a:rPr sz="1600" kern="0" spc="-20" dirty="0">
                <a:solidFill>
                  <a:srgbClr val="000000">
                    <a:alpha val="100000"/>
                  </a:srgbClr>
                </a:solidFill>
                <a:latin typeface="黑体" panose="02010609060101010101" charset="-122"/>
                <a:ea typeface="黑体" panose="02010609060101010101" charset="-122"/>
                <a:cs typeface="黑体" panose="02010609060101010101" charset="-122"/>
              </a:rPr>
              <a:t>                                        </a:t>
            </a:r>
            <a:endParaRPr sz="1400" dirty="0">
              <a:latin typeface="黑体" panose="02010609060101010101" charset="-122"/>
              <a:ea typeface="黑体" panose="02010609060101010101" charset="-122"/>
              <a:cs typeface="黑体" panose="02010609060101010101" charset="-122"/>
            </a:endParaRPr>
          </a:p>
        </p:txBody>
      </p:sp>
      <p:sp>
        <p:nvSpPr>
          <p:cNvPr id="5" name="textbox 404"/>
          <p:cNvSpPr/>
          <p:nvPr/>
        </p:nvSpPr>
        <p:spPr>
          <a:xfrm>
            <a:off x="1519555" y="1948180"/>
            <a:ext cx="4997450" cy="118491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ts val="2375"/>
              </a:lnSpc>
            </a:pPr>
            <a:r>
              <a:rPr lang="zh-CN" sz="1700" b="1" kern="0" spc="22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模块三</a:t>
            </a:r>
            <a:r>
              <a:rPr sz="1700" b="1" kern="0" spc="22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 </a:t>
            </a:r>
            <a:r>
              <a:rPr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a:t>
            </a:r>
            <a:r>
              <a:rPr lang="zh-CN"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符号显示函数</a:t>
            </a:r>
            <a:endParaRPr lang="zh-CN"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endParaRPr>
          </a:p>
        </p:txBody>
      </p:sp>
      <p:sp>
        <p:nvSpPr>
          <p:cNvPr id="404" name="textbox 404"/>
          <p:cNvSpPr/>
          <p:nvPr/>
        </p:nvSpPr>
        <p:spPr>
          <a:xfrm>
            <a:off x="7313421" y="1947976"/>
            <a:ext cx="4098290" cy="320738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ts val="2375"/>
              </a:lnSpc>
            </a:pPr>
            <a:r>
              <a:rPr lang="zh-CN" altLang="en-US" sz="1700" b="1" kern="0" spc="22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想一想</a:t>
            </a:r>
            <a:r>
              <a:rPr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a:t>
            </a:r>
            <a:endParaRPr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endParaRPr>
          </a:p>
          <a:p>
            <a:pPr algn="l" rtl="0" eaLnBrk="0">
              <a:lnSpc>
                <a:spcPts val="2375"/>
              </a:lnSpc>
            </a:pPr>
            <a:endParaRPr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endParaRPr>
          </a:p>
          <a:p>
            <a:pPr indent="0" algn="l" rtl="0" eaLnBrk="0" fontAlgn="auto">
              <a:lnSpc>
                <a:spcPct val="150000"/>
              </a:lnSpc>
            </a:pPr>
            <a:r>
              <a:rPr sz="1700" b="1" kern="0" spc="-330" dirty="0">
                <a:solidFill>
                  <a:srgbClr val="2F5597">
                    <a:alpha val="100000"/>
                  </a:srgbClr>
                </a:solidFill>
                <a:latin typeface="微软雅黑" panose="020B0503020204020204" charset="-122"/>
                <a:ea typeface="微软雅黑" panose="020B0503020204020204" charset="-122"/>
                <a:cs typeface="微软雅黑" panose="020B0503020204020204" charset="-122"/>
              </a:rPr>
              <a:t> </a:t>
            </a:r>
            <a:r>
              <a:rPr sz="2000" b="1" kern="0" spc="-40" dirty="0">
                <a:solidFill>
                  <a:srgbClr val="2F5597">
                    <a:alpha val="100000"/>
                  </a:srgbClr>
                </a:solidFill>
                <a:latin typeface="Times New Roman" panose="02020603050405020304"/>
                <a:ea typeface="Times New Roman" panose="02020603050405020304"/>
                <a:cs typeface="Times New Roman" panose="02020603050405020304"/>
              </a:rPr>
              <a:t>1 </a:t>
            </a:r>
            <a:r>
              <a:rPr sz="1700" b="1" kern="0" spc="-40" dirty="0">
                <a:solidFill>
                  <a:srgbClr val="2F5597">
                    <a:alpha val="100000"/>
                  </a:srgbClr>
                </a:solidFill>
                <a:latin typeface="微软雅黑" panose="020B0503020204020204" charset="-122"/>
                <a:ea typeface="微软雅黑" panose="020B0503020204020204" charset="-122"/>
                <a:cs typeface="微软雅黑" panose="020B0503020204020204" charset="-122"/>
              </a:rPr>
              <a:t>）</a:t>
            </a:r>
            <a:r>
              <a:rPr lang="zh-CN" sz="1700" b="1" kern="0" spc="-40" dirty="0">
                <a:solidFill>
                  <a:srgbClr val="2F5597">
                    <a:alpha val="100000"/>
                  </a:srgbClr>
                </a:solidFill>
                <a:latin typeface="微软雅黑" panose="020B0503020204020204" charset="-122"/>
                <a:ea typeface="微软雅黑" panose="020B0503020204020204" charset="-122"/>
                <a:cs typeface="微软雅黑" panose="020B0503020204020204" charset="-122"/>
              </a:rPr>
              <a:t>单独抽离符号显示函数和上一个中单独抽离不同状态的分支函数的理由一样吗？</a:t>
            </a:r>
            <a:endParaRPr lang="zh-CN" sz="1700" b="1" kern="0" spc="-40" dirty="0">
              <a:solidFill>
                <a:srgbClr val="2F5597">
                  <a:alpha val="100000"/>
                </a:srgbClr>
              </a:solidFill>
              <a:latin typeface="微软雅黑" panose="020B0503020204020204" charset="-122"/>
              <a:ea typeface="微软雅黑" panose="020B0503020204020204" charset="-122"/>
              <a:cs typeface="微软雅黑" panose="020B0503020204020204" charset="-122"/>
            </a:endParaRPr>
          </a:p>
          <a:p>
            <a:pPr indent="0" algn="l" rtl="0" eaLnBrk="0" fontAlgn="auto">
              <a:lnSpc>
                <a:spcPct val="150000"/>
              </a:lnSpc>
            </a:pPr>
            <a:r>
              <a:rPr sz="1700" b="1" kern="0" spc="60" dirty="0">
                <a:solidFill>
                  <a:srgbClr val="2F5597">
                    <a:alpha val="100000"/>
                  </a:srgbClr>
                </a:solidFill>
                <a:latin typeface="微软雅黑" panose="020B0503020204020204" charset="-122"/>
                <a:ea typeface="微软雅黑" panose="020B0503020204020204" charset="-122"/>
                <a:cs typeface="微软雅黑" panose="020B0503020204020204" charset="-122"/>
              </a:rPr>
              <a:t>2 ）</a:t>
            </a:r>
            <a:r>
              <a:rPr lang="zh-CN" sz="1700" b="1" kern="0" spc="60" dirty="0">
                <a:solidFill>
                  <a:srgbClr val="2F5597">
                    <a:alpha val="100000"/>
                  </a:srgbClr>
                </a:solidFill>
                <a:latin typeface="微软雅黑" panose="020B0503020204020204" charset="-122"/>
                <a:ea typeface="微软雅黑" panose="020B0503020204020204" charset="-122"/>
                <a:cs typeface="微软雅黑" panose="020B0503020204020204" charset="-122"/>
              </a:rPr>
              <a:t>实际上这个函数还能够使用列表实现，请你试试吧！</a:t>
            </a:r>
            <a:endParaRPr lang="zh-CN" sz="1700" b="1" kern="0" spc="90" dirty="0">
              <a:solidFill>
                <a:srgbClr val="2F5597">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nvPicPr>
        <p:blipFill>
          <a:blip r:embed="rId6"/>
          <a:stretch>
            <a:fillRect/>
          </a:stretch>
        </p:blipFill>
        <p:spPr>
          <a:xfrm>
            <a:off x="1519555" y="2419985"/>
            <a:ext cx="4105910" cy="406209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2" name="picture 312"/>
          <p:cNvPicPr>
            <a:picLocks noChangeAspect="1"/>
          </p:cNvPicPr>
          <p:nvPr/>
        </p:nvPicPr>
        <p:blipFill>
          <a:blip r:embed="rId1"/>
          <a:stretch>
            <a:fillRect/>
          </a:stretch>
        </p:blipFill>
        <p:spPr>
          <a:xfrm rot="21600000">
            <a:off x="0" y="0"/>
            <a:ext cx="12192000" cy="6858000"/>
          </a:xfrm>
          <a:prstGeom prst="rect">
            <a:avLst/>
          </a:prstGeom>
        </p:spPr>
      </p:pic>
      <p:sp>
        <p:nvSpPr>
          <p:cNvPr id="314" name="path 314"/>
          <p:cNvSpPr/>
          <p:nvPr/>
        </p:nvSpPr>
        <p:spPr>
          <a:xfrm>
            <a:off x="339852" y="807720"/>
            <a:ext cx="585216" cy="364235"/>
          </a:xfrm>
          <a:custGeom>
            <a:avLst/>
            <a:gdLst/>
            <a:ahLst/>
            <a:cxnLst/>
            <a:rect l="0" t="0" r="0" b="0"/>
            <a:pathLst>
              <a:path w="921" h="573">
                <a:moveTo>
                  <a:pt x="0" y="0"/>
                </a:moveTo>
                <a:lnTo>
                  <a:pt x="739" y="0"/>
                </a:lnTo>
                <a:lnTo>
                  <a:pt x="921" y="287"/>
                </a:lnTo>
                <a:lnTo>
                  <a:pt x="739" y="573"/>
                </a:lnTo>
                <a:lnTo>
                  <a:pt x="0" y="573"/>
                </a:lnTo>
                <a:lnTo>
                  <a:pt x="0" y="0"/>
                </a:lnTo>
              </a:path>
            </a:pathLst>
          </a:custGeom>
          <a:solidFill>
            <a:srgbClr val="ED7D31">
              <a:alpha val="100000"/>
            </a:srgbClr>
          </a:solidFill>
          <a:ln w="0" cap="flat">
            <a:noFill/>
            <a:prstDash val="solid"/>
            <a:miter lim="0"/>
          </a:ln>
        </p:spPr>
        <p:txBody>
          <a:bodyPr rtlCol="0"/>
          <a:lstStyle/>
          <a:p>
            <a:pPr algn="ctr"/>
            <a:endParaRPr lang="zh-CN" altLang="en-US"/>
          </a:p>
        </p:txBody>
      </p:sp>
      <p:sp>
        <p:nvSpPr>
          <p:cNvPr id="316" name="textbox 316"/>
          <p:cNvSpPr/>
          <p:nvPr/>
        </p:nvSpPr>
        <p:spPr>
          <a:xfrm>
            <a:off x="497840" y="860425"/>
            <a:ext cx="8966835" cy="103695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a:ea typeface="Arial" panose="020B0604020202020204"/>
              <a:cs typeface="Arial" panose="020B0604020202020204"/>
            </a:endParaRPr>
          </a:p>
          <a:p>
            <a:pPr marL="12700" algn="l" rtl="0" eaLnBrk="0">
              <a:lnSpc>
                <a:spcPct val="87000"/>
              </a:lnSpc>
            </a:pPr>
            <a:r>
              <a:rPr sz="3600" b="1" kern="0" spc="50" baseline="12000" dirty="0">
                <a:solidFill>
                  <a:srgbClr val="FFFFFF">
                    <a:alpha val="100000"/>
                  </a:srgbClr>
                </a:solidFill>
                <a:latin typeface="Times New Roman" panose="02020603050405020304"/>
                <a:ea typeface="Times New Roman" panose="02020603050405020304"/>
                <a:cs typeface="Times New Roman" panose="02020603050405020304"/>
              </a:rPr>
              <a:t>2</a:t>
            </a:r>
            <a:r>
              <a:rPr sz="2300" b="1" kern="0" spc="50" dirty="0">
                <a:solidFill>
                  <a:srgbClr val="FFFFFF">
                    <a:alpha val="100000"/>
                  </a:srgbClr>
                </a:solidFill>
                <a:latin typeface="Times New Roman" panose="02020603050405020304"/>
                <a:ea typeface="Times New Roman" panose="02020603050405020304"/>
                <a:cs typeface="Times New Roman" panose="02020603050405020304"/>
              </a:rPr>
              <a:t>       </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sym typeface="+mn-ea"/>
              </a:rPr>
              <a:t>记忆守护：</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sym typeface="+mn-ea"/>
              </a:rPr>
              <a:t>阿尔兹海默症预防</a:t>
            </a:r>
            <a:r>
              <a:rPr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rPr>
              <a:t>系统实践</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22000"/>
              </a:lnSpc>
            </a:pPr>
            <a:endParaRPr sz="1000" dirty="0">
              <a:latin typeface="Arial" panose="020B0604020202020204"/>
              <a:ea typeface="Arial" panose="020B0604020202020204"/>
              <a:cs typeface="Arial" panose="020B0604020202020204"/>
            </a:endParaRPr>
          </a:p>
          <a:p>
            <a:pPr marL="758190" algn="l" rtl="0" eaLnBrk="0">
              <a:lnSpc>
                <a:spcPts val="2645"/>
              </a:lnSpc>
              <a:spcBef>
                <a:spcPts val="600"/>
              </a:spcBef>
              <a:tabLst>
                <a:tab pos="938530" algn="l"/>
              </a:tabLst>
            </a:pP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54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具体任务3: </a:t>
            </a:r>
            <a:r>
              <a:rPr lang="en-US"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模拟实现</a:t>
            </a:r>
            <a:r>
              <a:rPr sz="2000" b="1" kern="0" spc="-10" dirty="0">
                <a:solidFill>
                  <a:srgbClr val="5B9BD5">
                    <a:alpha val="100000"/>
                  </a:srgbClr>
                </a:solidFill>
                <a:latin typeface="微软雅黑" panose="020B0503020204020204" charset="-122"/>
                <a:ea typeface="微软雅黑" panose="020B0503020204020204" charset="-122"/>
                <a:cs typeface="微软雅黑" panose="020B0503020204020204" charset="-122"/>
              </a:rPr>
              <a:t>系统功能</a:t>
            </a:r>
            <a:endParaRPr sz="2000" dirty="0">
              <a:latin typeface="微软雅黑" panose="020B0503020204020204" charset="-122"/>
              <a:ea typeface="微软雅黑" panose="020B0503020204020204" charset="-122"/>
              <a:cs typeface="微软雅黑" panose="020B0503020204020204" charset="-122"/>
            </a:endParaRPr>
          </a:p>
          <a:p>
            <a:pPr algn="l" rtl="0" eaLnBrk="0">
              <a:lnSpc>
                <a:spcPct val="134000"/>
              </a:lnSpc>
            </a:pPr>
            <a:endParaRPr sz="1000" dirty="0">
              <a:latin typeface="Arial" panose="020B0604020202020204"/>
              <a:ea typeface="Arial" panose="020B0604020202020204"/>
              <a:cs typeface="Arial" panose="020B0604020202020204"/>
            </a:endParaRPr>
          </a:p>
          <a:p>
            <a:pPr algn="l" rtl="0" eaLnBrk="0">
              <a:lnSpc>
                <a:spcPct val="134000"/>
              </a:lnSpc>
            </a:pPr>
            <a:endParaRPr sz="2000" dirty="0">
              <a:latin typeface="微软雅黑" panose="020B0503020204020204" charset="-122"/>
              <a:ea typeface="微软雅黑" panose="020B0503020204020204" charset="-122"/>
              <a:cs typeface="微软雅黑" panose="020B0503020204020204" charset="-122"/>
            </a:endParaRPr>
          </a:p>
          <a:p>
            <a:pPr marL="1102995" algn="l" rtl="0" eaLnBrk="0">
              <a:lnSpc>
                <a:spcPts val="2690"/>
              </a:lnSpc>
              <a:spcBef>
                <a:spcPts val="1145"/>
              </a:spcBef>
            </a:pPr>
            <a:endParaRPr sz="2000" dirty="0">
              <a:latin typeface="微软雅黑" panose="020B0503020204020204" charset="-122"/>
              <a:ea typeface="微软雅黑" panose="020B0503020204020204" charset="-122"/>
              <a:cs typeface="微软雅黑" panose="020B0503020204020204" charset="-122"/>
            </a:endParaRPr>
          </a:p>
        </p:txBody>
      </p:sp>
      <p:pic>
        <p:nvPicPr>
          <p:cNvPr id="318" name="picture 318"/>
          <p:cNvPicPr>
            <a:picLocks noChangeAspect="1"/>
          </p:cNvPicPr>
          <p:nvPr/>
        </p:nvPicPr>
        <p:blipFill>
          <a:blip r:embed="rId2"/>
          <a:stretch>
            <a:fillRect/>
          </a:stretch>
        </p:blipFill>
        <p:spPr>
          <a:xfrm rot="21600000">
            <a:off x="1256464" y="1534618"/>
            <a:ext cx="180790" cy="282135"/>
          </a:xfrm>
          <a:prstGeom prst="rect">
            <a:avLst/>
          </a:prstGeom>
        </p:spPr>
      </p:pic>
      <p:sp>
        <p:nvSpPr>
          <p:cNvPr id="320" name="rect 320"/>
          <p:cNvSpPr/>
          <p:nvPr/>
        </p:nvSpPr>
        <p:spPr>
          <a:xfrm>
            <a:off x="0" y="6612635"/>
            <a:ext cx="12192000" cy="245364"/>
          </a:xfrm>
          <a:prstGeom prst="rect">
            <a:avLst/>
          </a:prstGeom>
          <a:solidFill>
            <a:srgbClr val="0371AE">
              <a:alpha val="100000"/>
            </a:srgbClr>
          </a:solidFill>
          <a:ln w="0" cap="flat">
            <a:noFill/>
            <a:prstDash val="solid"/>
            <a:miter lim="0"/>
          </a:ln>
        </p:spPr>
        <p:txBody>
          <a:bodyPr rtlCol="0"/>
          <a:lstStyle/>
          <a:p>
            <a:pPr algn="ctr"/>
            <a:endParaRPr lang="zh-CN" altLang="en-US"/>
          </a:p>
        </p:txBody>
      </p:sp>
      <p:pic>
        <p:nvPicPr>
          <p:cNvPr id="322" name="picture 322"/>
          <p:cNvPicPr>
            <a:picLocks noChangeAspect="1"/>
          </p:cNvPicPr>
          <p:nvPr/>
        </p:nvPicPr>
        <p:blipFill>
          <a:blip r:embed="rId3"/>
          <a:stretch>
            <a:fillRect/>
          </a:stretch>
        </p:blipFill>
        <p:spPr>
          <a:xfrm rot="21600000">
            <a:off x="4195571" y="0"/>
            <a:ext cx="7996427" cy="365759"/>
          </a:xfrm>
          <a:prstGeom prst="rect">
            <a:avLst/>
          </a:prstGeom>
        </p:spPr>
      </p:pic>
      <p:pic>
        <p:nvPicPr>
          <p:cNvPr id="326" name="picture 326"/>
          <p:cNvPicPr>
            <a:picLocks noChangeAspect="1"/>
          </p:cNvPicPr>
          <p:nvPr/>
        </p:nvPicPr>
        <p:blipFill>
          <a:blip r:embed="rId4"/>
          <a:stretch>
            <a:fillRect/>
          </a:stretch>
        </p:blipFill>
        <p:spPr>
          <a:xfrm rot="21600000">
            <a:off x="0" y="0"/>
            <a:ext cx="598931" cy="373379"/>
          </a:xfrm>
          <a:prstGeom prst="rect">
            <a:avLst/>
          </a:prstGeom>
        </p:spPr>
      </p:pic>
      <p:pic>
        <p:nvPicPr>
          <p:cNvPr id="328" name="picture 328"/>
          <p:cNvPicPr>
            <a:picLocks noChangeAspect="1"/>
          </p:cNvPicPr>
          <p:nvPr/>
        </p:nvPicPr>
        <p:blipFill>
          <a:blip r:embed="rId5"/>
          <a:stretch>
            <a:fillRect/>
          </a:stretch>
        </p:blipFill>
        <p:spPr>
          <a:xfrm rot="21600000">
            <a:off x="0" y="6579983"/>
            <a:ext cx="12179300" cy="12700"/>
          </a:xfrm>
          <a:prstGeom prst="rect">
            <a:avLst/>
          </a:prstGeom>
        </p:spPr>
      </p:pic>
      <p:sp>
        <p:nvSpPr>
          <p:cNvPr id="6" name="textbox 8"/>
          <p:cNvSpPr/>
          <p:nvPr/>
        </p:nvSpPr>
        <p:spPr>
          <a:xfrm>
            <a:off x="618825" y="67294"/>
            <a:ext cx="11393805" cy="270509"/>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100000"/>
              </a:lnSpc>
            </a:pPr>
            <a:r>
              <a:rPr sz="1600" b="1" kern="0" spc="-20" dirty="0">
                <a:solidFill>
                  <a:srgbClr val="000000">
                    <a:alpha val="100000"/>
                  </a:srgbClr>
                </a:solidFill>
                <a:latin typeface="黑体" panose="02010609060101010101" charset="-122"/>
                <a:ea typeface="黑体" panose="02010609060101010101" charset="-122"/>
                <a:cs typeface="黑体" panose="02010609060101010101" charset="-122"/>
              </a:rPr>
              <a:t>米思齐</a:t>
            </a:r>
            <a:r>
              <a:rPr 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课程作业</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600" b="1" kern="0" spc="-20" dirty="0">
                <a:solidFill>
                  <a:srgbClr val="000000">
                    <a:alpha val="100000"/>
                  </a:srgbClr>
                </a:solidFill>
                <a:latin typeface="黑体" panose="02010609060101010101" charset="-122"/>
                <a:ea typeface="黑体" panose="02010609060101010101" charset="-122"/>
                <a:cs typeface="黑体" panose="02010609060101010101" charset="-122"/>
              </a:rPr>
              <a:t>余天润</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202522039114</a:t>
            </a:r>
            <a:r>
              <a:rPr sz="1600" kern="0" spc="-20" dirty="0">
                <a:solidFill>
                  <a:srgbClr val="000000">
                    <a:alpha val="100000"/>
                  </a:srgbClr>
                </a:solidFill>
                <a:latin typeface="黑体" panose="02010609060101010101" charset="-122"/>
                <a:ea typeface="黑体" panose="02010609060101010101" charset="-122"/>
                <a:cs typeface="黑体" panose="02010609060101010101" charset="-122"/>
              </a:rPr>
              <a:t>                                        </a:t>
            </a:r>
            <a:endParaRPr sz="1400" dirty="0">
              <a:latin typeface="黑体" panose="02010609060101010101" charset="-122"/>
              <a:ea typeface="黑体" panose="02010609060101010101" charset="-122"/>
              <a:cs typeface="黑体" panose="02010609060101010101" charset="-122"/>
            </a:endParaRPr>
          </a:p>
        </p:txBody>
      </p:sp>
      <p:sp>
        <p:nvSpPr>
          <p:cNvPr id="5" name="textbox 404"/>
          <p:cNvSpPr/>
          <p:nvPr/>
        </p:nvSpPr>
        <p:spPr>
          <a:xfrm>
            <a:off x="1519555" y="1948180"/>
            <a:ext cx="4997450" cy="118491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ts val="2375"/>
              </a:lnSpc>
            </a:pPr>
            <a:r>
              <a:rPr lang="zh-CN" sz="1700" b="1" kern="0" spc="22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模块四</a:t>
            </a:r>
            <a:r>
              <a:rPr sz="1700" b="1" kern="0" spc="22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 </a:t>
            </a:r>
            <a:r>
              <a:rPr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a:t>
            </a:r>
            <a:r>
              <a:rPr lang="zh-CN"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难度选择函数</a:t>
            </a:r>
            <a:endParaRPr lang="zh-CN"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endParaRPr>
          </a:p>
        </p:txBody>
      </p:sp>
      <p:sp>
        <p:nvSpPr>
          <p:cNvPr id="404" name="textbox 404"/>
          <p:cNvSpPr/>
          <p:nvPr/>
        </p:nvSpPr>
        <p:spPr>
          <a:xfrm>
            <a:off x="8190865" y="1948180"/>
            <a:ext cx="3220720" cy="320738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ts val="2375"/>
              </a:lnSpc>
            </a:pPr>
            <a:r>
              <a:rPr lang="zh-CN" altLang="en-US" sz="1700" b="1" kern="0" spc="22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想一想</a:t>
            </a:r>
            <a:r>
              <a:rPr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a:t>
            </a:r>
            <a:endParaRPr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endParaRPr>
          </a:p>
          <a:p>
            <a:pPr algn="l" rtl="0" eaLnBrk="0">
              <a:lnSpc>
                <a:spcPts val="2375"/>
              </a:lnSpc>
            </a:pPr>
            <a:endParaRPr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endParaRPr>
          </a:p>
          <a:p>
            <a:pPr indent="0" algn="l" rtl="0" eaLnBrk="0" fontAlgn="auto">
              <a:lnSpc>
                <a:spcPct val="150000"/>
              </a:lnSpc>
            </a:pPr>
            <a:r>
              <a:rPr sz="1700" b="1" kern="0" spc="-330" dirty="0">
                <a:solidFill>
                  <a:srgbClr val="2F5597">
                    <a:alpha val="100000"/>
                  </a:srgbClr>
                </a:solidFill>
                <a:latin typeface="微软雅黑" panose="020B0503020204020204" charset="-122"/>
                <a:ea typeface="微软雅黑" panose="020B0503020204020204" charset="-122"/>
                <a:cs typeface="微软雅黑" panose="020B0503020204020204" charset="-122"/>
              </a:rPr>
              <a:t> </a:t>
            </a:r>
            <a:r>
              <a:rPr sz="2000" b="1" kern="0" spc="-40" dirty="0">
                <a:solidFill>
                  <a:srgbClr val="2F5597">
                    <a:alpha val="100000"/>
                  </a:srgbClr>
                </a:solidFill>
                <a:latin typeface="Times New Roman" panose="02020603050405020304"/>
                <a:ea typeface="Times New Roman" panose="02020603050405020304"/>
                <a:cs typeface="Times New Roman" panose="02020603050405020304"/>
              </a:rPr>
              <a:t>1 </a:t>
            </a:r>
            <a:r>
              <a:rPr sz="1700" b="1" kern="0" spc="-40" dirty="0">
                <a:solidFill>
                  <a:srgbClr val="2F5597">
                    <a:alpha val="100000"/>
                  </a:srgbClr>
                </a:solidFill>
                <a:latin typeface="微软雅黑" panose="020B0503020204020204" charset="-122"/>
                <a:ea typeface="微软雅黑" panose="020B0503020204020204" charset="-122"/>
                <a:cs typeface="微软雅黑" panose="020B0503020204020204" charset="-122"/>
              </a:rPr>
              <a:t>）</a:t>
            </a:r>
            <a:r>
              <a:rPr lang="zh-CN" sz="1700" b="1" kern="0" spc="-40" dirty="0">
                <a:solidFill>
                  <a:srgbClr val="2F5597">
                    <a:alpha val="100000"/>
                  </a:srgbClr>
                </a:solidFill>
                <a:latin typeface="微软雅黑" panose="020B0503020204020204" charset="-122"/>
                <a:ea typeface="微软雅黑" panose="020B0503020204020204" charset="-122"/>
                <a:cs typeface="微软雅黑" panose="020B0503020204020204" charset="-122"/>
              </a:rPr>
              <a:t>你能类似完成</a:t>
            </a:r>
            <a:r>
              <a:rPr lang="en-US" altLang="zh-CN" sz="1700" b="1" kern="0" spc="-40" dirty="0">
                <a:solidFill>
                  <a:srgbClr val="2F5597">
                    <a:alpha val="100000"/>
                  </a:srgbClr>
                </a:solidFill>
                <a:latin typeface="微软雅黑" panose="020B0503020204020204" charset="-122"/>
                <a:ea typeface="微软雅黑" panose="020B0503020204020204" charset="-122"/>
                <a:cs typeface="微软雅黑" panose="020B0503020204020204" charset="-122"/>
              </a:rPr>
              <a:t>A3</a:t>
            </a:r>
            <a:r>
              <a:rPr lang="zh-CN" altLang="en-US" sz="1700" b="1" kern="0" spc="-40" dirty="0">
                <a:solidFill>
                  <a:srgbClr val="2F5597">
                    <a:alpha val="100000"/>
                  </a:srgbClr>
                </a:solidFill>
                <a:latin typeface="微软雅黑" panose="020B0503020204020204" charset="-122"/>
                <a:ea typeface="微软雅黑" panose="020B0503020204020204" charset="-122"/>
                <a:cs typeface="微软雅黑" panose="020B0503020204020204" charset="-122"/>
              </a:rPr>
              <a:t>、</a:t>
            </a:r>
            <a:r>
              <a:rPr lang="en-US" altLang="zh-CN" sz="1700" b="1" kern="0" spc="-40" dirty="0">
                <a:solidFill>
                  <a:srgbClr val="2F5597">
                    <a:alpha val="100000"/>
                  </a:srgbClr>
                </a:solidFill>
                <a:latin typeface="微软雅黑" panose="020B0503020204020204" charset="-122"/>
                <a:ea typeface="微软雅黑" panose="020B0503020204020204" charset="-122"/>
                <a:cs typeface="微软雅黑" panose="020B0503020204020204" charset="-122"/>
              </a:rPr>
              <a:t>A4</a:t>
            </a:r>
            <a:r>
              <a:rPr lang="zh-CN" altLang="en-US" sz="1700" b="1" kern="0" spc="-40" dirty="0">
                <a:solidFill>
                  <a:srgbClr val="2F5597">
                    <a:alpha val="100000"/>
                  </a:srgbClr>
                </a:solidFill>
                <a:latin typeface="微软雅黑" panose="020B0503020204020204" charset="-122"/>
                <a:ea typeface="微软雅黑" panose="020B0503020204020204" charset="-122"/>
                <a:cs typeface="微软雅黑" panose="020B0503020204020204" charset="-122"/>
              </a:rPr>
              <a:t>按键按下的代码吗？</a:t>
            </a:r>
            <a:endParaRPr lang="zh-CN" altLang="en-US" sz="1700" b="1" kern="0" spc="-40" dirty="0">
              <a:solidFill>
                <a:srgbClr val="2F5597">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6"/>
          <a:stretch>
            <a:fillRect/>
          </a:stretch>
        </p:blipFill>
        <p:spPr>
          <a:xfrm>
            <a:off x="1437005" y="2419985"/>
            <a:ext cx="3812540" cy="4060190"/>
          </a:xfrm>
          <a:prstGeom prst="rect">
            <a:avLst/>
          </a:prstGeom>
        </p:spPr>
      </p:pic>
      <p:pic>
        <p:nvPicPr>
          <p:cNvPr id="4" name="图片 3"/>
          <p:cNvPicPr>
            <a:picLocks noChangeAspect="1"/>
          </p:cNvPicPr>
          <p:nvPr/>
        </p:nvPicPr>
        <p:blipFill>
          <a:blip r:embed="rId7"/>
          <a:stretch>
            <a:fillRect/>
          </a:stretch>
        </p:blipFill>
        <p:spPr>
          <a:xfrm>
            <a:off x="5249545" y="3490595"/>
            <a:ext cx="3338195" cy="3079750"/>
          </a:xfrm>
          <a:prstGeom prst="rect">
            <a:avLst/>
          </a:prstGeom>
        </p:spPr>
      </p:pic>
      <p:pic>
        <p:nvPicPr>
          <p:cNvPr id="7" name="图片 6"/>
          <p:cNvPicPr>
            <a:picLocks noChangeAspect="1"/>
          </p:cNvPicPr>
          <p:nvPr/>
        </p:nvPicPr>
        <p:blipFill>
          <a:blip r:embed="rId8"/>
          <a:stretch>
            <a:fillRect/>
          </a:stretch>
        </p:blipFill>
        <p:spPr>
          <a:xfrm>
            <a:off x="5276850" y="1960880"/>
            <a:ext cx="2765425" cy="151193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2" name="picture 312"/>
          <p:cNvPicPr>
            <a:picLocks noChangeAspect="1"/>
          </p:cNvPicPr>
          <p:nvPr/>
        </p:nvPicPr>
        <p:blipFill>
          <a:blip r:embed="rId1"/>
          <a:stretch>
            <a:fillRect/>
          </a:stretch>
        </p:blipFill>
        <p:spPr>
          <a:xfrm rot="21600000">
            <a:off x="0" y="0"/>
            <a:ext cx="12192000" cy="6858000"/>
          </a:xfrm>
          <a:prstGeom prst="rect">
            <a:avLst/>
          </a:prstGeom>
        </p:spPr>
      </p:pic>
      <p:sp>
        <p:nvSpPr>
          <p:cNvPr id="314" name="path 314"/>
          <p:cNvSpPr/>
          <p:nvPr/>
        </p:nvSpPr>
        <p:spPr>
          <a:xfrm>
            <a:off x="339852" y="807720"/>
            <a:ext cx="585216" cy="364235"/>
          </a:xfrm>
          <a:custGeom>
            <a:avLst/>
            <a:gdLst/>
            <a:ahLst/>
            <a:cxnLst/>
            <a:rect l="0" t="0" r="0" b="0"/>
            <a:pathLst>
              <a:path w="921" h="573">
                <a:moveTo>
                  <a:pt x="0" y="0"/>
                </a:moveTo>
                <a:lnTo>
                  <a:pt x="739" y="0"/>
                </a:lnTo>
                <a:lnTo>
                  <a:pt x="921" y="287"/>
                </a:lnTo>
                <a:lnTo>
                  <a:pt x="739" y="573"/>
                </a:lnTo>
                <a:lnTo>
                  <a:pt x="0" y="573"/>
                </a:lnTo>
                <a:lnTo>
                  <a:pt x="0" y="0"/>
                </a:lnTo>
              </a:path>
            </a:pathLst>
          </a:custGeom>
          <a:solidFill>
            <a:srgbClr val="ED7D31">
              <a:alpha val="100000"/>
            </a:srgbClr>
          </a:solidFill>
          <a:ln w="0" cap="flat">
            <a:noFill/>
            <a:prstDash val="solid"/>
            <a:miter lim="0"/>
          </a:ln>
        </p:spPr>
        <p:txBody>
          <a:bodyPr rtlCol="0"/>
          <a:lstStyle/>
          <a:p>
            <a:pPr algn="ctr"/>
            <a:endParaRPr lang="zh-CN" altLang="en-US"/>
          </a:p>
        </p:txBody>
      </p:sp>
      <p:sp>
        <p:nvSpPr>
          <p:cNvPr id="316" name="textbox 316"/>
          <p:cNvSpPr/>
          <p:nvPr/>
        </p:nvSpPr>
        <p:spPr>
          <a:xfrm>
            <a:off x="497840" y="860425"/>
            <a:ext cx="8966835" cy="103695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a:ea typeface="Arial" panose="020B0604020202020204"/>
              <a:cs typeface="Arial" panose="020B0604020202020204"/>
            </a:endParaRPr>
          </a:p>
          <a:p>
            <a:pPr marL="12700" algn="l" rtl="0" eaLnBrk="0">
              <a:lnSpc>
                <a:spcPct val="87000"/>
              </a:lnSpc>
            </a:pPr>
            <a:r>
              <a:rPr sz="3600" b="1" kern="0" spc="50" baseline="12000" dirty="0">
                <a:solidFill>
                  <a:srgbClr val="FFFFFF">
                    <a:alpha val="100000"/>
                  </a:srgbClr>
                </a:solidFill>
                <a:latin typeface="Times New Roman" panose="02020603050405020304"/>
                <a:ea typeface="Times New Roman" panose="02020603050405020304"/>
                <a:cs typeface="Times New Roman" panose="02020603050405020304"/>
              </a:rPr>
              <a:t>2</a:t>
            </a:r>
            <a:r>
              <a:rPr sz="2300" b="1" kern="0" spc="50" dirty="0">
                <a:solidFill>
                  <a:srgbClr val="FFFFFF">
                    <a:alpha val="100000"/>
                  </a:srgbClr>
                </a:solidFill>
                <a:latin typeface="Times New Roman" panose="02020603050405020304"/>
                <a:ea typeface="Times New Roman" panose="02020603050405020304"/>
                <a:cs typeface="Times New Roman" panose="02020603050405020304"/>
              </a:rPr>
              <a:t>       </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sym typeface="+mn-ea"/>
              </a:rPr>
              <a:t>记忆守护：</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sym typeface="+mn-ea"/>
              </a:rPr>
              <a:t>阿尔兹海默症预防</a:t>
            </a:r>
            <a:r>
              <a:rPr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rPr>
              <a:t>系统实践</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22000"/>
              </a:lnSpc>
            </a:pPr>
            <a:endParaRPr sz="1000" dirty="0">
              <a:latin typeface="Arial" panose="020B0604020202020204"/>
              <a:ea typeface="Arial" panose="020B0604020202020204"/>
              <a:cs typeface="Arial" panose="020B0604020202020204"/>
            </a:endParaRPr>
          </a:p>
          <a:p>
            <a:pPr marL="758190" algn="l" rtl="0" eaLnBrk="0">
              <a:lnSpc>
                <a:spcPts val="2645"/>
              </a:lnSpc>
              <a:spcBef>
                <a:spcPts val="600"/>
              </a:spcBef>
              <a:tabLst>
                <a:tab pos="938530" algn="l"/>
              </a:tabLst>
            </a:pP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54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具体任务3: </a:t>
            </a:r>
            <a:r>
              <a:rPr lang="en-US"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模拟实现</a:t>
            </a:r>
            <a:r>
              <a:rPr sz="2000" b="1" kern="0" spc="-10" dirty="0">
                <a:solidFill>
                  <a:srgbClr val="5B9BD5">
                    <a:alpha val="100000"/>
                  </a:srgbClr>
                </a:solidFill>
                <a:latin typeface="微软雅黑" panose="020B0503020204020204" charset="-122"/>
                <a:ea typeface="微软雅黑" panose="020B0503020204020204" charset="-122"/>
                <a:cs typeface="微软雅黑" panose="020B0503020204020204" charset="-122"/>
              </a:rPr>
              <a:t>系统功能</a:t>
            </a:r>
            <a:endParaRPr sz="2000" dirty="0">
              <a:latin typeface="微软雅黑" panose="020B0503020204020204" charset="-122"/>
              <a:ea typeface="微软雅黑" panose="020B0503020204020204" charset="-122"/>
              <a:cs typeface="微软雅黑" panose="020B0503020204020204" charset="-122"/>
            </a:endParaRPr>
          </a:p>
          <a:p>
            <a:pPr algn="l" rtl="0" eaLnBrk="0">
              <a:lnSpc>
                <a:spcPct val="134000"/>
              </a:lnSpc>
            </a:pPr>
            <a:endParaRPr sz="1000" dirty="0">
              <a:latin typeface="Arial" panose="020B0604020202020204"/>
              <a:ea typeface="Arial" panose="020B0604020202020204"/>
              <a:cs typeface="Arial" panose="020B0604020202020204"/>
            </a:endParaRPr>
          </a:p>
          <a:p>
            <a:pPr algn="l" rtl="0" eaLnBrk="0">
              <a:lnSpc>
                <a:spcPct val="134000"/>
              </a:lnSpc>
            </a:pPr>
            <a:endParaRPr sz="2000" dirty="0">
              <a:latin typeface="微软雅黑" panose="020B0503020204020204" charset="-122"/>
              <a:ea typeface="微软雅黑" panose="020B0503020204020204" charset="-122"/>
              <a:cs typeface="微软雅黑" panose="020B0503020204020204" charset="-122"/>
            </a:endParaRPr>
          </a:p>
          <a:p>
            <a:pPr marL="1102995" algn="l" rtl="0" eaLnBrk="0">
              <a:lnSpc>
                <a:spcPts val="2690"/>
              </a:lnSpc>
              <a:spcBef>
                <a:spcPts val="1145"/>
              </a:spcBef>
            </a:pPr>
            <a:endParaRPr sz="2000" dirty="0">
              <a:latin typeface="微软雅黑" panose="020B0503020204020204" charset="-122"/>
              <a:ea typeface="微软雅黑" panose="020B0503020204020204" charset="-122"/>
              <a:cs typeface="微软雅黑" panose="020B0503020204020204" charset="-122"/>
            </a:endParaRPr>
          </a:p>
        </p:txBody>
      </p:sp>
      <p:pic>
        <p:nvPicPr>
          <p:cNvPr id="318" name="picture 318"/>
          <p:cNvPicPr>
            <a:picLocks noChangeAspect="1"/>
          </p:cNvPicPr>
          <p:nvPr/>
        </p:nvPicPr>
        <p:blipFill>
          <a:blip r:embed="rId2"/>
          <a:stretch>
            <a:fillRect/>
          </a:stretch>
        </p:blipFill>
        <p:spPr>
          <a:xfrm rot="21600000">
            <a:off x="1256464" y="1534618"/>
            <a:ext cx="180790" cy="282135"/>
          </a:xfrm>
          <a:prstGeom prst="rect">
            <a:avLst/>
          </a:prstGeom>
        </p:spPr>
      </p:pic>
      <p:sp>
        <p:nvSpPr>
          <p:cNvPr id="320" name="rect 320"/>
          <p:cNvSpPr/>
          <p:nvPr/>
        </p:nvSpPr>
        <p:spPr>
          <a:xfrm>
            <a:off x="0" y="6612635"/>
            <a:ext cx="12192000" cy="245364"/>
          </a:xfrm>
          <a:prstGeom prst="rect">
            <a:avLst/>
          </a:prstGeom>
          <a:solidFill>
            <a:srgbClr val="0371AE">
              <a:alpha val="100000"/>
            </a:srgbClr>
          </a:solidFill>
          <a:ln w="0" cap="flat">
            <a:noFill/>
            <a:prstDash val="solid"/>
            <a:miter lim="0"/>
          </a:ln>
        </p:spPr>
        <p:txBody>
          <a:bodyPr rtlCol="0"/>
          <a:lstStyle/>
          <a:p>
            <a:pPr algn="ctr"/>
            <a:endParaRPr lang="zh-CN" altLang="en-US"/>
          </a:p>
        </p:txBody>
      </p:sp>
      <p:pic>
        <p:nvPicPr>
          <p:cNvPr id="322" name="picture 322"/>
          <p:cNvPicPr>
            <a:picLocks noChangeAspect="1"/>
          </p:cNvPicPr>
          <p:nvPr/>
        </p:nvPicPr>
        <p:blipFill>
          <a:blip r:embed="rId3"/>
          <a:stretch>
            <a:fillRect/>
          </a:stretch>
        </p:blipFill>
        <p:spPr>
          <a:xfrm rot="21600000">
            <a:off x="4195571" y="0"/>
            <a:ext cx="7996427" cy="365759"/>
          </a:xfrm>
          <a:prstGeom prst="rect">
            <a:avLst/>
          </a:prstGeom>
        </p:spPr>
      </p:pic>
      <p:pic>
        <p:nvPicPr>
          <p:cNvPr id="326" name="picture 326"/>
          <p:cNvPicPr>
            <a:picLocks noChangeAspect="1"/>
          </p:cNvPicPr>
          <p:nvPr/>
        </p:nvPicPr>
        <p:blipFill>
          <a:blip r:embed="rId4"/>
          <a:stretch>
            <a:fillRect/>
          </a:stretch>
        </p:blipFill>
        <p:spPr>
          <a:xfrm rot="21600000">
            <a:off x="0" y="0"/>
            <a:ext cx="598931" cy="373379"/>
          </a:xfrm>
          <a:prstGeom prst="rect">
            <a:avLst/>
          </a:prstGeom>
        </p:spPr>
      </p:pic>
      <p:pic>
        <p:nvPicPr>
          <p:cNvPr id="328" name="picture 328"/>
          <p:cNvPicPr>
            <a:picLocks noChangeAspect="1"/>
          </p:cNvPicPr>
          <p:nvPr/>
        </p:nvPicPr>
        <p:blipFill>
          <a:blip r:embed="rId5"/>
          <a:stretch>
            <a:fillRect/>
          </a:stretch>
        </p:blipFill>
        <p:spPr>
          <a:xfrm rot="21600000">
            <a:off x="0" y="6579983"/>
            <a:ext cx="12179300" cy="12700"/>
          </a:xfrm>
          <a:prstGeom prst="rect">
            <a:avLst/>
          </a:prstGeom>
        </p:spPr>
      </p:pic>
      <p:sp>
        <p:nvSpPr>
          <p:cNvPr id="6" name="textbox 8"/>
          <p:cNvSpPr/>
          <p:nvPr/>
        </p:nvSpPr>
        <p:spPr>
          <a:xfrm>
            <a:off x="618825" y="67294"/>
            <a:ext cx="11393805" cy="270509"/>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100000"/>
              </a:lnSpc>
            </a:pPr>
            <a:r>
              <a:rPr sz="1600" b="1" kern="0" spc="-20" dirty="0">
                <a:solidFill>
                  <a:srgbClr val="000000">
                    <a:alpha val="100000"/>
                  </a:srgbClr>
                </a:solidFill>
                <a:latin typeface="黑体" panose="02010609060101010101" charset="-122"/>
                <a:ea typeface="黑体" panose="02010609060101010101" charset="-122"/>
                <a:cs typeface="黑体" panose="02010609060101010101" charset="-122"/>
              </a:rPr>
              <a:t>米思齐</a:t>
            </a:r>
            <a:r>
              <a:rPr 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课程作业</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600" b="1" kern="0" spc="-20" dirty="0">
                <a:solidFill>
                  <a:srgbClr val="000000">
                    <a:alpha val="100000"/>
                  </a:srgbClr>
                </a:solidFill>
                <a:latin typeface="黑体" panose="02010609060101010101" charset="-122"/>
                <a:ea typeface="黑体" panose="02010609060101010101" charset="-122"/>
                <a:cs typeface="黑体" panose="02010609060101010101" charset="-122"/>
              </a:rPr>
              <a:t>余天润</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202522039114</a:t>
            </a:r>
            <a:r>
              <a:rPr sz="1600" kern="0" spc="-20" dirty="0">
                <a:solidFill>
                  <a:srgbClr val="000000">
                    <a:alpha val="100000"/>
                  </a:srgbClr>
                </a:solidFill>
                <a:latin typeface="黑体" panose="02010609060101010101" charset="-122"/>
                <a:ea typeface="黑体" panose="02010609060101010101" charset="-122"/>
                <a:cs typeface="黑体" panose="02010609060101010101" charset="-122"/>
              </a:rPr>
              <a:t>                                        </a:t>
            </a:r>
            <a:endParaRPr sz="1400" dirty="0">
              <a:latin typeface="黑体" panose="02010609060101010101" charset="-122"/>
              <a:ea typeface="黑体" panose="02010609060101010101" charset="-122"/>
              <a:cs typeface="黑体" panose="02010609060101010101" charset="-122"/>
            </a:endParaRPr>
          </a:p>
        </p:txBody>
      </p:sp>
      <p:sp>
        <p:nvSpPr>
          <p:cNvPr id="5" name="textbox 404"/>
          <p:cNvSpPr/>
          <p:nvPr/>
        </p:nvSpPr>
        <p:spPr>
          <a:xfrm>
            <a:off x="1519555" y="1948180"/>
            <a:ext cx="4997450" cy="118491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ts val="2375"/>
              </a:lnSpc>
            </a:pPr>
            <a:r>
              <a:rPr lang="zh-CN" sz="1700" b="1" kern="0" spc="22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模块五</a:t>
            </a:r>
            <a:r>
              <a:rPr sz="1700" b="1" kern="0" spc="22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 </a:t>
            </a:r>
            <a:r>
              <a:rPr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a:t>
            </a:r>
            <a:r>
              <a:rPr lang="zh-CN"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系统出题函数</a:t>
            </a:r>
            <a:endParaRPr lang="zh-CN"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nvPicPr>
        <p:blipFill>
          <a:blip r:embed="rId6"/>
          <a:stretch>
            <a:fillRect/>
          </a:stretch>
        </p:blipFill>
        <p:spPr>
          <a:xfrm>
            <a:off x="7401560" y="374650"/>
            <a:ext cx="4790440" cy="6184900"/>
          </a:xfrm>
          <a:prstGeom prst="rect">
            <a:avLst/>
          </a:prstGeom>
        </p:spPr>
      </p:pic>
      <p:sp>
        <p:nvSpPr>
          <p:cNvPr id="8" name="textbox 404"/>
          <p:cNvSpPr/>
          <p:nvPr/>
        </p:nvSpPr>
        <p:spPr>
          <a:xfrm>
            <a:off x="1519555" y="2651760"/>
            <a:ext cx="3220720" cy="320738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ts val="2375"/>
              </a:lnSpc>
            </a:pPr>
            <a:r>
              <a:rPr lang="en-US" altLang="zh-CN" sz="1700" b="1" kern="0" spc="22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Tips</a:t>
            </a:r>
            <a:r>
              <a:rPr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a:t>
            </a:r>
            <a:endParaRPr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endParaRPr>
          </a:p>
          <a:p>
            <a:pPr algn="l" rtl="0" eaLnBrk="0">
              <a:lnSpc>
                <a:spcPts val="2375"/>
              </a:lnSpc>
            </a:pPr>
            <a:endParaRPr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endParaRPr>
          </a:p>
          <a:p>
            <a:pPr indent="0" algn="l" rtl="0" eaLnBrk="0" fontAlgn="auto">
              <a:lnSpc>
                <a:spcPct val="150000"/>
              </a:lnSpc>
            </a:pPr>
            <a:r>
              <a:rPr sz="1700" b="1" kern="0" spc="-330" dirty="0">
                <a:solidFill>
                  <a:srgbClr val="2F5597">
                    <a:alpha val="100000"/>
                  </a:srgbClr>
                </a:solidFill>
                <a:latin typeface="微软雅黑" panose="020B0503020204020204" charset="-122"/>
                <a:ea typeface="微软雅黑" panose="020B0503020204020204" charset="-122"/>
                <a:cs typeface="微软雅黑" panose="020B0503020204020204" charset="-122"/>
              </a:rPr>
              <a:t> </a:t>
            </a:r>
            <a:r>
              <a:rPr lang="en-US" sz="1700" b="1" kern="0" spc="-330" dirty="0">
                <a:solidFill>
                  <a:srgbClr val="2F5597">
                    <a:alpha val="100000"/>
                  </a:srgbClr>
                </a:solidFill>
                <a:latin typeface="微软雅黑" panose="020B0503020204020204" charset="-122"/>
                <a:ea typeface="微软雅黑" panose="020B0503020204020204" charset="-122"/>
                <a:cs typeface="微软雅黑" panose="020B0503020204020204" charset="-122"/>
              </a:rPr>
              <a:t>                     </a:t>
            </a:r>
            <a:r>
              <a:rPr lang="zh-CN" altLang="en-US" sz="1700" b="1" kern="0" spc="-40" dirty="0">
                <a:solidFill>
                  <a:srgbClr val="2F5597">
                    <a:alpha val="100000"/>
                  </a:srgbClr>
                </a:solidFill>
                <a:latin typeface="微软雅黑" panose="020B0503020204020204" charset="-122"/>
                <a:ea typeface="微软雅黑" panose="020B0503020204020204" charset="-122"/>
                <a:cs typeface="微软雅黑" panose="020B0503020204020204" charset="-122"/>
              </a:rPr>
              <a:t>这部分代码难度较大，请你仔细阅读，充分理解之后再尝试复现吧！</a:t>
            </a:r>
            <a:endParaRPr lang="zh-CN" altLang="en-US" sz="1700" b="1" kern="0" spc="-40" dirty="0">
              <a:solidFill>
                <a:srgbClr val="2F5597">
                  <a:alpha val="100000"/>
                </a:srgbClr>
              </a:solidFill>
              <a:latin typeface="微软雅黑" panose="020B0503020204020204" charset="-122"/>
              <a:ea typeface="微软雅黑" panose="020B0503020204020204" charset="-122"/>
              <a:cs typeface="微软雅黑" panose="020B0503020204020204" charset="-122"/>
            </a:endParaRPr>
          </a:p>
          <a:p>
            <a:pPr indent="0" algn="l" rtl="0" eaLnBrk="0" fontAlgn="auto">
              <a:lnSpc>
                <a:spcPct val="150000"/>
              </a:lnSpc>
            </a:pPr>
            <a:endParaRPr lang="zh-CN" altLang="en-US" sz="1700" b="1" kern="0" spc="-40" dirty="0">
              <a:solidFill>
                <a:srgbClr val="2F5597">
                  <a:alpha val="100000"/>
                </a:srgbClr>
              </a:solidFill>
              <a:latin typeface="微软雅黑" panose="020B0503020204020204" charset="-122"/>
              <a:ea typeface="微软雅黑" panose="020B0503020204020204" charset="-122"/>
              <a:cs typeface="微软雅黑" panose="020B0503020204020204" charset="-122"/>
            </a:endParaRPr>
          </a:p>
          <a:p>
            <a:pPr indent="457200" algn="l" rtl="0" eaLnBrk="0" fontAlgn="auto">
              <a:lnSpc>
                <a:spcPct val="150000"/>
              </a:lnSpc>
            </a:pPr>
            <a:r>
              <a:rPr lang="zh-CN" altLang="en-US" sz="1700" b="1" kern="0" spc="-40" dirty="0">
                <a:solidFill>
                  <a:srgbClr val="2F5597">
                    <a:alpha val="100000"/>
                  </a:srgbClr>
                </a:solidFill>
                <a:latin typeface="微软雅黑" panose="020B0503020204020204" charset="-122"/>
                <a:ea typeface="微软雅黑" panose="020B0503020204020204" charset="-122"/>
                <a:cs typeface="微软雅黑" panose="020B0503020204020204" charset="-122"/>
              </a:rPr>
              <a:t>加油！相信你自己！</a:t>
            </a:r>
            <a:endParaRPr lang="zh-CN" altLang="en-US" sz="1700" b="1" kern="0" spc="-40" dirty="0">
              <a:solidFill>
                <a:srgbClr val="2F5597">
                  <a:alpha val="100000"/>
                </a:srgb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2" name="picture 312"/>
          <p:cNvPicPr>
            <a:picLocks noChangeAspect="1"/>
          </p:cNvPicPr>
          <p:nvPr/>
        </p:nvPicPr>
        <p:blipFill>
          <a:blip r:embed="rId1"/>
          <a:stretch>
            <a:fillRect/>
          </a:stretch>
        </p:blipFill>
        <p:spPr>
          <a:xfrm rot="21600000">
            <a:off x="0" y="0"/>
            <a:ext cx="12192000" cy="6858000"/>
          </a:xfrm>
          <a:prstGeom prst="rect">
            <a:avLst/>
          </a:prstGeom>
        </p:spPr>
      </p:pic>
      <p:sp>
        <p:nvSpPr>
          <p:cNvPr id="314" name="path 314"/>
          <p:cNvSpPr/>
          <p:nvPr/>
        </p:nvSpPr>
        <p:spPr>
          <a:xfrm>
            <a:off x="339852" y="807720"/>
            <a:ext cx="585216" cy="364235"/>
          </a:xfrm>
          <a:custGeom>
            <a:avLst/>
            <a:gdLst/>
            <a:ahLst/>
            <a:cxnLst/>
            <a:rect l="0" t="0" r="0" b="0"/>
            <a:pathLst>
              <a:path w="921" h="573">
                <a:moveTo>
                  <a:pt x="0" y="0"/>
                </a:moveTo>
                <a:lnTo>
                  <a:pt x="739" y="0"/>
                </a:lnTo>
                <a:lnTo>
                  <a:pt x="921" y="287"/>
                </a:lnTo>
                <a:lnTo>
                  <a:pt x="739" y="573"/>
                </a:lnTo>
                <a:lnTo>
                  <a:pt x="0" y="573"/>
                </a:lnTo>
                <a:lnTo>
                  <a:pt x="0" y="0"/>
                </a:lnTo>
              </a:path>
            </a:pathLst>
          </a:custGeom>
          <a:solidFill>
            <a:srgbClr val="ED7D31">
              <a:alpha val="100000"/>
            </a:srgbClr>
          </a:solidFill>
          <a:ln w="0" cap="flat">
            <a:noFill/>
            <a:prstDash val="solid"/>
            <a:miter lim="0"/>
          </a:ln>
        </p:spPr>
        <p:txBody>
          <a:bodyPr rtlCol="0"/>
          <a:lstStyle/>
          <a:p>
            <a:pPr algn="ctr"/>
            <a:endParaRPr lang="zh-CN" altLang="en-US"/>
          </a:p>
        </p:txBody>
      </p:sp>
      <p:sp>
        <p:nvSpPr>
          <p:cNvPr id="316" name="textbox 316"/>
          <p:cNvSpPr/>
          <p:nvPr/>
        </p:nvSpPr>
        <p:spPr>
          <a:xfrm>
            <a:off x="497840" y="860425"/>
            <a:ext cx="8966835" cy="103695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a:ea typeface="Arial" panose="020B0604020202020204"/>
              <a:cs typeface="Arial" panose="020B0604020202020204"/>
            </a:endParaRPr>
          </a:p>
          <a:p>
            <a:pPr marL="12700" algn="l" rtl="0" eaLnBrk="0">
              <a:lnSpc>
                <a:spcPct val="87000"/>
              </a:lnSpc>
            </a:pPr>
            <a:r>
              <a:rPr sz="3600" b="1" kern="0" spc="50" baseline="12000" dirty="0">
                <a:solidFill>
                  <a:srgbClr val="FFFFFF">
                    <a:alpha val="100000"/>
                  </a:srgbClr>
                </a:solidFill>
                <a:latin typeface="Times New Roman" panose="02020603050405020304"/>
                <a:ea typeface="Times New Roman" panose="02020603050405020304"/>
                <a:cs typeface="Times New Roman" panose="02020603050405020304"/>
              </a:rPr>
              <a:t>2</a:t>
            </a:r>
            <a:r>
              <a:rPr sz="2300" b="1" kern="0" spc="50" dirty="0">
                <a:solidFill>
                  <a:srgbClr val="FFFFFF">
                    <a:alpha val="100000"/>
                  </a:srgbClr>
                </a:solidFill>
                <a:latin typeface="Times New Roman" panose="02020603050405020304"/>
                <a:ea typeface="Times New Roman" panose="02020603050405020304"/>
                <a:cs typeface="Times New Roman" panose="02020603050405020304"/>
              </a:rPr>
              <a:t>       </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sym typeface="+mn-ea"/>
              </a:rPr>
              <a:t>记忆守护：</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sym typeface="+mn-ea"/>
              </a:rPr>
              <a:t>阿尔兹海默症预防</a:t>
            </a:r>
            <a:r>
              <a:rPr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rPr>
              <a:t>系统实践</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22000"/>
              </a:lnSpc>
            </a:pPr>
            <a:endParaRPr sz="1000" dirty="0">
              <a:latin typeface="Arial" panose="020B0604020202020204"/>
              <a:ea typeface="Arial" panose="020B0604020202020204"/>
              <a:cs typeface="Arial" panose="020B0604020202020204"/>
            </a:endParaRPr>
          </a:p>
          <a:p>
            <a:pPr marL="758190" algn="l" rtl="0" eaLnBrk="0">
              <a:lnSpc>
                <a:spcPts val="2645"/>
              </a:lnSpc>
              <a:spcBef>
                <a:spcPts val="600"/>
              </a:spcBef>
              <a:tabLst>
                <a:tab pos="938530" algn="l"/>
              </a:tabLst>
            </a:pP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54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具体任务3: </a:t>
            </a:r>
            <a:r>
              <a:rPr lang="en-US"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模拟实现</a:t>
            </a:r>
            <a:r>
              <a:rPr sz="2000" b="1" kern="0" spc="-10" dirty="0">
                <a:solidFill>
                  <a:srgbClr val="5B9BD5">
                    <a:alpha val="100000"/>
                  </a:srgbClr>
                </a:solidFill>
                <a:latin typeface="微软雅黑" panose="020B0503020204020204" charset="-122"/>
                <a:ea typeface="微软雅黑" panose="020B0503020204020204" charset="-122"/>
                <a:cs typeface="微软雅黑" panose="020B0503020204020204" charset="-122"/>
              </a:rPr>
              <a:t>系统功能</a:t>
            </a:r>
            <a:endParaRPr sz="2000" dirty="0">
              <a:latin typeface="微软雅黑" panose="020B0503020204020204" charset="-122"/>
              <a:ea typeface="微软雅黑" panose="020B0503020204020204" charset="-122"/>
              <a:cs typeface="微软雅黑" panose="020B0503020204020204" charset="-122"/>
            </a:endParaRPr>
          </a:p>
          <a:p>
            <a:pPr algn="l" rtl="0" eaLnBrk="0">
              <a:lnSpc>
                <a:spcPct val="134000"/>
              </a:lnSpc>
            </a:pPr>
            <a:endParaRPr sz="1000" dirty="0">
              <a:latin typeface="Arial" panose="020B0604020202020204"/>
              <a:ea typeface="Arial" panose="020B0604020202020204"/>
              <a:cs typeface="Arial" panose="020B0604020202020204"/>
            </a:endParaRPr>
          </a:p>
          <a:p>
            <a:pPr algn="l" rtl="0" eaLnBrk="0">
              <a:lnSpc>
                <a:spcPct val="134000"/>
              </a:lnSpc>
            </a:pPr>
            <a:endParaRPr sz="2000" dirty="0">
              <a:latin typeface="微软雅黑" panose="020B0503020204020204" charset="-122"/>
              <a:ea typeface="微软雅黑" panose="020B0503020204020204" charset="-122"/>
              <a:cs typeface="微软雅黑" panose="020B0503020204020204" charset="-122"/>
            </a:endParaRPr>
          </a:p>
          <a:p>
            <a:pPr marL="1102995" algn="l" rtl="0" eaLnBrk="0">
              <a:lnSpc>
                <a:spcPts val="2690"/>
              </a:lnSpc>
              <a:spcBef>
                <a:spcPts val="1145"/>
              </a:spcBef>
            </a:pPr>
            <a:endParaRPr sz="2000" dirty="0">
              <a:latin typeface="微软雅黑" panose="020B0503020204020204" charset="-122"/>
              <a:ea typeface="微软雅黑" panose="020B0503020204020204" charset="-122"/>
              <a:cs typeface="微软雅黑" panose="020B0503020204020204" charset="-122"/>
            </a:endParaRPr>
          </a:p>
        </p:txBody>
      </p:sp>
      <p:pic>
        <p:nvPicPr>
          <p:cNvPr id="318" name="picture 318"/>
          <p:cNvPicPr>
            <a:picLocks noChangeAspect="1"/>
          </p:cNvPicPr>
          <p:nvPr/>
        </p:nvPicPr>
        <p:blipFill>
          <a:blip r:embed="rId2"/>
          <a:stretch>
            <a:fillRect/>
          </a:stretch>
        </p:blipFill>
        <p:spPr>
          <a:xfrm rot="21600000">
            <a:off x="1256464" y="1534618"/>
            <a:ext cx="180790" cy="282135"/>
          </a:xfrm>
          <a:prstGeom prst="rect">
            <a:avLst/>
          </a:prstGeom>
        </p:spPr>
      </p:pic>
      <p:sp>
        <p:nvSpPr>
          <p:cNvPr id="320" name="rect 320"/>
          <p:cNvSpPr/>
          <p:nvPr/>
        </p:nvSpPr>
        <p:spPr>
          <a:xfrm>
            <a:off x="0" y="6612635"/>
            <a:ext cx="12192000" cy="245364"/>
          </a:xfrm>
          <a:prstGeom prst="rect">
            <a:avLst/>
          </a:prstGeom>
          <a:solidFill>
            <a:srgbClr val="0371AE">
              <a:alpha val="100000"/>
            </a:srgbClr>
          </a:solidFill>
          <a:ln w="0" cap="flat">
            <a:noFill/>
            <a:prstDash val="solid"/>
            <a:miter lim="0"/>
          </a:ln>
        </p:spPr>
        <p:txBody>
          <a:bodyPr rtlCol="0"/>
          <a:lstStyle/>
          <a:p>
            <a:pPr algn="ctr"/>
            <a:endParaRPr lang="zh-CN" altLang="en-US"/>
          </a:p>
        </p:txBody>
      </p:sp>
      <p:pic>
        <p:nvPicPr>
          <p:cNvPr id="322" name="picture 322"/>
          <p:cNvPicPr>
            <a:picLocks noChangeAspect="1"/>
          </p:cNvPicPr>
          <p:nvPr/>
        </p:nvPicPr>
        <p:blipFill>
          <a:blip r:embed="rId3"/>
          <a:stretch>
            <a:fillRect/>
          </a:stretch>
        </p:blipFill>
        <p:spPr>
          <a:xfrm rot="21600000">
            <a:off x="4195571" y="0"/>
            <a:ext cx="7996427" cy="365759"/>
          </a:xfrm>
          <a:prstGeom prst="rect">
            <a:avLst/>
          </a:prstGeom>
        </p:spPr>
      </p:pic>
      <p:pic>
        <p:nvPicPr>
          <p:cNvPr id="326" name="picture 326"/>
          <p:cNvPicPr>
            <a:picLocks noChangeAspect="1"/>
          </p:cNvPicPr>
          <p:nvPr/>
        </p:nvPicPr>
        <p:blipFill>
          <a:blip r:embed="rId4"/>
          <a:stretch>
            <a:fillRect/>
          </a:stretch>
        </p:blipFill>
        <p:spPr>
          <a:xfrm rot="21600000">
            <a:off x="0" y="0"/>
            <a:ext cx="598931" cy="373379"/>
          </a:xfrm>
          <a:prstGeom prst="rect">
            <a:avLst/>
          </a:prstGeom>
        </p:spPr>
      </p:pic>
      <p:pic>
        <p:nvPicPr>
          <p:cNvPr id="328" name="picture 328"/>
          <p:cNvPicPr>
            <a:picLocks noChangeAspect="1"/>
          </p:cNvPicPr>
          <p:nvPr/>
        </p:nvPicPr>
        <p:blipFill>
          <a:blip r:embed="rId5"/>
          <a:stretch>
            <a:fillRect/>
          </a:stretch>
        </p:blipFill>
        <p:spPr>
          <a:xfrm rot="21600000">
            <a:off x="0" y="6579983"/>
            <a:ext cx="12179300" cy="12700"/>
          </a:xfrm>
          <a:prstGeom prst="rect">
            <a:avLst/>
          </a:prstGeom>
        </p:spPr>
      </p:pic>
      <p:sp>
        <p:nvSpPr>
          <p:cNvPr id="6" name="textbox 8"/>
          <p:cNvSpPr/>
          <p:nvPr/>
        </p:nvSpPr>
        <p:spPr>
          <a:xfrm>
            <a:off x="618825" y="67294"/>
            <a:ext cx="11393805" cy="270509"/>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100000"/>
              </a:lnSpc>
            </a:pPr>
            <a:r>
              <a:rPr sz="1600" b="1" kern="0" spc="-20" dirty="0">
                <a:solidFill>
                  <a:srgbClr val="000000">
                    <a:alpha val="100000"/>
                  </a:srgbClr>
                </a:solidFill>
                <a:latin typeface="黑体" panose="02010609060101010101" charset="-122"/>
                <a:ea typeface="黑体" panose="02010609060101010101" charset="-122"/>
                <a:cs typeface="黑体" panose="02010609060101010101" charset="-122"/>
              </a:rPr>
              <a:t>米思齐</a:t>
            </a:r>
            <a:r>
              <a:rPr 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课程作业</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600" b="1" kern="0" spc="-20" dirty="0">
                <a:solidFill>
                  <a:srgbClr val="000000">
                    <a:alpha val="100000"/>
                  </a:srgbClr>
                </a:solidFill>
                <a:latin typeface="黑体" panose="02010609060101010101" charset="-122"/>
                <a:ea typeface="黑体" panose="02010609060101010101" charset="-122"/>
                <a:cs typeface="黑体" panose="02010609060101010101" charset="-122"/>
              </a:rPr>
              <a:t>余天润</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202522039114</a:t>
            </a:r>
            <a:r>
              <a:rPr sz="1600" kern="0" spc="-20" dirty="0">
                <a:solidFill>
                  <a:srgbClr val="000000">
                    <a:alpha val="100000"/>
                  </a:srgbClr>
                </a:solidFill>
                <a:latin typeface="黑体" panose="02010609060101010101" charset="-122"/>
                <a:ea typeface="黑体" panose="02010609060101010101" charset="-122"/>
                <a:cs typeface="黑体" panose="02010609060101010101" charset="-122"/>
              </a:rPr>
              <a:t>                                        </a:t>
            </a:r>
            <a:endParaRPr sz="1400" dirty="0">
              <a:latin typeface="黑体" panose="02010609060101010101" charset="-122"/>
              <a:ea typeface="黑体" panose="02010609060101010101" charset="-122"/>
              <a:cs typeface="黑体" panose="02010609060101010101" charset="-122"/>
            </a:endParaRPr>
          </a:p>
        </p:txBody>
      </p:sp>
      <p:sp>
        <p:nvSpPr>
          <p:cNvPr id="5" name="textbox 404"/>
          <p:cNvSpPr/>
          <p:nvPr/>
        </p:nvSpPr>
        <p:spPr>
          <a:xfrm>
            <a:off x="1519555" y="1948180"/>
            <a:ext cx="4997450" cy="118491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ts val="2375"/>
              </a:lnSpc>
            </a:pPr>
            <a:r>
              <a:rPr lang="zh-CN" sz="1700" b="1" kern="0" spc="22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模块六</a:t>
            </a:r>
            <a:r>
              <a:rPr sz="1700" b="1" kern="0" spc="22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 </a:t>
            </a:r>
            <a:r>
              <a:rPr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a:t>
            </a:r>
            <a:r>
              <a:rPr lang="zh-CN"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玩家答题函数</a:t>
            </a:r>
            <a:endParaRPr lang="zh-CN"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endParaRPr>
          </a:p>
        </p:txBody>
      </p:sp>
      <p:sp>
        <p:nvSpPr>
          <p:cNvPr id="8" name="textbox 404"/>
          <p:cNvSpPr/>
          <p:nvPr/>
        </p:nvSpPr>
        <p:spPr>
          <a:xfrm>
            <a:off x="619125" y="3910330"/>
            <a:ext cx="2683510" cy="320738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ts val="2375"/>
              </a:lnSpc>
            </a:pPr>
            <a:r>
              <a:rPr lang="en-US" altLang="zh-CN" sz="1700" b="1" kern="0" spc="22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Tips</a:t>
            </a:r>
            <a:r>
              <a:rPr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a:t>
            </a:r>
            <a:endParaRPr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endParaRPr>
          </a:p>
          <a:p>
            <a:pPr algn="l" rtl="0" eaLnBrk="0">
              <a:lnSpc>
                <a:spcPts val="2375"/>
              </a:lnSpc>
            </a:pPr>
            <a:endParaRPr sz="1700" b="1" kern="0" spc="-4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endParaRPr>
          </a:p>
          <a:p>
            <a:pPr indent="0" algn="l" rtl="0" eaLnBrk="0" fontAlgn="auto">
              <a:lnSpc>
                <a:spcPct val="150000"/>
              </a:lnSpc>
            </a:pPr>
            <a:r>
              <a:rPr sz="1700" b="1" kern="0" spc="-330" dirty="0">
                <a:solidFill>
                  <a:srgbClr val="2F5597">
                    <a:alpha val="100000"/>
                  </a:srgbClr>
                </a:solidFill>
                <a:latin typeface="微软雅黑" panose="020B0503020204020204" charset="-122"/>
                <a:ea typeface="微软雅黑" panose="020B0503020204020204" charset="-122"/>
                <a:cs typeface="微软雅黑" panose="020B0503020204020204" charset="-122"/>
              </a:rPr>
              <a:t> </a:t>
            </a:r>
            <a:r>
              <a:rPr lang="en-US" sz="1700" b="1" kern="0" spc="-330" dirty="0">
                <a:solidFill>
                  <a:srgbClr val="2F5597">
                    <a:alpha val="100000"/>
                  </a:srgbClr>
                </a:solidFill>
                <a:latin typeface="微软雅黑" panose="020B0503020204020204" charset="-122"/>
                <a:ea typeface="微软雅黑" panose="020B0503020204020204" charset="-122"/>
                <a:cs typeface="微软雅黑" panose="020B0503020204020204" charset="-122"/>
              </a:rPr>
              <a:t>                     </a:t>
            </a:r>
            <a:r>
              <a:rPr lang="zh-CN" altLang="en-US" sz="1700" b="1" kern="0" spc="-40" dirty="0">
                <a:solidFill>
                  <a:srgbClr val="2F5597">
                    <a:alpha val="100000"/>
                  </a:srgbClr>
                </a:solidFill>
                <a:latin typeface="微软雅黑" panose="020B0503020204020204" charset="-122"/>
                <a:ea typeface="微软雅黑" panose="020B0503020204020204" charset="-122"/>
                <a:cs typeface="微软雅黑" panose="020B0503020204020204" charset="-122"/>
              </a:rPr>
              <a:t>这部分代有和前面</a:t>
            </a:r>
            <a:r>
              <a:rPr lang="en-US" altLang="zh-CN" sz="1700" b="1" kern="0" spc="-40" dirty="0">
                <a:solidFill>
                  <a:srgbClr val="2F5597">
                    <a:alpha val="100000"/>
                  </a:srgbClr>
                </a:solidFill>
                <a:latin typeface="微软雅黑" panose="020B0503020204020204" charset="-122"/>
                <a:ea typeface="微软雅黑" panose="020B0503020204020204" charset="-122"/>
                <a:cs typeface="微软雅黑" panose="020B0503020204020204" charset="-122"/>
              </a:rPr>
              <a:t>“</a:t>
            </a:r>
            <a:r>
              <a:rPr lang="zh-CN" altLang="en-US" sz="1700" b="1" kern="0" spc="-40" dirty="0">
                <a:solidFill>
                  <a:srgbClr val="2F5597">
                    <a:alpha val="100000"/>
                  </a:srgbClr>
                </a:solidFill>
                <a:latin typeface="微软雅黑" panose="020B0503020204020204" charset="-122"/>
                <a:ea typeface="微软雅黑" panose="020B0503020204020204" charset="-122"/>
                <a:cs typeface="微软雅黑" panose="020B0503020204020204" charset="-122"/>
              </a:rPr>
              <a:t>难度选择</a:t>
            </a:r>
            <a:r>
              <a:rPr lang="en-US" altLang="zh-CN" sz="1700" b="1" kern="0" spc="-40" dirty="0">
                <a:solidFill>
                  <a:srgbClr val="2F5597">
                    <a:alpha val="100000"/>
                  </a:srgbClr>
                </a:solidFill>
                <a:latin typeface="微软雅黑" panose="020B0503020204020204" charset="-122"/>
                <a:ea typeface="微软雅黑" panose="020B0503020204020204" charset="-122"/>
                <a:cs typeface="微软雅黑" panose="020B0503020204020204" charset="-122"/>
              </a:rPr>
              <a:t>”</a:t>
            </a:r>
            <a:r>
              <a:rPr lang="zh-CN" altLang="en-US" sz="1700" b="1" kern="0" spc="-40" dirty="0">
                <a:solidFill>
                  <a:srgbClr val="2F5597">
                    <a:alpha val="100000"/>
                  </a:srgbClr>
                </a:solidFill>
                <a:latin typeface="微软雅黑" panose="020B0503020204020204" charset="-122"/>
                <a:ea typeface="微软雅黑" panose="020B0503020204020204" charset="-122"/>
                <a:cs typeface="微软雅黑" panose="020B0503020204020204" charset="-122"/>
              </a:rPr>
              <a:t>模块类似之处，请类比学习，尝试归纳出共同点！</a:t>
            </a:r>
            <a:endParaRPr lang="zh-CN" altLang="en-US" sz="1700" b="1" kern="0" spc="-40" dirty="0">
              <a:solidFill>
                <a:srgbClr val="2F5597">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6"/>
          <a:srcRect r="65501" b="75561"/>
          <a:stretch>
            <a:fillRect/>
          </a:stretch>
        </p:blipFill>
        <p:spPr>
          <a:xfrm>
            <a:off x="1437005" y="2384425"/>
            <a:ext cx="1861185" cy="1439545"/>
          </a:xfrm>
          <a:prstGeom prst="rect">
            <a:avLst/>
          </a:prstGeom>
        </p:spPr>
      </p:pic>
      <p:pic>
        <p:nvPicPr>
          <p:cNvPr id="4" name="图片 3"/>
          <p:cNvPicPr>
            <a:picLocks noChangeAspect="1"/>
          </p:cNvPicPr>
          <p:nvPr/>
        </p:nvPicPr>
        <p:blipFill>
          <a:blip r:embed="rId7"/>
          <a:stretch>
            <a:fillRect/>
          </a:stretch>
        </p:blipFill>
        <p:spPr>
          <a:xfrm>
            <a:off x="3383280" y="2367280"/>
            <a:ext cx="4767580" cy="4211320"/>
          </a:xfrm>
          <a:prstGeom prst="rect">
            <a:avLst/>
          </a:prstGeom>
        </p:spPr>
      </p:pic>
      <p:pic>
        <p:nvPicPr>
          <p:cNvPr id="10" name="图片 9"/>
          <p:cNvPicPr>
            <a:picLocks noChangeAspect="1"/>
          </p:cNvPicPr>
          <p:nvPr/>
        </p:nvPicPr>
        <p:blipFill>
          <a:blip r:embed="rId8"/>
          <a:stretch>
            <a:fillRect/>
          </a:stretch>
        </p:blipFill>
        <p:spPr>
          <a:xfrm>
            <a:off x="8235950" y="964565"/>
            <a:ext cx="3627755" cy="559498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2" name="picture 312"/>
          <p:cNvPicPr>
            <a:picLocks noChangeAspect="1"/>
          </p:cNvPicPr>
          <p:nvPr/>
        </p:nvPicPr>
        <p:blipFill>
          <a:blip r:embed="rId1"/>
          <a:stretch>
            <a:fillRect/>
          </a:stretch>
        </p:blipFill>
        <p:spPr>
          <a:xfrm rot="21600000">
            <a:off x="0" y="0"/>
            <a:ext cx="12192000" cy="6858000"/>
          </a:xfrm>
          <a:prstGeom prst="rect">
            <a:avLst/>
          </a:prstGeom>
        </p:spPr>
      </p:pic>
      <p:sp>
        <p:nvSpPr>
          <p:cNvPr id="314" name="path 314"/>
          <p:cNvSpPr/>
          <p:nvPr/>
        </p:nvSpPr>
        <p:spPr>
          <a:xfrm>
            <a:off x="339852" y="807720"/>
            <a:ext cx="585216" cy="364235"/>
          </a:xfrm>
          <a:custGeom>
            <a:avLst/>
            <a:gdLst/>
            <a:ahLst/>
            <a:cxnLst/>
            <a:rect l="0" t="0" r="0" b="0"/>
            <a:pathLst>
              <a:path w="921" h="573">
                <a:moveTo>
                  <a:pt x="0" y="0"/>
                </a:moveTo>
                <a:lnTo>
                  <a:pt x="739" y="0"/>
                </a:lnTo>
                <a:lnTo>
                  <a:pt x="921" y="287"/>
                </a:lnTo>
                <a:lnTo>
                  <a:pt x="739" y="573"/>
                </a:lnTo>
                <a:lnTo>
                  <a:pt x="0" y="573"/>
                </a:lnTo>
                <a:lnTo>
                  <a:pt x="0" y="0"/>
                </a:lnTo>
              </a:path>
            </a:pathLst>
          </a:custGeom>
          <a:solidFill>
            <a:srgbClr val="ED7D31">
              <a:alpha val="100000"/>
            </a:srgbClr>
          </a:solidFill>
          <a:ln w="0" cap="flat">
            <a:noFill/>
            <a:prstDash val="solid"/>
            <a:miter lim="0"/>
          </a:ln>
        </p:spPr>
        <p:txBody>
          <a:bodyPr rtlCol="0"/>
          <a:lstStyle/>
          <a:p>
            <a:pPr algn="ctr"/>
            <a:endParaRPr lang="zh-CN" altLang="en-US"/>
          </a:p>
        </p:txBody>
      </p:sp>
      <p:sp>
        <p:nvSpPr>
          <p:cNvPr id="316" name="textbox 316"/>
          <p:cNvSpPr/>
          <p:nvPr/>
        </p:nvSpPr>
        <p:spPr>
          <a:xfrm>
            <a:off x="497738" y="860710"/>
            <a:ext cx="8966834" cy="4072890"/>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a:ea typeface="Arial" panose="020B0604020202020204"/>
              <a:cs typeface="Arial" panose="020B0604020202020204"/>
            </a:endParaRPr>
          </a:p>
          <a:p>
            <a:pPr marL="12700" algn="l" rtl="0" eaLnBrk="0">
              <a:lnSpc>
                <a:spcPct val="87000"/>
              </a:lnSpc>
            </a:pPr>
            <a:r>
              <a:rPr sz="3600" b="1" kern="0" spc="50" baseline="12000" dirty="0">
                <a:solidFill>
                  <a:srgbClr val="FFFFFF">
                    <a:alpha val="100000"/>
                  </a:srgbClr>
                </a:solidFill>
                <a:latin typeface="Times New Roman" panose="02020603050405020304"/>
                <a:ea typeface="Times New Roman" panose="02020603050405020304"/>
                <a:cs typeface="Times New Roman" panose="02020603050405020304"/>
              </a:rPr>
              <a:t>2</a:t>
            </a:r>
            <a:r>
              <a:rPr sz="2300" b="1" kern="0" spc="50" dirty="0">
                <a:solidFill>
                  <a:srgbClr val="FFFFFF">
                    <a:alpha val="100000"/>
                  </a:srgbClr>
                </a:solidFill>
                <a:latin typeface="Times New Roman" panose="02020603050405020304"/>
                <a:ea typeface="Times New Roman" panose="02020603050405020304"/>
                <a:cs typeface="Times New Roman" panose="02020603050405020304"/>
              </a:rPr>
              <a:t>       </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sym typeface="+mn-ea"/>
              </a:rPr>
              <a:t>记忆守护：</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sym typeface="+mn-ea"/>
              </a:rPr>
              <a:t>阿尔兹海默症预防</a:t>
            </a:r>
            <a:r>
              <a:rPr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rPr>
              <a:t>系统实践</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22000"/>
              </a:lnSpc>
            </a:pPr>
            <a:endParaRPr sz="1000" dirty="0">
              <a:latin typeface="Arial" panose="020B0604020202020204"/>
              <a:ea typeface="Arial" panose="020B0604020202020204"/>
              <a:cs typeface="Arial" panose="020B0604020202020204"/>
            </a:endParaRPr>
          </a:p>
          <a:p>
            <a:pPr marL="758190" algn="l" rtl="0" eaLnBrk="0">
              <a:lnSpc>
                <a:spcPts val="2645"/>
              </a:lnSpc>
              <a:spcBef>
                <a:spcPts val="600"/>
              </a:spcBef>
              <a:tabLst>
                <a:tab pos="938530" algn="l"/>
              </a:tabLst>
            </a:pP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54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具体任务3: </a:t>
            </a:r>
            <a:r>
              <a:rPr lang="en-US"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模拟实现</a:t>
            </a:r>
            <a:r>
              <a:rPr sz="2000" b="1" kern="0" spc="-10" dirty="0">
                <a:solidFill>
                  <a:srgbClr val="5B9BD5">
                    <a:alpha val="100000"/>
                  </a:srgbClr>
                </a:solidFill>
                <a:latin typeface="微软雅黑" panose="020B0503020204020204" charset="-122"/>
                <a:ea typeface="微软雅黑" panose="020B0503020204020204" charset="-122"/>
                <a:cs typeface="微软雅黑" panose="020B0503020204020204" charset="-122"/>
              </a:rPr>
              <a:t>系统功能</a:t>
            </a:r>
            <a:endParaRPr sz="2000" dirty="0">
              <a:latin typeface="微软雅黑" panose="020B0503020204020204" charset="-122"/>
              <a:ea typeface="微软雅黑" panose="020B0503020204020204" charset="-122"/>
              <a:cs typeface="微软雅黑" panose="020B0503020204020204" charset="-122"/>
            </a:endParaRPr>
          </a:p>
          <a:p>
            <a:pPr algn="l" rtl="0" eaLnBrk="0">
              <a:lnSpc>
                <a:spcPct val="134000"/>
              </a:lnSpc>
            </a:pPr>
            <a:endParaRPr sz="1000" dirty="0">
              <a:latin typeface="Arial" panose="020B0604020202020204"/>
              <a:ea typeface="Arial" panose="020B0604020202020204"/>
              <a:cs typeface="Arial" panose="020B0604020202020204"/>
            </a:endParaRPr>
          </a:p>
          <a:p>
            <a:pPr algn="l" rtl="0" eaLnBrk="0">
              <a:lnSpc>
                <a:spcPct val="134000"/>
              </a:lnSpc>
            </a:pPr>
            <a:endParaRPr sz="1000" dirty="0">
              <a:latin typeface="Arial" panose="020B0604020202020204"/>
              <a:ea typeface="Arial" panose="020B0604020202020204"/>
              <a:cs typeface="Arial" panose="020B0604020202020204"/>
            </a:endParaRPr>
          </a:p>
          <a:p>
            <a:pPr marL="1007110" algn="l" rtl="0" eaLnBrk="0">
              <a:lnSpc>
                <a:spcPct val="87000"/>
              </a:lnSpc>
              <a:spcBef>
                <a:spcPts val="600"/>
              </a:spcBef>
            </a:pPr>
            <a:endParaRPr sz="2000" dirty="0">
              <a:latin typeface="微软雅黑" panose="020B0503020204020204" charset="-122"/>
              <a:ea typeface="微软雅黑" panose="020B0503020204020204" charset="-122"/>
              <a:cs typeface="微软雅黑" panose="020B0503020204020204" charset="-122"/>
            </a:endParaRPr>
          </a:p>
          <a:p>
            <a:pPr marL="1102995" algn="l" rtl="0" eaLnBrk="0">
              <a:lnSpc>
                <a:spcPts val="2690"/>
              </a:lnSpc>
              <a:spcBef>
                <a:spcPts val="1145"/>
              </a:spcBef>
            </a:pPr>
            <a:endParaRPr sz="2000" dirty="0">
              <a:latin typeface="微软雅黑" panose="020B0503020204020204" charset="-122"/>
              <a:ea typeface="微软雅黑" panose="020B0503020204020204" charset="-122"/>
              <a:cs typeface="微软雅黑" panose="020B0503020204020204" charset="-122"/>
            </a:endParaRPr>
          </a:p>
        </p:txBody>
      </p:sp>
      <p:pic>
        <p:nvPicPr>
          <p:cNvPr id="318" name="picture 318"/>
          <p:cNvPicPr>
            <a:picLocks noChangeAspect="1"/>
          </p:cNvPicPr>
          <p:nvPr/>
        </p:nvPicPr>
        <p:blipFill>
          <a:blip r:embed="rId2"/>
          <a:stretch>
            <a:fillRect/>
          </a:stretch>
        </p:blipFill>
        <p:spPr>
          <a:xfrm rot="21600000">
            <a:off x="1256464" y="1534618"/>
            <a:ext cx="180790" cy="282135"/>
          </a:xfrm>
          <a:prstGeom prst="rect">
            <a:avLst/>
          </a:prstGeom>
        </p:spPr>
      </p:pic>
      <p:sp>
        <p:nvSpPr>
          <p:cNvPr id="320" name="rect 320"/>
          <p:cNvSpPr/>
          <p:nvPr/>
        </p:nvSpPr>
        <p:spPr>
          <a:xfrm>
            <a:off x="0" y="6612635"/>
            <a:ext cx="12192000" cy="245364"/>
          </a:xfrm>
          <a:prstGeom prst="rect">
            <a:avLst/>
          </a:prstGeom>
          <a:solidFill>
            <a:srgbClr val="0371AE">
              <a:alpha val="100000"/>
            </a:srgbClr>
          </a:solidFill>
          <a:ln w="0" cap="flat">
            <a:noFill/>
            <a:prstDash val="solid"/>
            <a:miter lim="0"/>
          </a:ln>
        </p:spPr>
        <p:txBody>
          <a:bodyPr rtlCol="0"/>
          <a:lstStyle/>
          <a:p>
            <a:pPr algn="ctr"/>
            <a:endParaRPr lang="zh-CN" altLang="en-US"/>
          </a:p>
        </p:txBody>
      </p:sp>
      <p:pic>
        <p:nvPicPr>
          <p:cNvPr id="322" name="picture 322"/>
          <p:cNvPicPr>
            <a:picLocks noChangeAspect="1"/>
          </p:cNvPicPr>
          <p:nvPr/>
        </p:nvPicPr>
        <p:blipFill>
          <a:blip r:embed="rId3"/>
          <a:stretch>
            <a:fillRect/>
          </a:stretch>
        </p:blipFill>
        <p:spPr>
          <a:xfrm rot="21600000">
            <a:off x="4195571" y="0"/>
            <a:ext cx="7996427" cy="365759"/>
          </a:xfrm>
          <a:prstGeom prst="rect">
            <a:avLst/>
          </a:prstGeom>
        </p:spPr>
      </p:pic>
      <p:pic>
        <p:nvPicPr>
          <p:cNvPr id="326" name="picture 326"/>
          <p:cNvPicPr>
            <a:picLocks noChangeAspect="1"/>
          </p:cNvPicPr>
          <p:nvPr/>
        </p:nvPicPr>
        <p:blipFill>
          <a:blip r:embed="rId4"/>
          <a:stretch>
            <a:fillRect/>
          </a:stretch>
        </p:blipFill>
        <p:spPr>
          <a:xfrm rot="21600000">
            <a:off x="0" y="0"/>
            <a:ext cx="598931" cy="373379"/>
          </a:xfrm>
          <a:prstGeom prst="rect">
            <a:avLst/>
          </a:prstGeom>
        </p:spPr>
      </p:pic>
      <p:pic>
        <p:nvPicPr>
          <p:cNvPr id="328" name="picture 328"/>
          <p:cNvPicPr>
            <a:picLocks noChangeAspect="1"/>
          </p:cNvPicPr>
          <p:nvPr/>
        </p:nvPicPr>
        <p:blipFill>
          <a:blip r:embed="rId5"/>
          <a:stretch>
            <a:fillRect/>
          </a:stretch>
        </p:blipFill>
        <p:spPr>
          <a:xfrm rot="21600000">
            <a:off x="0" y="6579983"/>
            <a:ext cx="12179300" cy="12700"/>
          </a:xfrm>
          <a:prstGeom prst="rect">
            <a:avLst/>
          </a:prstGeom>
        </p:spPr>
      </p:pic>
      <p:pic>
        <p:nvPicPr>
          <p:cNvPr id="2" name="图片 1"/>
          <p:cNvPicPr>
            <a:picLocks noChangeAspect="1"/>
          </p:cNvPicPr>
          <p:nvPr/>
        </p:nvPicPr>
        <p:blipFill>
          <a:blip r:embed="rId6"/>
          <a:stretch>
            <a:fillRect/>
          </a:stretch>
        </p:blipFill>
        <p:spPr>
          <a:xfrm>
            <a:off x="3818255" y="1858645"/>
            <a:ext cx="3415665" cy="4733925"/>
          </a:xfrm>
          <a:prstGeom prst="rect">
            <a:avLst/>
          </a:prstGeom>
        </p:spPr>
      </p:pic>
      <p:pic>
        <p:nvPicPr>
          <p:cNvPr id="3" name="图片 2"/>
          <p:cNvPicPr>
            <a:picLocks noChangeAspect="1"/>
          </p:cNvPicPr>
          <p:nvPr/>
        </p:nvPicPr>
        <p:blipFill>
          <a:blip r:embed="rId7"/>
          <a:stretch>
            <a:fillRect/>
          </a:stretch>
        </p:blipFill>
        <p:spPr>
          <a:xfrm>
            <a:off x="925195" y="3199130"/>
            <a:ext cx="2529840" cy="2522220"/>
          </a:xfrm>
          <a:prstGeom prst="rect">
            <a:avLst/>
          </a:prstGeom>
        </p:spPr>
      </p:pic>
      <p:pic>
        <p:nvPicPr>
          <p:cNvPr id="4" name="图片 3"/>
          <p:cNvPicPr>
            <a:picLocks noChangeAspect="1"/>
          </p:cNvPicPr>
          <p:nvPr/>
        </p:nvPicPr>
        <p:blipFill>
          <a:blip r:embed="rId8"/>
          <a:stretch>
            <a:fillRect/>
          </a:stretch>
        </p:blipFill>
        <p:spPr>
          <a:xfrm>
            <a:off x="7493000" y="393065"/>
            <a:ext cx="4686300" cy="6118860"/>
          </a:xfrm>
          <a:prstGeom prst="rect">
            <a:avLst/>
          </a:prstGeom>
        </p:spPr>
      </p:pic>
      <p:sp>
        <p:nvSpPr>
          <p:cNvPr id="6" name="textbox 8"/>
          <p:cNvSpPr/>
          <p:nvPr/>
        </p:nvSpPr>
        <p:spPr>
          <a:xfrm>
            <a:off x="618825" y="67294"/>
            <a:ext cx="11393805" cy="270509"/>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100000"/>
              </a:lnSpc>
            </a:pPr>
            <a:r>
              <a:rPr sz="1600" b="1" kern="0" spc="-20" dirty="0">
                <a:solidFill>
                  <a:srgbClr val="000000">
                    <a:alpha val="100000"/>
                  </a:srgbClr>
                </a:solidFill>
                <a:latin typeface="黑体" panose="02010609060101010101" charset="-122"/>
                <a:ea typeface="黑体" panose="02010609060101010101" charset="-122"/>
                <a:cs typeface="黑体" panose="02010609060101010101" charset="-122"/>
              </a:rPr>
              <a:t>米思齐</a:t>
            </a:r>
            <a:r>
              <a:rPr 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课程作业</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600" b="1" kern="0" spc="-20" dirty="0">
                <a:solidFill>
                  <a:srgbClr val="000000">
                    <a:alpha val="100000"/>
                  </a:srgbClr>
                </a:solidFill>
                <a:latin typeface="黑体" panose="02010609060101010101" charset="-122"/>
                <a:ea typeface="黑体" panose="02010609060101010101" charset="-122"/>
                <a:cs typeface="黑体" panose="02010609060101010101" charset="-122"/>
              </a:rPr>
              <a:t>余天润</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202522039114</a:t>
            </a:r>
            <a:r>
              <a:rPr sz="1600" kern="0" spc="-20" dirty="0">
                <a:solidFill>
                  <a:srgbClr val="000000">
                    <a:alpha val="100000"/>
                  </a:srgbClr>
                </a:solidFill>
                <a:latin typeface="黑体" panose="02010609060101010101" charset="-122"/>
                <a:ea typeface="黑体" panose="02010609060101010101" charset="-122"/>
                <a:cs typeface="黑体" panose="02010609060101010101" charset="-122"/>
              </a:rPr>
              <a:t>                                        </a:t>
            </a:r>
            <a:endParaRPr sz="1400" dirty="0">
              <a:latin typeface="黑体" panose="02010609060101010101" charset="-122"/>
              <a:ea typeface="黑体" panose="02010609060101010101" charset="-122"/>
              <a:cs typeface="黑体" panose="02010609060101010101" charset="-122"/>
            </a:endParaRPr>
          </a:p>
        </p:txBody>
      </p:sp>
      <p:sp>
        <p:nvSpPr>
          <p:cNvPr id="5" name="textbox 404"/>
          <p:cNvSpPr/>
          <p:nvPr/>
        </p:nvSpPr>
        <p:spPr>
          <a:xfrm>
            <a:off x="1519555" y="1948180"/>
            <a:ext cx="4997450" cy="118491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ts val="2375"/>
              </a:lnSpc>
            </a:pPr>
            <a:r>
              <a:rPr lang="zh-CN" sz="1700" b="1" kern="0" spc="22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整体概览</a:t>
            </a:r>
            <a:endParaRPr lang="zh-CN" sz="1700" b="1" kern="0" spc="22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2" name="picture 312"/>
          <p:cNvPicPr>
            <a:picLocks noChangeAspect="1"/>
          </p:cNvPicPr>
          <p:nvPr/>
        </p:nvPicPr>
        <p:blipFill>
          <a:blip r:embed="rId1"/>
          <a:stretch>
            <a:fillRect/>
          </a:stretch>
        </p:blipFill>
        <p:spPr>
          <a:xfrm rot="21600000">
            <a:off x="0" y="0"/>
            <a:ext cx="12192000" cy="6858000"/>
          </a:xfrm>
          <a:prstGeom prst="rect">
            <a:avLst/>
          </a:prstGeom>
        </p:spPr>
      </p:pic>
      <p:sp>
        <p:nvSpPr>
          <p:cNvPr id="314" name="path 314"/>
          <p:cNvSpPr/>
          <p:nvPr/>
        </p:nvSpPr>
        <p:spPr>
          <a:xfrm>
            <a:off x="339852" y="807720"/>
            <a:ext cx="585216" cy="364235"/>
          </a:xfrm>
          <a:custGeom>
            <a:avLst/>
            <a:gdLst/>
            <a:ahLst/>
            <a:cxnLst/>
            <a:rect l="0" t="0" r="0" b="0"/>
            <a:pathLst>
              <a:path w="921" h="573">
                <a:moveTo>
                  <a:pt x="0" y="0"/>
                </a:moveTo>
                <a:lnTo>
                  <a:pt x="739" y="0"/>
                </a:lnTo>
                <a:lnTo>
                  <a:pt x="921" y="287"/>
                </a:lnTo>
                <a:lnTo>
                  <a:pt x="739" y="573"/>
                </a:lnTo>
                <a:lnTo>
                  <a:pt x="0" y="573"/>
                </a:lnTo>
                <a:lnTo>
                  <a:pt x="0" y="0"/>
                </a:lnTo>
              </a:path>
            </a:pathLst>
          </a:custGeom>
          <a:solidFill>
            <a:srgbClr val="ED7D31">
              <a:alpha val="100000"/>
            </a:srgbClr>
          </a:solidFill>
          <a:ln w="0" cap="flat">
            <a:noFill/>
            <a:prstDash val="solid"/>
            <a:miter lim="0"/>
          </a:ln>
        </p:spPr>
        <p:txBody>
          <a:bodyPr rtlCol="0"/>
          <a:lstStyle/>
          <a:p>
            <a:pPr algn="ctr"/>
            <a:endParaRPr lang="zh-CN" altLang="en-US"/>
          </a:p>
        </p:txBody>
      </p:sp>
      <p:sp>
        <p:nvSpPr>
          <p:cNvPr id="316" name="textbox 316"/>
          <p:cNvSpPr/>
          <p:nvPr/>
        </p:nvSpPr>
        <p:spPr>
          <a:xfrm>
            <a:off x="497738" y="860710"/>
            <a:ext cx="8966834" cy="4072890"/>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a:ea typeface="Arial" panose="020B0604020202020204"/>
              <a:cs typeface="Arial" panose="020B0604020202020204"/>
            </a:endParaRPr>
          </a:p>
          <a:p>
            <a:pPr marL="12700" algn="l" rtl="0" eaLnBrk="0">
              <a:lnSpc>
                <a:spcPct val="87000"/>
              </a:lnSpc>
            </a:pPr>
            <a:r>
              <a:rPr sz="3600" b="1" kern="0" spc="50" baseline="12000" dirty="0">
                <a:solidFill>
                  <a:srgbClr val="FFFFFF">
                    <a:alpha val="100000"/>
                  </a:srgbClr>
                </a:solidFill>
                <a:latin typeface="Times New Roman" panose="02020603050405020304"/>
                <a:ea typeface="Times New Roman" panose="02020603050405020304"/>
                <a:cs typeface="Times New Roman" panose="02020603050405020304"/>
              </a:rPr>
              <a:t>2</a:t>
            </a:r>
            <a:r>
              <a:rPr sz="2300" b="1" kern="0" spc="50" dirty="0">
                <a:solidFill>
                  <a:srgbClr val="FFFFFF">
                    <a:alpha val="100000"/>
                  </a:srgbClr>
                </a:solidFill>
                <a:latin typeface="Times New Roman" panose="02020603050405020304"/>
                <a:ea typeface="Times New Roman" panose="02020603050405020304"/>
                <a:cs typeface="Times New Roman" panose="02020603050405020304"/>
              </a:rPr>
              <a:t>       </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sym typeface="+mn-ea"/>
              </a:rPr>
              <a:t>记忆守护：</a:t>
            </a:r>
            <a:r>
              <a:rPr lang="zh-CN" altLang="en-US"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sym typeface="+mn-ea"/>
              </a:rPr>
              <a:t>阿尔兹海默症预防</a:t>
            </a:r>
            <a:r>
              <a:rPr sz="2700" b="1" kern="0" spc="50" dirty="0">
                <a:solidFill>
                  <a:srgbClr val="ED7D31">
                    <a:alpha val="100000"/>
                  </a:srgbClr>
                </a:solidFill>
                <a:latin typeface="微软雅黑" panose="020B0503020204020204" charset="-122"/>
                <a:ea typeface="微软雅黑" panose="020B0503020204020204" charset="-122"/>
                <a:cs typeface="微软雅黑" panose="020B0503020204020204" charset="-122"/>
              </a:rPr>
              <a:t>系统实践</a:t>
            </a:r>
            <a:endParaRPr sz="2700" dirty="0">
              <a:latin typeface="微软雅黑" panose="020B0503020204020204" charset="-122"/>
              <a:ea typeface="微软雅黑" panose="020B0503020204020204" charset="-122"/>
              <a:cs typeface="微软雅黑" panose="020B0503020204020204" charset="-122"/>
            </a:endParaRPr>
          </a:p>
          <a:p>
            <a:pPr algn="l" rtl="0" eaLnBrk="0">
              <a:lnSpc>
                <a:spcPct val="122000"/>
              </a:lnSpc>
            </a:pPr>
            <a:endParaRPr sz="1000" dirty="0">
              <a:latin typeface="Arial" panose="020B0604020202020204"/>
              <a:ea typeface="Arial" panose="020B0604020202020204"/>
              <a:cs typeface="Arial" panose="020B0604020202020204"/>
            </a:endParaRPr>
          </a:p>
          <a:p>
            <a:pPr marL="758190" algn="l" rtl="0" eaLnBrk="0">
              <a:lnSpc>
                <a:spcPts val="2645"/>
              </a:lnSpc>
              <a:spcBef>
                <a:spcPts val="600"/>
              </a:spcBef>
              <a:tabLst>
                <a:tab pos="938530" algn="l"/>
              </a:tabLst>
            </a:pP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54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具体任务3: </a:t>
            </a:r>
            <a:r>
              <a:rPr lang="en-US"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 </a:t>
            </a:r>
            <a:r>
              <a:rPr sz="2000" b="1" kern="0" spc="0" dirty="0">
                <a:solidFill>
                  <a:srgbClr val="5B9BD5">
                    <a:alpha val="100000"/>
                  </a:srgbClr>
                </a:solidFill>
                <a:latin typeface="微软雅黑" panose="020B0503020204020204" charset="-122"/>
                <a:ea typeface="微软雅黑" panose="020B0503020204020204" charset="-122"/>
                <a:cs typeface="微软雅黑" panose="020B0503020204020204" charset="-122"/>
              </a:rPr>
              <a:t>模拟实现</a:t>
            </a:r>
            <a:r>
              <a:rPr sz="2000" b="1" kern="0" spc="-10" dirty="0">
                <a:solidFill>
                  <a:srgbClr val="5B9BD5">
                    <a:alpha val="100000"/>
                  </a:srgbClr>
                </a:solidFill>
                <a:latin typeface="微软雅黑" panose="020B0503020204020204" charset="-122"/>
                <a:ea typeface="微软雅黑" panose="020B0503020204020204" charset="-122"/>
                <a:cs typeface="微软雅黑" panose="020B0503020204020204" charset="-122"/>
              </a:rPr>
              <a:t>系统功能</a:t>
            </a:r>
            <a:endParaRPr sz="2000" dirty="0">
              <a:latin typeface="微软雅黑" panose="020B0503020204020204" charset="-122"/>
              <a:ea typeface="微软雅黑" panose="020B0503020204020204" charset="-122"/>
              <a:cs typeface="微软雅黑" panose="020B0503020204020204" charset="-122"/>
            </a:endParaRPr>
          </a:p>
          <a:p>
            <a:pPr algn="l" rtl="0" eaLnBrk="0">
              <a:lnSpc>
                <a:spcPct val="134000"/>
              </a:lnSpc>
            </a:pPr>
            <a:endParaRPr sz="1000" dirty="0">
              <a:latin typeface="Arial" panose="020B0604020202020204"/>
              <a:ea typeface="Arial" panose="020B0604020202020204"/>
              <a:cs typeface="Arial" panose="020B0604020202020204"/>
            </a:endParaRPr>
          </a:p>
          <a:p>
            <a:pPr algn="l" rtl="0" eaLnBrk="0">
              <a:lnSpc>
                <a:spcPct val="134000"/>
              </a:lnSpc>
            </a:pPr>
            <a:endParaRPr sz="1000" dirty="0">
              <a:latin typeface="Arial" panose="020B0604020202020204"/>
              <a:ea typeface="Arial" panose="020B0604020202020204"/>
              <a:cs typeface="Arial" panose="020B0604020202020204"/>
            </a:endParaRPr>
          </a:p>
          <a:p>
            <a:pPr marL="1007110" algn="l" rtl="0" eaLnBrk="0">
              <a:lnSpc>
                <a:spcPct val="87000"/>
              </a:lnSpc>
              <a:spcBef>
                <a:spcPts val="600"/>
              </a:spcBef>
            </a:pPr>
            <a:endParaRPr sz="2000" dirty="0">
              <a:latin typeface="微软雅黑" panose="020B0503020204020204" charset="-122"/>
              <a:ea typeface="微软雅黑" panose="020B0503020204020204" charset="-122"/>
              <a:cs typeface="微软雅黑" panose="020B0503020204020204" charset="-122"/>
            </a:endParaRPr>
          </a:p>
          <a:p>
            <a:pPr marL="1102995" algn="l" rtl="0" eaLnBrk="0">
              <a:lnSpc>
                <a:spcPts val="2690"/>
              </a:lnSpc>
              <a:spcBef>
                <a:spcPts val="1145"/>
              </a:spcBef>
            </a:pPr>
            <a:endParaRPr sz="2000" dirty="0">
              <a:latin typeface="微软雅黑" panose="020B0503020204020204" charset="-122"/>
              <a:ea typeface="微软雅黑" panose="020B0503020204020204" charset="-122"/>
              <a:cs typeface="微软雅黑" panose="020B0503020204020204" charset="-122"/>
            </a:endParaRPr>
          </a:p>
        </p:txBody>
      </p:sp>
      <p:pic>
        <p:nvPicPr>
          <p:cNvPr id="318" name="picture 318"/>
          <p:cNvPicPr>
            <a:picLocks noChangeAspect="1"/>
          </p:cNvPicPr>
          <p:nvPr/>
        </p:nvPicPr>
        <p:blipFill>
          <a:blip r:embed="rId2"/>
          <a:stretch>
            <a:fillRect/>
          </a:stretch>
        </p:blipFill>
        <p:spPr>
          <a:xfrm rot="21600000">
            <a:off x="1256464" y="1534618"/>
            <a:ext cx="180790" cy="282135"/>
          </a:xfrm>
          <a:prstGeom prst="rect">
            <a:avLst/>
          </a:prstGeom>
        </p:spPr>
      </p:pic>
      <p:sp>
        <p:nvSpPr>
          <p:cNvPr id="320" name="rect 320"/>
          <p:cNvSpPr/>
          <p:nvPr/>
        </p:nvSpPr>
        <p:spPr>
          <a:xfrm>
            <a:off x="0" y="6612635"/>
            <a:ext cx="12192000" cy="245364"/>
          </a:xfrm>
          <a:prstGeom prst="rect">
            <a:avLst/>
          </a:prstGeom>
          <a:solidFill>
            <a:srgbClr val="0371AE">
              <a:alpha val="100000"/>
            </a:srgbClr>
          </a:solidFill>
          <a:ln w="0" cap="flat">
            <a:noFill/>
            <a:prstDash val="solid"/>
            <a:miter lim="0"/>
          </a:ln>
        </p:spPr>
        <p:txBody>
          <a:bodyPr rtlCol="0"/>
          <a:lstStyle/>
          <a:p>
            <a:pPr algn="ctr"/>
            <a:endParaRPr lang="zh-CN" altLang="en-US"/>
          </a:p>
        </p:txBody>
      </p:sp>
      <p:pic>
        <p:nvPicPr>
          <p:cNvPr id="322" name="picture 322"/>
          <p:cNvPicPr>
            <a:picLocks noChangeAspect="1"/>
          </p:cNvPicPr>
          <p:nvPr/>
        </p:nvPicPr>
        <p:blipFill>
          <a:blip r:embed="rId3"/>
          <a:stretch>
            <a:fillRect/>
          </a:stretch>
        </p:blipFill>
        <p:spPr>
          <a:xfrm rot="21600000">
            <a:off x="4195571" y="0"/>
            <a:ext cx="7996427" cy="365759"/>
          </a:xfrm>
          <a:prstGeom prst="rect">
            <a:avLst/>
          </a:prstGeom>
        </p:spPr>
      </p:pic>
      <p:pic>
        <p:nvPicPr>
          <p:cNvPr id="326" name="picture 326"/>
          <p:cNvPicPr>
            <a:picLocks noChangeAspect="1"/>
          </p:cNvPicPr>
          <p:nvPr/>
        </p:nvPicPr>
        <p:blipFill>
          <a:blip r:embed="rId4"/>
          <a:stretch>
            <a:fillRect/>
          </a:stretch>
        </p:blipFill>
        <p:spPr>
          <a:xfrm rot="21600000">
            <a:off x="0" y="0"/>
            <a:ext cx="598931" cy="373379"/>
          </a:xfrm>
          <a:prstGeom prst="rect">
            <a:avLst/>
          </a:prstGeom>
        </p:spPr>
      </p:pic>
      <p:pic>
        <p:nvPicPr>
          <p:cNvPr id="328" name="picture 328"/>
          <p:cNvPicPr>
            <a:picLocks noChangeAspect="1"/>
          </p:cNvPicPr>
          <p:nvPr/>
        </p:nvPicPr>
        <p:blipFill>
          <a:blip r:embed="rId5"/>
          <a:stretch>
            <a:fillRect/>
          </a:stretch>
        </p:blipFill>
        <p:spPr>
          <a:xfrm rot="21600000">
            <a:off x="0" y="6579983"/>
            <a:ext cx="12179300" cy="12700"/>
          </a:xfrm>
          <a:prstGeom prst="rect">
            <a:avLst/>
          </a:prstGeom>
        </p:spPr>
      </p:pic>
      <p:pic>
        <p:nvPicPr>
          <p:cNvPr id="5" name="图片 4"/>
          <p:cNvPicPr>
            <a:picLocks noChangeAspect="1"/>
          </p:cNvPicPr>
          <p:nvPr/>
        </p:nvPicPr>
        <p:blipFill>
          <a:blip r:embed="rId6"/>
          <a:stretch>
            <a:fillRect/>
          </a:stretch>
        </p:blipFill>
        <p:spPr>
          <a:xfrm>
            <a:off x="8994140" y="478790"/>
            <a:ext cx="2880360" cy="6080760"/>
          </a:xfrm>
          <a:prstGeom prst="rect">
            <a:avLst/>
          </a:prstGeom>
        </p:spPr>
      </p:pic>
      <p:pic>
        <p:nvPicPr>
          <p:cNvPr id="9" name="图片 8"/>
          <p:cNvPicPr>
            <a:picLocks noChangeAspect="1"/>
          </p:cNvPicPr>
          <p:nvPr/>
        </p:nvPicPr>
        <p:blipFill>
          <a:blip r:embed="rId7"/>
          <a:stretch>
            <a:fillRect/>
          </a:stretch>
        </p:blipFill>
        <p:spPr>
          <a:xfrm>
            <a:off x="677545" y="2631440"/>
            <a:ext cx="3949065" cy="3928110"/>
          </a:xfrm>
          <a:prstGeom prst="rect">
            <a:avLst/>
          </a:prstGeom>
        </p:spPr>
      </p:pic>
      <p:pic>
        <p:nvPicPr>
          <p:cNvPr id="10" name="图片 9"/>
          <p:cNvPicPr>
            <a:picLocks noChangeAspect="1"/>
          </p:cNvPicPr>
          <p:nvPr/>
        </p:nvPicPr>
        <p:blipFill>
          <a:blip r:embed="rId8"/>
          <a:stretch>
            <a:fillRect/>
          </a:stretch>
        </p:blipFill>
        <p:spPr>
          <a:xfrm>
            <a:off x="5330190" y="1758950"/>
            <a:ext cx="3238500" cy="4800600"/>
          </a:xfrm>
          <a:prstGeom prst="rect">
            <a:avLst/>
          </a:prstGeom>
        </p:spPr>
      </p:pic>
      <p:sp>
        <p:nvSpPr>
          <p:cNvPr id="11" name="textbox 8"/>
          <p:cNvSpPr/>
          <p:nvPr/>
        </p:nvSpPr>
        <p:spPr>
          <a:xfrm>
            <a:off x="618825" y="67294"/>
            <a:ext cx="11393805" cy="270509"/>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100000"/>
              </a:lnSpc>
            </a:pPr>
            <a:r>
              <a:rPr sz="1600" b="1" kern="0" spc="-20" dirty="0">
                <a:solidFill>
                  <a:srgbClr val="000000">
                    <a:alpha val="100000"/>
                  </a:srgbClr>
                </a:solidFill>
                <a:latin typeface="黑体" panose="02010609060101010101" charset="-122"/>
                <a:ea typeface="黑体" panose="02010609060101010101" charset="-122"/>
                <a:cs typeface="黑体" panose="02010609060101010101" charset="-122"/>
              </a:rPr>
              <a:t>米思齐</a:t>
            </a:r>
            <a:r>
              <a:rPr 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课程作业</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600" b="1" kern="0" spc="-20" dirty="0">
                <a:solidFill>
                  <a:srgbClr val="000000">
                    <a:alpha val="100000"/>
                  </a:srgbClr>
                </a:solidFill>
                <a:latin typeface="黑体" panose="02010609060101010101" charset="-122"/>
                <a:ea typeface="黑体" panose="02010609060101010101" charset="-122"/>
                <a:cs typeface="黑体" panose="02010609060101010101" charset="-122"/>
              </a:rPr>
              <a:t>余天润</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202522039114</a:t>
            </a:r>
            <a:r>
              <a:rPr sz="1600" kern="0" spc="-20" dirty="0">
                <a:solidFill>
                  <a:srgbClr val="000000">
                    <a:alpha val="100000"/>
                  </a:srgbClr>
                </a:solidFill>
                <a:latin typeface="黑体" panose="02010609060101010101" charset="-122"/>
                <a:ea typeface="黑体" panose="02010609060101010101" charset="-122"/>
                <a:cs typeface="黑体" panose="02010609060101010101" charset="-122"/>
              </a:rPr>
              <a:t>                                        </a:t>
            </a:r>
            <a:endParaRPr sz="1400" dirty="0">
              <a:latin typeface="黑体" panose="02010609060101010101" charset="-122"/>
              <a:ea typeface="黑体" panose="02010609060101010101" charset="-122"/>
              <a:cs typeface="黑体" panose="02010609060101010101" charset="-122"/>
            </a:endParaRPr>
          </a:p>
        </p:txBody>
      </p:sp>
      <p:sp>
        <p:nvSpPr>
          <p:cNvPr id="2" name="textbox 404"/>
          <p:cNvSpPr/>
          <p:nvPr/>
        </p:nvSpPr>
        <p:spPr>
          <a:xfrm>
            <a:off x="1519555" y="1948180"/>
            <a:ext cx="4997450" cy="118491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ts val="2375"/>
              </a:lnSpc>
            </a:pPr>
            <a:r>
              <a:rPr lang="zh-CN" sz="1700" b="1" kern="0" spc="22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rPr>
              <a:t>整体概览</a:t>
            </a:r>
            <a:endParaRPr lang="zh-CN" sz="1700" b="1" kern="0" spc="220" dirty="0">
              <a:ln w="6600">
                <a:solidFill>
                  <a:schemeClr val="accent2"/>
                </a:solidFill>
                <a:prstDash val="solid"/>
              </a:ln>
              <a:solidFill>
                <a:srgbClr val="FFFFFF"/>
              </a:solidFill>
              <a:effectLst>
                <a:outerShdw dist="38100" dir="2700000" algn="tl" rotWithShape="0">
                  <a:schemeClr val="accent2"/>
                </a:outerShdw>
              </a:effectLst>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6" name="picture 346"/>
          <p:cNvPicPr>
            <a:picLocks noChangeAspect="1"/>
          </p:cNvPicPr>
          <p:nvPr/>
        </p:nvPicPr>
        <p:blipFill>
          <a:blip r:embed="rId1"/>
          <a:stretch>
            <a:fillRect/>
          </a:stretch>
        </p:blipFill>
        <p:spPr>
          <a:xfrm rot="21600000">
            <a:off x="0" y="0"/>
            <a:ext cx="12192000" cy="6858000"/>
          </a:xfrm>
          <a:prstGeom prst="rect">
            <a:avLst/>
          </a:prstGeom>
        </p:spPr>
      </p:pic>
      <p:sp>
        <p:nvSpPr>
          <p:cNvPr id="348" name="textbox 348"/>
          <p:cNvSpPr/>
          <p:nvPr/>
        </p:nvSpPr>
        <p:spPr>
          <a:xfrm>
            <a:off x="365125" y="770255"/>
            <a:ext cx="10745470" cy="3940810"/>
          </a:xfrm>
          <a:prstGeom prst="rect">
            <a:avLst/>
          </a:prstGeom>
          <a:noFill/>
          <a:ln w="0" cap="flat">
            <a:noFill/>
            <a:prstDash val="solid"/>
            <a:miter lim="0"/>
          </a:ln>
        </p:spPr>
        <p:txBody>
          <a:bodyPr vert="horz" wrap="square" lIns="0" tIns="0" rIns="0" bIns="0"/>
          <a:lstStyle/>
          <a:p>
            <a:pPr algn="l" rtl="0" eaLnBrk="0">
              <a:lnSpc>
                <a:spcPct val="77000"/>
              </a:lnSpc>
            </a:pPr>
            <a:endParaRPr sz="100" dirty="0">
              <a:latin typeface="Arial" panose="020B0604020202020204"/>
              <a:ea typeface="Arial" panose="020B0604020202020204"/>
              <a:cs typeface="Arial" panose="020B0604020202020204"/>
            </a:endParaRPr>
          </a:p>
          <a:p>
            <a:pPr marL="408940" algn="l" rtl="0" eaLnBrk="0">
              <a:lnSpc>
                <a:spcPct val="87000"/>
              </a:lnSpc>
              <a:tabLst>
                <a:tab pos="673100" algn="l"/>
              </a:tabLst>
            </a:pPr>
            <a:r>
              <a:rPr sz="32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3200" b="1" kern="0" spc="-20" dirty="0">
                <a:solidFill>
                  <a:srgbClr val="4472C4">
                    <a:alpha val="100000"/>
                  </a:srgbClr>
                </a:solidFill>
                <a:latin typeface="微软雅黑" panose="020B0503020204020204" charset="-122"/>
                <a:ea typeface="微软雅黑" panose="020B0503020204020204" charset="-122"/>
                <a:cs typeface="微软雅黑" panose="020B0503020204020204" charset="-122"/>
              </a:rPr>
              <a:t>课堂总结</a:t>
            </a:r>
            <a:endParaRPr sz="1000" dirty="0">
              <a:latin typeface="Arial" panose="020B0604020202020204"/>
              <a:ea typeface="Arial" panose="020B0604020202020204"/>
              <a:cs typeface="Arial" panose="020B0604020202020204"/>
            </a:endParaRPr>
          </a:p>
          <a:p>
            <a:pPr algn="l" rtl="0" eaLnBrk="0">
              <a:lnSpc>
                <a:spcPct val="121000"/>
              </a:lnSpc>
            </a:pPr>
            <a:endParaRPr sz="1000" dirty="0">
              <a:latin typeface="Arial" panose="020B0604020202020204"/>
              <a:ea typeface="Arial" panose="020B0604020202020204"/>
              <a:cs typeface="Arial" panose="020B0604020202020204"/>
            </a:endParaRPr>
          </a:p>
          <a:p>
            <a:pPr algn="l" rtl="0" eaLnBrk="0">
              <a:lnSpc>
                <a:spcPct val="121000"/>
              </a:lnSpc>
            </a:pPr>
            <a:endParaRPr sz="1000" dirty="0">
              <a:latin typeface="Arial" panose="020B0604020202020204"/>
              <a:ea typeface="Arial" panose="020B0604020202020204"/>
              <a:cs typeface="Arial" panose="020B0604020202020204"/>
            </a:endParaRPr>
          </a:p>
          <a:p>
            <a:pPr marL="705485" indent="99695" algn="l" rtl="0" eaLnBrk="0">
              <a:lnSpc>
                <a:spcPct val="128000"/>
              </a:lnSpc>
              <a:spcBef>
                <a:spcPts val="610"/>
              </a:spcBef>
            </a:pP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50" dirty="0">
                <a:solidFill>
                  <a:srgbClr val="000000">
                    <a:alpha val="100000"/>
                  </a:srgbClr>
                </a:solidFill>
                <a:latin typeface="Times New Roman" panose="02020603050405020304"/>
                <a:ea typeface="Times New Roman" panose="02020603050405020304"/>
                <a:cs typeface="Times New Roman" panose="02020603050405020304"/>
              </a:rPr>
              <a:t>1 </a:t>
            </a: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）按照采集数据、传输与存储数</a:t>
            </a:r>
            <a:r>
              <a:rPr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据、分析处理数据、反馈与控制四个环节分析</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智能药盒系统功能需求。</a:t>
            </a:r>
            <a:endParaRPr dirty="0">
              <a:latin typeface="微软雅黑" panose="020B0503020204020204" charset="-122"/>
              <a:ea typeface="微软雅黑" panose="020B0503020204020204" charset="-122"/>
              <a:cs typeface="微软雅黑" panose="020B0503020204020204" charset="-122"/>
            </a:endParaRPr>
          </a:p>
          <a:p>
            <a:pPr algn="l" rtl="0" eaLnBrk="0">
              <a:lnSpc>
                <a:spcPct val="121000"/>
              </a:lnSpc>
            </a:pPr>
            <a:endParaRPr dirty="0">
              <a:latin typeface="Arial" panose="020B0604020202020204"/>
              <a:ea typeface="Arial" panose="020B0604020202020204"/>
              <a:cs typeface="Arial" panose="020B0604020202020204"/>
            </a:endParaRPr>
          </a:p>
          <a:p>
            <a:pPr marL="706755" indent="97790" algn="l" rtl="0" eaLnBrk="0">
              <a:lnSpc>
                <a:spcPct val="128000"/>
              </a:lnSpc>
              <a:spcBef>
                <a:spcPts val="605"/>
              </a:spcBef>
            </a:pPr>
            <a:r>
              <a:rPr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60" dirty="0">
                <a:solidFill>
                  <a:srgbClr val="000000">
                    <a:alpha val="100000"/>
                  </a:srgbClr>
                </a:solidFill>
                <a:latin typeface="Times New Roman" panose="02020603050405020304"/>
                <a:ea typeface="Times New Roman" panose="02020603050405020304"/>
                <a:cs typeface="Times New Roman" panose="02020603050405020304"/>
              </a:rPr>
              <a:t>2 </a:t>
            </a:r>
            <a:r>
              <a:rPr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通过设置不同的时间变量（</a:t>
            </a:r>
            <a:r>
              <a:rPr lang="en-US" altLang="zh-CN"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Wait_Time</a:t>
            </a:r>
            <a:r>
              <a:rPr lang="zh-CN" altLang="en-US"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），实现了</a:t>
            </a:r>
            <a:r>
              <a:rPr lang="en-US" altLang="zh-CN"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S1-S4 </a:t>
            </a:r>
            <a:r>
              <a:rPr lang="zh-CN" altLang="en-US"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的多级难度调节，满足不同程度长辈的训练需求</a:t>
            </a:r>
            <a:r>
              <a:rPr lang="en-US" altLang="zh-CN"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；使用</a:t>
            </a:r>
            <a:r>
              <a:rPr lang="en-US" altLang="zh-CN"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random </a:t>
            </a:r>
            <a:r>
              <a:rPr lang="zh-CN" altLang="en-US"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库模拟大脑训练的随机题目</a:t>
            </a: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dirty="0">
              <a:latin typeface="微软雅黑" panose="020B0503020204020204" charset="-122"/>
              <a:ea typeface="微软雅黑" panose="020B0503020204020204" charset="-122"/>
              <a:cs typeface="微软雅黑" panose="020B0503020204020204" charset="-122"/>
            </a:endParaRPr>
          </a:p>
          <a:p>
            <a:pPr algn="l" rtl="0" eaLnBrk="0">
              <a:lnSpc>
                <a:spcPct val="121000"/>
              </a:lnSpc>
            </a:pPr>
            <a:endParaRPr dirty="0">
              <a:latin typeface="Arial" panose="020B0604020202020204"/>
              <a:ea typeface="Arial" panose="020B0604020202020204"/>
              <a:cs typeface="Arial" panose="020B0604020202020204"/>
            </a:endParaRPr>
          </a:p>
          <a:p>
            <a:pPr marL="716915" indent="88265" algn="l" rtl="0" eaLnBrk="0">
              <a:lnSpc>
                <a:spcPct val="128000"/>
              </a:lnSpc>
              <a:spcBef>
                <a:spcPts val="5"/>
              </a:spcBef>
            </a:pPr>
            <a:r>
              <a:rPr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70" dirty="0">
                <a:solidFill>
                  <a:srgbClr val="000000">
                    <a:alpha val="100000"/>
                  </a:srgbClr>
                </a:solidFill>
                <a:latin typeface="Times New Roman" panose="02020603050405020304"/>
                <a:ea typeface="Times New Roman" panose="02020603050405020304"/>
                <a:cs typeface="Times New Roman" panose="02020603050405020304"/>
              </a:rPr>
              <a:t>3 </a:t>
            </a:r>
            <a:r>
              <a:rPr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通过设计</a:t>
            </a:r>
            <a:r>
              <a:rPr lang="en-US" altLang="zh-CN"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序列展示</a:t>
            </a:r>
            <a:r>
              <a:rPr lang="en-US" altLang="zh-CN"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用户复述</a:t>
            </a:r>
            <a:r>
              <a:rPr lang="en-US" altLang="zh-CN"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的闭环算法，不仅锻炼了编程逻辑，更深刻体会到信息科技在智慧医疗和适老化改造中的巨大潜力，利用物联网技术架起一座</a:t>
            </a:r>
            <a:r>
              <a:rPr lang="en-US" altLang="zh-CN"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数字孝心</a:t>
            </a:r>
            <a:r>
              <a:rPr lang="en-US" altLang="zh-CN"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的桥梁</a:t>
            </a:r>
            <a:r>
              <a:rPr lang="en-US" altLang="zh-CN"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sz="2000" dirty="0">
              <a:latin typeface="微软雅黑" panose="020B0503020204020204" charset="-122"/>
              <a:ea typeface="微软雅黑" panose="020B0503020204020204" charset="-122"/>
              <a:cs typeface="微软雅黑" panose="020B0503020204020204" charset="-122"/>
            </a:endParaRPr>
          </a:p>
        </p:txBody>
      </p:sp>
      <p:sp>
        <p:nvSpPr>
          <p:cNvPr id="350" name="path 350"/>
          <p:cNvSpPr/>
          <p:nvPr/>
        </p:nvSpPr>
        <p:spPr>
          <a:xfrm>
            <a:off x="377952" y="807720"/>
            <a:ext cx="396240" cy="344423"/>
          </a:xfrm>
          <a:custGeom>
            <a:avLst/>
            <a:gdLst/>
            <a:ahLst/>
            <a:cxnLst/>
            <a:rect l="0" t="0" r="0" b="0"/>
            <a:pathLst>
              <a:path w="624" h="542">
                <a:moveTo>
                  <a:pt x="467" y="0"/>
                </a:moveTo>
                <a:lnTo>
                  <a:pt x="624" y="0"/>
                </a:lnTo>
                <a:lnTo>
                  <a:pt x="312" y="542"/>
                </a:lnTo>
                <a:lnTo>
                  <a:pt x="0" y="0"/>
                </a:lnTo>
                <a:lnTo>
                  <a:pt x="156" y="0"/>
                </a:lnTo>
                <a:lnTo>
                  <a:pt x="467" y="0"/>
                </a:lnTo>
              </a:path>
            </a:pathLst>
          </a:custGeom>
          <a:solidFill>
            <a:srgbClr val="004EA2">
              <a:alpha val="100000"/>
            </a:srgbClr>
          </a:solidFill>
          <a:ln w="0" cap="flat">
            <a:noFill/>
            <a:prstDash val="solid"/>
            <a:miter lim="0"/>
          </a:ln>
        </p:spPr>
        <p:txBody>
          <a:bodyPr rtlCol="0"/>
          <a:lstStyle/>
          <a:p>
            <a:pPr algn="ctr"/>
            <a:endParaRPr lang="zh-CN" altLang="en-US"/>
          </a:p>
        </p:txBody>
      </p:sp>
      <p:sp>
        <p:nvSpPr>
          <p:cNvPr id="352" name="rect 352"/>
          <p:cNvSpPr/>
          <p:nvPr/>
        </p:nvSpPr>
        <p:spPr>
          <a:xfrm>
            <a:off x="0" y="6612635"/>
            <a:ext cx="12192000" cy="245364"/>
          </a:xfrm>
          <a:prstGeom prst="rect">
            <a:avLst/>
          </a:prstGeom>
          <a:solidFill>
            <a:srgbClr val="0371AE">
              <a:alpha val="100000"/>
            </a:srgbClr>
          </a:solidFill>
          <a:ln w="0" cap="flat">
            <a:noFill/>
            <a:prstDash val="solid"/>
            <a:miter lim="0"/>
          </a:ln>
        </p:spPr>
        <p:txBody>
          <a:bodyPr rtlCol="0"/>
          <a:lstStyle/>
          <a:p>
            <a:pPr algn="ctr"/>
            <a:endParaRPr lang="zh-CN" altLang="en-US"/>
          </a:p>
        </p:txBody>
      </p:sp>
      <p:pic>
        <p:nvPicPr>
          <p:cNvPr id="354" name="picture 354"/>
          <p:cNvPicPr>
            <a:picLocks noChangeAspect="1"/>
          </p:cNvPicPr>
          <p:nvPr/>
        </p:nvPicPr>
        <p:blipFill>
          <a:blip r:embed="rId2"/>
          <a:stretch>
            <a:fillRect/>
          </a:stretch>
        </p:blipFill>
        <p:spPr>
          <a:xfrm rot="21600000">
            <a:off x="4195571" y="0"/>
            <a:ext cx="7996427" cy="365759"/>
          </a:xfrm>
          <a:prstGeom prst="rect">
            <a:avLst/>
          </a:prstGeom>
        </p:spPr>
      </p:pic>
      <p:pic>
        <p:nvPicPr>
          <p:cNvPr id="358" name="picture 358"/>
          <p:cNvPicPr>
            <a:picLocks noChangeAspect="1"/>
          </p:cNvPicPr>
          <p:nvPr/>
        </p:nvPicPr>
        <p:blipFill>
          <a:blip r:embed="rId3"/>
          <a:stretch>
            <a:fillRect/>
          </a:stretch>
        </p:blipFill>
        <p:spPr>
          <a:xfrm rot="21600000">
            <a:off x="0" y="0"/>
            <a:ext cx="598931" cy="373379"/>
          </a:xfrm>
          <a:prstGeom prst="rect">
            <a:avLst/>
          </a:prstGeom>
        </p:spPr>
      </p:pic>
      <p:pic>
        <p:nvPicPr>
          <p:cNvPr id="360" name="picture 360"/>
          <p:cNvPicPr>
            <a:picLocks noChangeAspect="1"/>
          </p:cNvPicPr>
          <p:nvPr/>
        </p:nvPicPr>
        <p:blipFill>
          <a:blip r:embed="rId4"/>
          <a:stretch>
            <a:fillRect/>
          </a:stretch>
        </p:blipFill>
        <p:spPr>
          <a:xfrm rot="21600000">
            <a:off x="0" y="6579983"/>
            <a:ext cx="12179300" cy="12700"/>
          </a:xfrm>
          <a:prstGeom prst="rect">
            <a:avLst/>
          </a:prstGeom>
        </p:spPr>
      </p:pic>
      <p:sp>
        <p:nvSpPr>
          <p:cNvPr id="3" name="textbox 8"/>
          <p:cNvSpPr/>
          <p:nvPr/>
        </p:nvSpPr>
        <p:spPr>
          <a:xfrm>
            <a:off x="618825" y="67294"/>
            <a:ext cx="11393805" cy="270509"/>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100000"/>
              </a:lnSpc>
            </a:pPr>
            <a:r>
              <a:rPr sz="1600" b="1" kern="0" spc="-20" dirty="0">
                <a:solidFill>
                  <a:srgbClr val="000000">
                    <a:alpha val="100000"/>
                  </a:srgbClr>
                </a:solidFill>
                <a:latin typeface="黑体" panose="02010609060101010101" charset="-122"/>
                <a:ea typeface="黑体" panose="02010609060101010101" charset="-122"/>
                <a:cs typeface="黑体" panose="02010609060101010101" charset="-122"/>
              </a:rPr>
              <a:t>米思齐</a:t>
            </a:r>
            <a:r>
              <a:rPr 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课程作业</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600" b="1" kern="0" spc="-20" dirty="0">
                <a:solidFill>
                  <a:srgbClr val="000000">
                    <a:alpha val="100000"/>
                  </a:srgbClr>
                </a:solidFill>
                <a:latin typeface="黑体" panose="02010609060101010101" charset="-122"/>
                <a:ea typeface="黑体" panose="02010609060101010101" charset="-122"/>
                <a:cs typeface="黑体" panose="02010609060101010101" charset="-122"/>
              </a:rPr>
              <a:t>余天润</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202522039114</a:t>
            </a:r>
            <a:r>
              <a:rPr sz="1600" kern="0" spc="-20" dirty="0">
                <a:solidFill>
                  <a:srgbClr val="000000">
                    <a:alpha val="100000"/>
                  </a:srgbClr>
                </a:solidFill>
                <a:latin typeface="黑体" panose="02010609060101010101" charset="-122"/>
                <a:ea typeface="黑体" panose="02010609060101010101" charset="-122"/>
                <a:cs typeface="黑体" panose="02010609060101010101" charset="-122"/>
              </a:rPr>
              <a:t>                                        </a:t>
            </a:r>
            <a:endParaRPr sz="1400" dirty="0">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2" name="picture 362"/>
          <p:cNvPicPr>
            <a:picLocks noChangeAspect="1"/>
          </p:cNvPicPr>
          <p:nvPr/>
        </p:nvPicPr>
        <p:blipFill>
          <a:blip r:embed="rId1"/>
          <a:stretch>
            <a:fillRect/>
          </a:stretch>
        </p:blipFill>
        <p:spPr>
          <a:xfrm rot="21600000">
            <a:off x="0" y="0"/>
            <a:ext cx="12192000" cy="6858000"/>
          </a:xfrm>
          <a:prstGeom prst="rect">
            <a:avLst/>
          </a:prstGeom>
        </p:spPr>
      </p:pic>
      <p:sp>
        <p:nvSpPr>
          <p:cNvPr id="364" name="textbox 364"/>
          <p:cNvSpPr/>
          <p:nvPr/>
        </p:nvSpPr>
        <p:spPr>
          <a:xfrm>
            <a:off x="365125" y="775335"/>
            <a:ext cx="10902315" cy="2753995"/>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a:ea typeface="Arial" panose="020B0604020202020204"/>
              <a:cs typeface="Arial" panose="020B0604020202020204"/>
            </a:endParaRPr>
          </a:p>
          <a:p>
            <a:pPr marL="408940" algn="l" rtl="0" eaLnBrk="0">
              <a:lnSpc>
                <a:spcPct val="86000"/>
              </a:lnSpc>
              <a:tabLst>
                <a:tab pos="671830" algn="l"/>
              </a:tabLst>
            </a:pPr>
            <a:r>
              <a:rPr sz="3200" b="1"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	</a:t>
            </a:r>
            <a:r>
              <a:rPr sz="3200" b="1" kern="0" spc="-20" dirty="0">
                <a:solidFill>
                  <a:srgbClr val="4472C4">
                    <a:alpha val="100000"/>
                  </a:srgbClr>
                </a:solidFill>
                <a:latin typeface="微软雅黑" panose="020B0503020204020204" charset="-122"/>
                <a:ea typeface="微软雅黑" panose="020B0503020204020204" charset="-122"/>
                <a:cs typeface="微软雅黑" panose="020B0503020204020204" charset="-122"/>
              </a:rPr>
              <a:t>拓展提升</a:t>
            </a:r>
            <a:endParaRPr sz="3200" dirty="0">
              <a:latin typeface="微软雅黑" panose="020B0503020204020204" charset="-122"/>
              <a:ea typeface="微软雅黑" panose="020B0503020204020204" charset="-122"/>
              <a:cs typeface="微软雅黑" panose="020B0503020204020204" charset="-122"/>
            </a:endParaRPr>
          </a:p>
          <a:p>
            <a:pPr algn="l" rtl="0" eaLnBrk="0">
              <a:lnSpc>
                <a:spcPct val="134000"/>
              </a:lnSpc>
            </a:pPr>
            <a:endParaRPr sz="1000" dirty="0">
              <a:latin typeface="Arial" panose="020B0604020202020204"/>
              <a:ea typeface="Arial" panose="020B0604020202020204"/>
              <a:cs typeface="Arial" panose="020B0604020202020204"/>
            </a:endParaRPr>
          </a:p>
          <a:p>
            <a:pPr algn="l" rtl="0" eaLnBrk="0">
              <a:lnSpc>
                <a:spcPct val="135000"/>
              </a:lnSpc>
            </a:pPr>
            <a:endParaRPr sz="1000" dirty="0">
              <a:latin typeface="Arial" panose="020B0604020202020204"/>
              <a:ea typeface="Arial" panose="020B0604020202020204"/>
              <a:cs typeface="Arial" panose="020B0604020202020204"/>
            </a:endParaRPr>
          </a:p>
          <a:p>
            <a:pPr marL="772795" algn="l" rtl="0" eaLnBrk="0">
              <a:lnSpc>
                <a:spcPts val="2690"/>
              </a:lnSpc>
              <a:spcBef>
                <a:spcPts val="610"/>
              </a:spcBef>
            </a:pPr>
            <a:r>
              <a:rPr lang="zh-CN"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lang="zh-CN"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rPr>
              <a:t>在探索本项目的基础上 ，为本系统增加一个新功能，例如从云端读取数据，计算平均数、判断是否记忆力有进步。</a:t>
            </a:r>
            <a:endParaRPr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algn="l" rtl="0" eaLnBrk="0">
              <a:lnSpc>
                <a:spcPct val="106000"/>
              </a:lnSpc>
            </a:pPr>
            <a:endParaRPr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algn="l" rtl="0" eaLnBrk="0">
              <a:lnSpc>
                <a:spcPct val="100000"/>
              </a:lnSpc>
            </a:pPr>
            <a:endParaRPr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673735" indent="98425" algn="l" rtl="0" eaLnBrk="0">
              <a:lnSpc>
                <a:spcPct val="136000"/>
              </a:lnSpc>
              <a:spcBef>
                <a:spcPts val="0"/>
              </a:spcBef>
            </a:pPr>
            <a:r>
              <a:rPr lang="zh-CN"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en-US" altLang="zh-CN"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lang="zh-CN"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rPr>
              <a:t>在学习了“记忆守护系统”后，我们发现物联网在养老领域大有可为。请同学们走进自己所在的社区、附近的养老驿站或社区卫生服务站，化身“科技观察员”，调研那些已经应用或可能需要的物联网技术。</a:t>
            </a:r>
            <a:endParaRPr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sp>
        <p:nvSpPr>
          <p:cNvPr id="366" name="path 366"/>
          <p:cNvSpPr/>
          <p:nvPr/>
        </p:nvSpPr>
        <p:spPr>
          <a:xfrm>
            <a:off x="377952" y="807720"/>
            <a:ext cx="396240" cy="344423"/>
          </a:xfrm>
          <a:custGeom>
            <a:avLst/>
            <a:gdLst/>
            <a:ahLst/>
            <a:cxnLst/>
            <a:rect l="0" t="0" r="0" b="0"/>
            <a:pathLst>
              <a:path w="624" h="542">
                <a:moveTo>
                  <a:pt x="467" y="0"/>
                </a:moveTo>
                <a:lnTo>
                  <a:pt x="624" y="0"/>
                </a:lnTo>
                <a:lnTo>
                  <a:pt x="312" y="542"/>
                </a:lnTo>
                <a:lnTo>
                  <a:pt x="0" y="0"/>
                </a:lnTo>
                <a:lnTo>
                  <a:pt x="156" y="0"/>
                </a:lnTo>
                <a:lnTo>
                  <a:pt x="467" y="0"/>
                </a:lnTo>
              </a:path>
            </a:pathLst>
          </a:custGeom>
          <a:solidFill>
            <a:srgbClr val="004EA2">
              <a:alpha val="100000"/>
            </a:srgbClr>
          </a:solidFill>
          <a:ln w="0" cap="flat">
            <a:noFill/>
            <a:prstDash val="solid"/>
            <a:miter lim="0"/>
          </a:ln>
        </p:spPr>
        <p:txBody>
          <a:bodyPr rtlCol="0"/>
          <a:lstStyle/>
          <a:p>
            <a:pPr algn="ctr"/>
            <a:endParaRPr lang="zh-CN" altLang="en-US"/>
          </a:p>
        </p:txBody>
      </p:sp>
      <p:sp>
        <p:nvSpPr>
          <p:cNvPr id="368" name="rect 368"/>
          <p:cNvSpPr/>
          <p:nvPr/>
        </p:nvSpPr>
        <p:spPr>
          <a:xfrm>
            <a:off x="0" y="6612635"/>
            <a:ext cx="12192000" cy="245364"/>
          </a:xfrm>
          <a:prstGeom prst="rect">
            <a:avLst/>
          </a:prstGeom>
          <a:solidFill>
            <a:srgbClr val="0371AE">
              <a:alpha val="100000"/>
            </a:srgbClr>
          </a:solidFill>
          <a:ln w="0" cap="flat">
            <a:noFill/>
            <a:prstDash val="solid"/>
            <a:miter lim="0"/>
          </a:ln>
        </p:spPr>
        <p:txBody>
          <a:bodyPr rtlCol="0"/>
          <a:lstStyle/>
          <a:p>
            <a:pPr algn="ctr"/>
            <a:endParaRPr lang="zh-CN" altLang="en-US"/>
          </a:p>
        </p:txBody>
      </p:sp>
      <p:pic>
        <p:nvPicPr>
          <p:cNvPr id="370" name="picture 370"/>
          <p:cNvPicPr>
            <a:picLocks noChangeAspect="1"/>
          </p:cNvPicPr>
          <p:nvPr/>
        </p:nvPicPr>
        <p:blipFill>
          <a:blip r:embed="rId2"/>
          <a:stretch>
            <a:fillRect/>
          </a:stretch>
        </p:blipFill>
        <p:spPr>
          <a:xfrm rot="21600000">
            <a:off x="4195571" y="0"/>
            <a:ext cx="7996427" cy="365759"/>
          </a:xfrm>
          <a:prstGeom prst="rect">
            <a:avLst/>
          </a:prstGeom>
        </p:spPr>
      </p:pic>
      <p:pic>
        <p:nvPicPr>
          <p:cNvPr id="374" name="picture 374"/>
          <p:cNvPicPr>
            <a:picLocks noChangeAspect="1"/>
          </p:cNvPicPr>
          <p:nvPr/>
        </p:nvPicPr>
        <p:blipFill>
          <a:blip r:embed="rId3"/>
          <a:stretch>
            <a:fillRect/>
          </a:stretch>
        </p:blipFill>
        <p:spPr>
          <a:xfrm rot="21600000">
            <a:off x="0" y="0"/>
            <a:ext cx="598931" cy="373379"/>
          </a:xfrm>
          <a:prstGeom prst="rect">
            <a:avLst/>
          </a:prstGeom>
        </p:spPr>
      </p:pic>
      <p:pic>
        <p:nvPicPr>
          <p:cNvPr id="376" name="picture 376"/>
          <p:cNvPicPr>
            <a:picLocks noChangeAspect="1"/>
          </p:cNvPicPr>
          <p:nvPr/>
        </p:nvPicPr>
        <p:blipFill>
          <a:blip r:embed="rId4"/>
          <a:stretch>
            <a:fillRect/>
          </a:stretch>
        </p:blipFill>
        <p:spPr>
          <a:xfrm rot="21600000">
            <a:off x="0" y="6579983"/>
            <a:ext cx="12179300" cy="12700"/>
          </a:xfrm>
          <a:prstGeom prst="rect">
            <a:avLst/>
          </a:prstGeom>
        </p:spPr>
      </p:pic>
      <p:sp>
        <p:nvSpPr>
          <p:cNvPr id="3" name="textbox 8"/>
          <p:cNvSpPr/>
          <p:nvPr/>
        </p:nvSpPr>
        <p:spPr>
          <a:xfrm>
            <a:off x="618825" y="67294"/>
            <a:ext cx="11393805" cy="270509"/>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100000"/>
              </a:lnSpc>
            </a:pPr>
            <a:r>
              <a:rPr sz="1600" b="1" kern="0" spc="-20" dirty="0">
                <a:solidFill>
                  <a:srgbClr val="000000">
                    <a:alpha val="100000"/>
                  </a:srgbClr>
                </a:solidFill>
                <a:latin typeface="黑体" panose="02010609060101010101" charset="-122"/>
                <a:ea typeface="黑体" panose="02010609060101010101" charset="-122"/>
                <a:cs typeface="黑体" panose="02010609060101010101" charset="-122"/>
              </a:rPr>
              <a:t>米思齐</a:t>
            </a:r>
            <a:r>
              <a:rPr 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课程作业</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600" b="1" kern="0" spc="-20" dirty="0">
                <a:solidFill>
                  <a:srgbClr val="000000">
                    <a:alpha val="100000"/>
                  </a:srgbClr>
                </a:solidFill>
                <a:latin typeface="黑体" panose="02010609060101010101" charset="-122"/>
                <a:ea typeface="黑体" panose="02010609060101010101" charset="-122"/>
                <a:cs typeface="黑体" panose="02010609060101010101" charset="-122"/>
              </a:rPr>
              <a:t>余天润</a:t>
            </a:r>
            <a:r>
              <a:rPr lang="en-US" altLang="zh-CN" sz="1600" b="1" kern="0" spc="-20" dirty="0">
                <a:solidFill>
                  <a:srgbClr val="000000">
                    <a:alpha val="100000"/>
                  </a:srgbClr>
                </a:solidFill>
                <a:latin typeface="黑体" panose="02010609060101010101" charset="-122"/>
                <a:ea typeface="黑体" panose="02010609060101010101" charset="-122"/>
                <a:cs typeface="黑体" panose="02010609060101010101" charset="-122"/>
              </a:rPr>
              <a:t>202522039114</a:t>
            </a:r>
            <a:r>
              <a:rPr sz="1600" kern="0" spc="-20" dirty="0">
                <a:solidFill>
                  <a:srgbClr val="000000">
                    <a:alpha val="100000"/>
                  </a:srgbClr>
                </a:solidFill>
                <a:latin typeface="黑体" panose="02010609060101010101" charset="-122"/>
                <a:ea typeface="黑体" panose="02010609060101010101" charset="-122"/>
                <a:cs typeface="黑体" panose="02010609060101010101" charset="-122"/>
              </a:rPr>
              <a:t>                                        </a:t>
            </a:r>
            <a:endParaRPr sz="1400" dirty="0">
              <a:latin typeface="黑体" panose="02010609060101010101" charset="-122"/>
              <a:ea typeface="黑体" panose="02010609060101010101" charset="-122"/>
              <a:cs typeface="黑体" panose="02010609060101010101" charset="-122"/>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5186</Words>
  <Application>WPS 演示</Application>
  <PresentationFormat/>
  <Paragraphs>381</Paragraphs>
  <Slides>27</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27</vt:i4>
      </vt:variant>
    </vt:vector>
  </HeadingPairs>
  <TitlesOfParts>
    <vt:vector size="38" baseType="lpstr">
      <vt:lpstr>Arial</vt:lpstr>
      <vt:lpstr>宋体</vt:lpstr>
      <vt:lpstr>Wingdings</vt:lpstr>
      <vt:lpstr>Arial</vt:lpstr>
      <vt:lpstr>微软雅黑</vt:lpstr>
      <vt:lpstr>Times New Roman</vt:lpstr>
      <vt:lpstr>黑体</vt:lpstr>
      <vt:lpstr>Times New Roman</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余天润</cp:lastModifiedBy>
  <cp:revision>44</cp:revision>
  <dcterms:created xsi:type="dcterms:W3CDTF">2026-01-30T02:56:00Z</dcterms:created>
  <dcterms:modified xsi:type="dcterms:W3CDTF">2026-02-01T06:57:32Z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wqlLaW5nc29mdCBQREYgdG8gV1BTIDExNQ</vt:lpwstr>
  </property>
  <property fmtid="{D5CDD505-2E9C-101B-9397-08002B2CF9AE}" pid="3" name="Created">
    <vt:filetime>2026-02-01T02:43:49Z</vt:filetime>
  </property>
  <property fmtid="{D5CDD505-2E9C-101B-9397-08002B2CF9AE}" pid="4" name="KSOProductBuildVer">
    <vt:lpwstr>2052-12.1.0.24034</vt:lpwstr>
  </property>
  <property fmtid="{D5CDD505-2E9C-101B-9397-08002B2CF9AE}" pid="5" name="ICV">
    <vt:lpwstr>06521BFC1B4E4B47BFD8F9F67D70E195_12</vt:lpwstr>
  </property>
</Properties>
</file>